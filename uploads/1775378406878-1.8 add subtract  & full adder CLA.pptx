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33" r:id="rId2"/>
    <p:sldId id="334" r:id="rId3"/>
    <p:sldId id="285" r:id="rId4"/>
    <p:sldId id="286" r:id="rId5"/>
    <p:sldId id="287" r:id="rId6"/>
    <p:sldId id="288" r:id="rId7"/>
    <p:sldId id="326" r:id="rId8"/>
    <p:sldId id="289" r:id="rId9"/>
    <p:sldId id="292" r:id="rId10"/>
    <p:sldId id="328" r:id="rId11"/>
    <p:sldId id="329" r:id="rId12"/>
    <p:sldId id="294" r:id="rId13"/>
    <p:sldId id="349" r:id="rId14"/>
    <p:sldId id="330" r:id="rId15"/>
    <p:sldId id="350" r:id="rId16"/>
    <p:sldId id="351" r:id="rId17"/>
    <p:sldId id="345" r:id="rId18"/>
    <p:sldId id="347" r:id="rId19"/>
    <p:sldId id="295" r:id="rId20"/>
    <p:sldId id="348" r:id="rId21"/>
    <p:sldId id="352" r:id="rId22"/>
    <p:sldId id="353" r:id="rId23"/>
    <p:sldId id="355" r:id="rId24"/>
    <p:sldId id="354" r:id="rId25"/>
    <p:sldId id="332" r:id="rId26"/>
    <p:sldId id="296" r:id="rId27"/>
    <p:sldId id="318" r:id="rId28"/>
    <p:sldId id="356" r:id="rId29"/>
    <p:sldId id="315" r:id="rId30"/>
    <p:sldId id="313" r:id="rId31"/>
    <p:sldId id="259" r:id="rId32"/>
    <p:sldId id="260" r:id="rId33"/>
    <p:sldId id="314" r:id="rId34"/>
    <p:sldId id="335" r:id="rId35"/>
    <p:sldId id="339"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58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635F69-DAEE-4AC7-A1F3-FA3CE7FC3F39}" type="datetimeFigureOut">
              <a:rPr lang="en-IN" smtClean="0"/>
              <a:t>29-01-2026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27661F-3445-4D07-8118-34E678797CC5}" type="slidenum">
              <a:rPr lang="en-IN" smtClean="0"/>
              <a:t>‹#›</a:t>
            </a:fld>
            <a:endParaRPr lang="en-IN"/>
          </a:p>
        </p:txBody>
      </p:sp>
    </p:spTree>
    <p:extLst>
      <p:ext uri="{BB962C8B-B14F-4D97-AF65-F5344CB8AC3E}">
        <p14:creationId xmlns:p14="http://schemas.microsoft.com/office/powerpoint/2010/main" val="1747232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C6B0C2D4-884A-4A0B-9EE0-A73FCEC847FD}" type="slidenum">
              <a:rPr lang="en-US" smtClean="0">
                <a:latin typeface="Times New Roman" pitchFamily="18" charset="0"/>
              </a:rPr>
              <a:pPr/>
              <a:t>3</a:t>
            </a:fld>
            <a:endParaRPr 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C075719-7EA6-41C1-A413-18EB471B744A}" type="slidenum">
              <a:rPr lang="en-US" smtClean="0">
                <a:latin typeface="Times New Roman" pitchFamily="18" charset="0"/>
              </a:rPr>
              <a:pPr/>
              <a:t>4</a:t>
            </a:fld>
            <a:endParaRPr lang="en-US">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6EFF484B-148F-45A2-B05C-6AC008A47CD4}" type="slidenum">
              <a:rPr lang="en-US" smtClean="0">
                <a:latin typeface="Times New Roman" pitchFamily="18" charset="0"/>
              </a:rPr>
              <a:pPr/>
              <a:t>5</a:t>
            </a:fld>
            <a:endParaRPr lang="en-US">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CA41DDF3-E7F0-4C33-A0EA-648F3A1420B8}" type="slidenum">
              <a:rPr lang="en-US" smtClean="0">
                <a:latin typeface="Times New Roman" pitchFamily="18" charset="0"/>
              </a:rPr>
              <a:pPr/>
              <a:t>6</a:t>
            </a:fld>
            <a:endParaRPr 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595100BC-5E29-48F8-8AD6-ED17B6323802}" type="slidenum">
              <a:rPr lang="en-US" smtClean="0">
                <a:latin typeface="Times New Roman" pitchFamily="18" charset="0"/>
              </a:rPr>
              <a:pPr/>
              <a:t>8</a:t>
            </a:fld>
            <a:endParaRPr lang="en-US">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6C6770CD-7428-4D20-94BA-F31BD69990D8}" type="slidenum">
              <a:rPr lang="en-US" smtClean="0">
                <a:latin typeface="Times New Roman" pitchFamily="18" charset="0"/>
              </a:rPr>
              <a:pPr/>
              <a:t>9</a:t>
            </a:fld>
            <a:endParaRPr lang="en-US">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B846142C-ADE1-43F3-9609-458BF79C269D}" type="slidenum">
              <a:rPr lang="en-US" smtClean="0">
                <a:latin typeface="Times New Roman" pitchFamily="18" charset="0"/>
              </a:rPr>
              <a:pPr/>
              <a:t>30</a:t>
            </a:fld>
            <a:endParaRPr lang="en-US">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endParaRPr lang="en-GB">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Dept. of Information Technology</a:t>
            </a:r>
          </a:p>
        </p:txBody>
      </p:sp>
      <p:sp>
        <p:nvSpPr>
          <p:cNvPr id="6" name="Footer Placeholder 4"/>
          <p:cNvSpPr>
            <a:spLocks noGrp="1"/>
          </p:cNvSpPr>
          <p:nvPr>
            <p:ph type="ftr" sz="quarter" idx="11"/>
          </p:nvPr>
        </p:nvSpPr>
        <p:spPr/>
        <p:txBody>
          <a:bodyPr/>
          <a:lstStyle>
            <a:lvl1pPr>
              <a:defRPr/>
            </a:lvl1pPr>
          </a:lstStyle>
          <a:p>
            <a:pPr>
              <a:defRPr/>
            </a:pPr>
            <a:r>
              <a:rPr lang="en-US"/>
              <a:t>Digital Electronics &amp; Logic Design</a:t>
            </a:r>
          </a:p>
        </p:txBody>
      </p:sp>
      <p:sp>
        <p:nvSpPr>
          <p:cNvPr id="7" name="Slide Number Placeholder 5"/>
          <p:cNvSpPr>
            <a:spLocks noGrp="1"/>
          </p:cNvSpPr>
          <p:nvPr>
            <p:ph type="sldNum" sz="quarter" idx="12"/>
          </p:nvPr>
        </p:nvSpPr>
        <p:spPr/>
        <p:txBody>
          <a:bodyPr/>
          <a:lstStyle>
            <a:lvl1pPr>
              <a:defRPr/>
            </a:lvl1pPr>
          </a:lstStyle>
          <a:p>
            <a:pPr>
              <a:defRPr/>
            </a:pPr>
            <a:fld id="{DAA268E7-FABE-4E01-88B1-015D15A6EC50}" type="slidenum">
              <a:rPr lang="en-US"/>
              <a:pPr>
                <a:defRPr/>
              </a:pPr>
              <a:t>‹#›</a:t>
            </a:fld>
            <a:endParaRPr lang="en-US"/>
          </a:p>
        </p:txBody>
      </p:sp>
    </p:spTree>
    <p:extLst>
      <p:ext uri="{BB962C8B-B14F-4D97-AF65-F5344CB8AC3E}">
        <p14:creationId xmlns:p14="http://schemas.microsoft.com/office/powerpoint/2010/main" val="4276595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3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pPr>
              <a:lnSpc>
                <a:spcPct val="115000"/>
              </a:lnSpc>
              <a:spcBef>
                <a:spcPts val="600"/>
              </a:spcBef>
              <a:spcAft>
                <a:spcPts val="6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Number systems</a:t>
            </a: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numbers can be represented in various formats: binary, decimal, hexadecimal, octal, BCD &amp; ASCII.</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number N in any number system can be expressed as</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N= S </a:t>
            </a:r>
            <a:r>
              <a:rPr lang="en-US" sz="240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B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n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aseline="-25000" dirty="0">
                <a:effectLst/>
                <a:latin typeface="Times New Roman" panose="02020603050405020304" pitchFamily="18" charset="0"/>
                <a:ea typeface="Calibri" panose="020F0502020204030204" pitchFamily="34" charset="0"/>
                <a:cs typeface="Times New Roman" panose="02020603050405020304" pitchFamily="18" charset="0"/>
              </a:rPr>
              <a:t>n-1</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B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n-1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aseline="-25000" dirty="0">
                <a:effectLst/>
                <a:latin typeface="Times New Roman" panose="02020603050405020304" pitchFamily="18" charset="0"/>
                <a:ea typeface="Calibri" panose="020F0502020204030204" pitchFamily="34" charset="0"/>
                <a:cs typeface="Times New Roman" panose="02020603050405020304" pitchFamily="18" charset="0"/>
              </a:rPr>
              <a:t>n-2</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B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n-2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B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aseline="-25000" dirty="0">
                <a:latin typeface="Times New Roman" panose="02020603050405020304" pitchFamily="18" charset="0"/>
                <a:ea typeface="Calibri" panose="020F0502020204030204" pitchFamily="34" charset="0"/>
                <a:cs typeface="Times New Roman" panose="02020603050405020304" pitchFamily="18" charset="0"/>
              </a:rPr>
              <a:t>0</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B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0       </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Where S is symbols used in that number system . B is the base of that that number system. </a:t>
            </a:r>
          </a:p>
          <a:p>
            <a:pPr>
              <a:lnSpc>
                <a:spcPct val="115000"/>
              </a:lnSpc>
              <a:spcBef>
                <a:spcPts val="600"/>
              </a:spcBef>
              <a:spcAft>
                <a:spcPts val="600"/>
              </a:spcAft>
            </a:pP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Eg1 Decimal has 10 symbols (= 0,1,2,….9)</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number 1234 in decimal can be expressed as</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1234 = 1 * 10 </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+ 2 * 10 </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+ 3 * 10 </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+ 4* 10 </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0       </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endParaRPr lang="en-US" sz="2400" dirty="0"/>
          </a:p>
        </p:txBody>
      </p:sp>
    </p:spTree>
    <p:extLst>
      <p:ext uri="{BB962C8B-B14F-4D97-AF65-F5344CB8AC3E}">
        <p14:creationId xmlns:p14="http://schemas.microsoft.com/office/powerpoint/2010/main" val="1515638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Eg2 Hexadecimal has 16 symbols (= 0,1,2,….9, A,B,C,D,E,F)</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Hex number 3A9F can be expressed as</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3A9F = 3 * 16 </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 16</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+ 9 * 16</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F * 16 </a:t>
            </a:r>
            <a:r>
              <a:rPr lang="en-US" sz="2000" b="1" baseline="30000" dirty="0">
                <a:effectLst/>
                <a:latin typeface="Times New Roman" panose="02020603050405020304" pitchFamily="18" charset="0"/>
                <a:ea typeface="Calibri" panose="020F0502020204030204" pitchFamily="34" charset="0"/>
                <a:cs typeface="Times New Roman" panose="02020603050405020304" pitchFamily="18" charset="0"/>
              </a:rPr>
              <a:t>0       </a:t>
            </a:r>
          </a:p>
          <a:p>
            <a:pPr>
              <a:lnSpc>
                <a:spcPct val="115000"/>
              </a:lnSpc>
              <a:spcBef>
                <a:spcPts val="600"/>
              </a:spcBef>
              <a:spcAft>
                <a:spcPts val="600"/>
              </a:spcAft>
            </a:pP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Eg3 Binary has 2 symbols ( 0,1)</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number 1011 can be represented as</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1011 =  1 * 2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+ 0 * 2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+ 1 * 2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+ 1 * 2 </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0</a:t>
            </a:r>
          </a:p>
          <a:p>
            <a:pPr>
              <a:lnSpc>
                <a:spcPct val="115000"/>
              </a:lnSpc>
              <a:spcBef>
                <a:spcPts val="600"/>
              </a:spcBef>
              <a:spcAft>
                <a:spcPts val="600"/>
              </a:spcAft>
            </a:pPr>
            <a:endParaRPr lang="en-IN" sz="2000" dirty="0">
              <a:effectLst/>
              <a:latin typeface="Times New Roman" panose="02020603050405020304" pitchFamily="18" charset="0"/>
              <a:ea typeface="Calibri" panose="020F0502020204030204" pitchFamily="34" charset="0"/>
              <a:cs typeface="Mangal" panose="00000400000000000000" pitchFamily="2"/>
            </a:endParaRPr>
          </a:p>
          <a:p>
            <a:pPr>
              <a:lnSpc>
                <a:spcPct val="115000"/>
              </a:lnSpc>
              <a:spcBef>
                <a:spcPts val="600"/>
              </a:spcBef>
              <a:spcAft>
                <a:spcPts val="6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Computer can work only on binary format. But which is difficult for user to work with. So, for user’s convenience, the binary number is represented in other forms by using suitable programs.</a:t>
            </a:r>
            <a:endParaRPr lang="en-IN" sz="2000" dirty="0">
              <a:effectLst/>
              <a:latin typeface="Times New Roman" panose="02020603050405020304" pitchFamily="18" charset="0"/>
              <a:ea typeface="Calibri" panose="020F0502020204030204" pitchFamily="34" charset="0"/>
              <a:cs typeface="Mangal" panose="00000400000000000000" pitchFamily="2"/>
            </a:endParaRPr>
          </a:p>
          <a:p>
            <a:endParaRPr lang="en-US" sz="2400" dirty="0"/>
          </a:p>
        </p:txBody>
      </p:sp>
    </p:spTree>
    <p:extLst>
      <p:ext uri="{BB962C8B-B14F-4D97-AF65-F5344CB8AC3E}">
        <p14:creationId xmlns:p14="http://schemas.microsoft.com/office/powerpoint/2010/main" val="427353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457200" y="1143000"/>
            <a:ext cx="8178800" cy="5638800"/>
          </a:xfrm>
        </p:spPr>
        <p:txBody>
          <a:bodyPr>
            <a:normAutofit/>
          </a:bodyPr>
          <a:lstStyle/>
          <a:p>
            <a:pPr>
              <a:defRPr/>
            </a:pPr>
            <a:r>
              <a:rPr lang="en-US" dirty="0"/>
              <a:t>Three systems for representing both positive and negative </a:t>
            </a:r>
            <a:r>
              <a:rPr lang="en-US" b="1" dirty="0"/>
              <a:t>binary</a:t>
            </a:r>
            <a:r>
              <a:rPr lang="en-US" dirty="0"/>
              <a:t> numbers:</a:t>
            </a:r>
          </a:p>
          <a:p>
            <a:pPr>
              <a:defRPr/>
            </a:pPr>
            <a:endParaRPr lang="en-US" dirty="0"/>
          </a:p>
          <a:p>
            <a:pPr marL="514350" indent="-514350">
              <a:buFontTx/>
              <a:buAutoNum type="arabicPeriod"/>
              <a:defRPr/>
            </a:pPr>
            <a:r>
              <a:rPr lang="en-US" dirty="0">
                <a:solidFill>
                  <a:srgbClr val="0070C0"/>
                </a:solidFill>
              </a:rPr>
              <a:t>Sign magnitude representation</a:t>
            </a:r>
          </a:p>
          <a:p>
            <a:pPr marL="514350" indent="-514350">
              <a:buFontTx/>
              <a:buAutoNum type="arabicPeriod"/>
              <a:defRPr/>
            </a:pPr>
            <a:r>
              <a:rPr lang="en-US" dirty="0">
                <a:solidFill>
                  <a:srgbClr val="0070C0"/>
                </a:solidFill>
              </a:rPr>
              <a:t>1’s complement representation</a:t>
            </a:r>
          </a:p>
          <a:p>
            <a:pPr marL="514350" indent="-514350">
              <a:buFontTx/>
              <a:buAutoNum type="arabicPeriod"/>
              <a:defRPr/>
            </a:pPr>
            <a:r>
              <a:rPr lang="en-US" dirty="0">
                <a:solidFill>
                  <a:srgbClr val="0070C0"/>
                </a:solidFill>
              </a:rPr>
              <a:t>2’s complement representation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sz="3600" dirty="0"/>
              <a:t>1. Sign-Magnitude representation</a:t>
            </a:r>
          </a:p>
        </p:txBody>
      </p:sp>
      <p:sp>
        <p:nvSpPr>
          <p:cNvPr id="5123" name="Rectangle 3"/>
          <p:cNvSpPr>
            <a:spLocks noGrp="1" noChangeArrowheads="1"/>
          </p:cNvSpPr>
          <p:nvPr>
            <p:ph idx="1"/>
          </p:nvPr>
        </p:nvSpPr>
        <p:spPr>
          <a:xfrm>
            <a:off x="457200" y="1600200"/>
            <a:ext cx="8229600" cy="5105400"/>
          </a:xfrm>
        </p:spPr>
        <p:txBody>
          <a:bodyPr>
            <a:noAutofit/>
          </a:bodyPr>
          <a:lstStyle/>
          <a:p>
            <a:endParaRPr lang="en-US" sz="2400" dirty="0"/>
          </a:p>
          <a:p>
            <a:r>
              <a:rPr lang="en-US" sz="2400" dirty="0"/>
              <a:t>Left most bit (MSB) indicates sign </a:t>
            </a:r>
          </a:p>
          <a:p>
            <a:r>
              <a:rPr lang="en-US" sz="2400" dirty="0"/>
              <a:t>0 means positive,  1 means negative</a:t>
            </a:r>
          </a:p>
          <a:p>
            <a:pPr>
              <a:buFontTx/>
              <a:buNone/>
            </a:pPr>
            <a:r>
              <a:rPr lang="en-US" sz="2400" dirty="0"/>
              <a:t>    </a:t>
            </a:r>
            <a:r>
              <a:rPr lang="en-US" sz="2400" dirty="0" err="1"/>
              <a:t>eg</a:t>
            </a:r>
            <a:r>
              <a:rPr lang="en-US" sz="2400" dirty="0"/>
              <a:t>:   +18 = </a:t>
            </a:r>
            <a:r>
              <a:rPr lang="en-US" sz="2400" dirty="0">
                <a:solidFill>
                  <a:srgbClr val="0070C0"/>
                </a:solidFill>
              </a:rPr>
              <a:t>0</a:t>
            </a:r>
            <a:r>
              <a:rPr lang="en-US" sz="2400" dirty="0"/>
              <a:t>0010010</a:t>
            </a:r>
          </a:p>
          <a:p>
            <a:pPr>
              <a:buFontTx/>
              <a:buNone/>
            </a:pPr>
            <a:r>
              <a:rPr lang="en-US" sz="2400" dirty="0"/>
              <a:t>             -18 = </a:t>
            </a:r>
            <a:r>
              <a:rPr lang="en-US" sz="2400" dirty="0">
                <a:solidFill>
                  <a:srgbClr val="0070C0"/>
                </a:solidFill>
              </a:rPr>
              <a:t>1</a:t>
            </a:r>
            <a:r>
              <a:rPr lang="en-US" sz="2400" dirty="0"/>
              <a:t>0010010</a:t>
            </a:r>
          </a:p>
          <a:p>
            <a:r>
              <a:rPr lang="en-US" sz="2400" dirty="0"/>
              <a:t>Problems with Sign-Magnitude representation </a:t>
            </a:r>
          </a:p>
          <a:p>
            <a:pPr marL="457200" lvl="1" indent="0">
              <a:buNone/>
            </a:pPr>
            <a:r>
              <a:rPr lang="en-US" sz="2400" dirty="0"/>
              <a:t>1) in arithmetic, the sign and magnitude need to be treated separately , difficult to implement by H/W</a:t>
            </a:r>
          </a:p>
          <a:p>
            <a:pPr marL="457200" lvl="1" indent="0">
              <a:buNone/>
            </a:pPr>
            <a:r>
              <a:rPr lang="en-US" sz="2400" dirty="0"/>
              <a:t>2) Two representations of zero (+0 and -0)</a:t>
            </a:r>
          </a:p>
          <a:p>
            <a:pPr lvl="1">
              <a:buFontTx/>
              <a:buNone/>
            </a:pPr>
            <a:r>
              <a:rPr lang="en-US" sz="2400" dirty="0"/>
              <a:t>   + 0 = </a:t>
            </a:r>
            <a:r>
              <a:rPr lang="en-US" sz="2400" dirty="0">
                <a:solidFill>
                  <a:srgbClr val="0070C0"/>
                </a:solidFill>
              </a:rPr>
              <a:t>0</a:t>
            </a:r>
            <a:r>
              <a:rPr lang="en-US" sz="2400" dirty="0"/>
              <a:t> 000 0000</a:t>
            </a:r>
          </a:p>
          <a:p>
            <a:pPr lvl="1">
              <a:buFontTx/>
              <a:buNone/>
            </a:pPr>
            <a:r>
              <a:rPr lang="en-US" sz="2400" dirty="0"/>
              <a:t>    - 0 = </a:t>
            </a:r>
            <a:r>
              <a:rPr lang="en-US" sz="2400" dirty="0">
                <a:solidFill>
                  <a:srgbClr val="0070C0"/>
                </a:solidFill>
              </a:rPr>
              <a:t>1</a:t>
            </a:r>
            <a:r>
              <a:rPr lang="en-US" sz="2400" dirty="0"/>
              <a:t> 000 0000</a:t>
            </a:r>
          </a:p>
        </p:txBody>
      </p:sp>
      <p:pic>
        <p:nvPicPr>
          <p:cNvPr id="1026" name="Picture 2"/>
          <p:cNvPicPr>
            <a:picLocks noChangeAspect="1" noChangeArrowheads="1"/>
          </p:cNvPicPr>
          <p:nvPr/>
        </p:nvPicPr>
        <p:blipFill>
          <a:blip r:embed="rId3"/>
          <a:srcRect/>
          <a:stretch>
            <a:fillRect/>
          </a:stretch>
        </p:blipFill>
        <p:spPr bwMode="auto">
          <a:xfrm>
            <a:off x="2057400" y="1143000"/>
            <a:ext cx="4953000" cy="967447"/>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p:txBody>
          <a:bodyPr>
            <a:normAutofit/>
          </a:bodyPr>
          <a:lstStyle/>
          <a:p>
            <a:r>
              <a:rPr lang="en-US" sz="3600" dirty="0"/>
              <a:t>2.   1’s Complement representation</a:t>
            </a:r>
          </a:p>
        </p:txBody>
      </p:sp>
      <p:sp>
        <p:nvSpPr>
          <p:cNvPr id="48131" name="Rectangle 1027"/>
          <p:cNvSpPr>
            <a:spLocks noGrp="1" noChangeArrowheads="1"/>
          </p:cNvSpPr>
          <p:nvPr>
            <p:ph idx="1"/>
          </p:nvPr>
        </p:nvSpPr>
        <p:spPr>
          <a:xfrm>
            <a:off x="457200" y="1600200"/>
            <a:ext cx="8229600" cy="4724400"/>
          </a:xfrm>
        </p:spPr>
        <p:txBody>
          <a:bodyPr>
            <a:noAutofit/>
          </a:bodyPr>
          <a:lstStyle/>
          <a:p>
            <a:r>
              <a:rPr lang="en-US" sz="2400" dirty="0"/>
              <a:t>Negative values are obtained by complementing each bit of the corresponding positive number.</a:t>
            </a:r>
          </a:p>
          <a:p>
            <a:r>
              <a:rPr lang="en-US" sz="2400" dirty="0"/>
              <a:t>+3 = 00000011   </a:t>
            </a:r>
          </a:p>
          <a:p>
            <a:r>
              <a:rPr lang="en-US" sz="2400" dirty="0"/>
              <a:t>-3 = 11111100      </a:t>
            </a:r>
          </a:p>
          <a:p>
            <a:r>
              <a:rPr lang="en-US" sz="2400" dirty="0"/>
              <a:t>+2 = 00000010</a:t>
            </a:r>
          </a:p>
          <a:p>
            <a:r>
              <a:rPr lang="en-US" sz="2400" dirty="0"/>
              <a:t> -2 = 11111101</a:t>
            </a:r>
          </a:p>
          <a:p>
            <a:r>
              <a:rPr lang="en-US" sz="2400" dirty="0"/>
              <a:t>+0 = 00000000</a:t>
            </a:r>
          </a:p>
          <a:p>
            <a:r>
              <a:rPr lang="en-US" sz="2400" dirty="0"/>
              <a:t> -0  =?</a:t>
            </a:r>
          </a:p>
          <a:p>
            <a:r>
              <a:rPr lang="en-US" sz="2400" dirty="0"/>
              <a:t> </a:t>
            </a:r>
          </a:p>
          <a:p>
            <a:r>
              <a:rPr lang="en-US" sz="2400" dirty="0"/>
              <a:t>This system also has issue of two representation of zero i.e.  +0 =00000000 and -0= 11111111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2" presetClass="entr" presetSubtype="8" fill="hold" grpId="0" nodeType="afterEffect">
                                  <p:stCondLst>
                                    <p:cond delay="1000"/>
                                  </p:stCondLst>
                                  <p:childTnLst>
                                    <p:set>
                                      <p:cBhvr>
                                        <p:cTn id="11" dur="1" fill="hold">
                                          <p:stCondLst>
                                            <p:cond delay="0"/>
                                          </p:stCondLst>
                                        </p:cTn>
                                        <p:tgtEl>
                                          <p:spTgt spid="48131">
                                            <p:txEl>
                                              <p:pRg st="1" end="1"/>
                                            </p:txEl>
                                          </p:spTgt>
                                        </p:tgtEl>
                                        <p:attrNameLst>
                                          <p:attrName>style.visibility</p:attrName>
                                        </p:attrNameLst>
                                      </p:cBhvr>
                                      <p:to>
                                        <p:strVal val="visible"/>
                                      </p:to>
                                    </p:set>
                                    <p:anim calcmode="lin" valueType="num">
                                      <p:cBhvr additive="base">
                                        <p:cTn id="12" dur="500" fill="hold"/>
                                        <p:tgtEl>
                                          <p:spTgt spid="4813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131">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3000"/>
                            </p:stCondLst>
                            <p:childTnLst>
                              <p:par>
                                <p:cTn id="15" presetID="2" presetClass="entr" presetSubtype="8" fill="hold" grpId="0" nodeType="afterEffect">
                                  <p:stCondLst>
                                    <p:cond delay="1000"/>
                                  </p:stCondLst>
                                  <p:childTnLst>
                                    <p:set>
                                      <p:cBhvr>
                                        <p:cTn id="16" dur="1" fill="hold">
                                          <p:stCondLst>
                                            <p:cond delay="0"/>
                                          </p:stCondLst>
                                        </p:cTn>
                                        <p:tgtEl>
                                          <p:spTgt spid="48131">
                                            <p:txEl>
                                              <p:pRg st="2" end="2"/>
                                            </p:txEl>
                                          </p:spTgt>
                                        </p:tgtEl>
                                        <p:attrNameLst>
                                          <p:attrName>style.visibility</p:attrName>
                                        </p:attrNameLst>
                                      </p:cBhvr>
                                      <p:to>
                                        <p:strVal val="visible"/>
                                      </p:to>
                                    </p:set>
                                    <p:anim calcmode="lin" valueType="num">
                                      <p:cBhvr additive="base">
                                        <p:cTn id="17" dur="500" fill="hold"/>
                                        <p:tgtEl>
                                          <p:spTgt spid="4813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8131">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4500"/>
                            </p:stCondLst>
                            <p:childTnLst>
                              <p:par>
                                <p:cTn id="20" presetID="2" presetClass="entr" presetSubtype="8" fill="hold" grpId="0" nodeType="afterEffect">
                                  <p:stCondLst>
                                    <p:cond delay="1000"/>
                                  </p:stCondLst>
                                  <p:childTnLst>
                                    <p:set>
                                      <p:cBhvr>
                                        <p:cTn id="21" dur="1" fill="hold">
                                          <p:stCondLst>
                                            <p:cond delay="0"/>
                                          </p:stCondLst>
                                        </p:cTn>
                                        <p:tgtEl>
                                          <p:spTgt spid="48131">
                                            <p:txEl>
                                              <p:pRg st="3" end="3"/>
                                            </p:txEl>
                                          </p:spTgt>
                                        </p:tgtEl>
                                        <p:attrNameLst>
                                          <p:attrName>style.visibility</p:attrName>
                                        </p:attrNameLst>
                                      </p:cBhvr>
                                      <p:to>
                                        <p:strVal val="visible"/>
                                      </p:to>
                                    </p:set>
                                    <p:anim calcmode="lin" valueType="num">
                                      <p:cBhvr additive="base">
                                        <p:cTn id="22" dur="500" fill="hold"/>
                                        <p:tgtEl>
                                          <p:spTgt spid="48131">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8131">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6000"/>
                            </p:stCondLst>
                            <p:childTnLst>
                              <p:par>
                                <p:cTn id="25" presetID="2" presetClass="entr" presetSubtype="8" fill="hold" grpId="0" nodeType="afterEffect">
                                  <p:stCondLst>
                                    <p:cond delay="1000"/>
                                  </p:stCondLst>
                                  <p:childTnLst>
                                    <p:set>
                                      <p:cBhvr>
                                        <p:cTn id="26" dur="1" fill="hold">
                                          <p:stCondLst>
                                            <p:cond delay="0"/>
                                          </p:stCondLst>
                                        </p:cTn>
                                        <p:tgtEl>
                                          <p:spTgt spid="48131">
                                            <p:txEl>
                                              <p:pRg st="4" end="4"/>
                                            </p:txEl>
                                          </p:spTgt>
                                        </p:tgtEl>
                                        <p:attrNameLst>
                                          <p:attrName>style.visibility</p:attrName>
                                        </p:attrNameLst>
                                      </p:cBhvr>
                                      <p:to>
                                        <p:strVal val="visible"/>
                                      </p:to>
                                    </p:set>
                                    <p:anim calcmode="lin" valueType="num">
                                      <p:cBhvr additive="base">
                                        <p:cTn id="27" dur="500" fill="hold"/>
                                        <p:tgtEl>
                                          <p:spTgt spid="48131">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8131">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7500"/>
                            </p:stCondLst>
                            <p:childTnLst>
                              <p:par>
                                <p:cTn id="30" presetID="2" presetClass="entr" presetSubtype="8" fill="hold" grpId="0" nodeType="afterEffect">
                                  <p:stCondLst>
                                    <p:cond delay="1000"/>
                                  </p:stCondLst>
                                  <p:childTnLst>
                                    <p:set>
                                      <p:cBhvr>
                                        <p:cTn id="31" dur="1" fill="hold">
                                          <p:stCondLst>
                                            <p:cond delay="0"/>
                                          </p:stCondLst>
                                        </p:cTn>
                                        <p:tgtEl>
                                          <p:spTgt spid="48131">
                                            <p:txEl>
                                              <p:pRg st="5" end="5"/>
                                            </p:txEl>
                                          </p:spTgt>
                                        </p:tgtEl>
                                        <p:attrNameLst>
                                          <p:attrName>style.visibility</p:attrName>
                                        </p:attrNameLst>
                                      </p:cBhvr>
                                      <p:to>
                                        <p:strVal val="visible"/>
                                      </p:to>
                                    </p:set>
                                    <p:anim calcmode="lin" valueType="num">
                                      <p:cBhvr additive="base">
                                        <p:cTn id="32" dur="500" fill="hold"/>
                                        <p:tgtEl>
                                          <p:spTgt spid="48131">
                                            <p:txEl>
                                              <p:pRg st="5" end="5"/>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48131">
                                            <p:txEl>
                                              <p:pRg st="5" end="5"/>
                                            </p:txEl>
                                          </p:spTgt>
                                        </p:tgtEl>
                                        <p:attrNameLst>
                                          <p:attrName>ppt_y</p:attrName>
                                        </p:attrNameLst>
                                      </p:cBhvr>
                                      <p:tavLst>
                                        <p:tav tm="0">
                                          <p:val>
                                            <p:strVal val="#ppt_y"/>
                                          </p:val>
                                        </p:tav>
                                        <p:tav tm="100000">
                                          <p:val>
                                            <p:strVal val="#ppt_y"/>
                                          </p:val>
                                        </p:tav>
                                      </p:tavLst>
                                    </p:anim>
                                  </p:childTnLst>
                                </p:cTn>
                              </p:par>
                            </p:childTnLst>
                          </p:cTn>
                        </p:par>
                        <p:par>
                          <p:cTn id="34" fill="hold">
                            <p:stCondLst>
                              <p:cond delay="9000"/>
                            </p:stCondLst>
                            <p:childTnLst>
                              <p:par>
                                <p:cTn id="35" presetID="2" presetClass="entr" presetSubtype="8" fill="hold" grpId="0" nodeType="afterEffect">
                                  <p:stCondLst>
                                    <p:cond delay="1000"/>
                                  </p:stCondLst>
                                  <p:childTnLst>
                                    <p:set>
                                      <p:cBhvr>
                                        <p:cTn id="36" dur="1" fill="hold">
                                          <p:stCondLst>
                                            <p:cond delay="0"/>
                                          </p:stCondLst>
                                        </p:cTn>
                                        <p:tgtEl>
                                          <p:spTgt spid="48131">
                                            <p:txEl>
                                              <p:pRg st="6" end="6"/>
                                            </p:txEl>
                                          </p:spTgt>
                                        </p:tgtEl>
                                        <p:attrNameLst>
                                          <p:attrName>style.visibility</p:attrName>
                                        </p:attrNameLst>
                                      </p:cBhvr>
                                      <p:to>
                                        <p:strVal val="visible"/>
                                      </p:to>
                                    </p:set>
                                    <p:anim calcmode="lin" valueType="num">
                                      <p:cBhvr additive="base">
                                        <p:cTn id="37" dur="500" fill="hold"/>
                                        <p:tgtEl>
                                          <p:spTgt spid="4813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8131">
                                            <p:txEl>
                                              <p:pRg st="6" end="6"/>
                                            </p:txEl>
                                          </p:spTgt>
                                        </p:tgtEl>
                                        <p:attrNameLst>
                                          <p:attrName>ppt_y</p:attrName>
                                        </p:attrNameLst>
                                      </p:cBhvr>
                                      <p:tavLst>
                                        <p:tav tm="0">
                                          <p:val>
                                            <p:strVal val="#ppt_y"/>
                                          </p:val>
                                        </p:tav>
                                        <p:tav tm="100000">
                                          <p:val>
                                            <p:strVal val="#ppt_y"/>
                                          </p:val>
                                        </p:tav>
                                      </p:tavLst>
                                    </p:anim>
                                  </p:childTnLst>
                                </p:cTn>
                              </p:par>
                            </p:childTnLst>
                          </p:cTn>
                        </p:par>
                        <p:par>
                          <p:cTn id="39" fill="hold">
                            <p:stCondLst>
                              <p:cond delay="10500"/>
                            </p:stCondLst>
                            <p:childTnLst>
                              <p:par>
                                <p:cTn id="40" presetID="2" presetClass="entr" presetSubtype="8" fill="hold" grpId="0" nodeType="afterEffect">
                                  <p:stCondLst>
                                    <p:cond delay="1000"/>
                                  </p:stCondLst>
                                  <p:childTnLst>
                                    <p:set>
                                      <p:cBhvr>
                                        <p:cTn id="41" dur="1" fill="hold">
                                          <p:stCondLst>
                                            <p:cond delay="0"/>
                                          </p:stCondLst>
                                        </p:cTn>
                                        <p:tgtEl>
                                          <p:spTgt spid="48131">
                                            <p:txEl>
                                              <p:pRg st="7" end="7"/>
                                            </p:txEl>
                                          </p:spTgt>
                                        </p:tgtEl>
                                        <p:attrNameLst>
                                          <p:attrName>style.visibility</p:attrName>
                                        </p:attrNameLst>
                                      </p:cBhvr>
                                      <p:to>
                                        <p:strVal val="visible"/>
                                      </p:to>
                                    </p:set>
                                    <p:anim calcmode="lin" valueType="num">
                                      <p:cBhvr additive="base">
                                        <p:cTn id="42" dur="500" fill="hold"/>
                                        <p:tgtEl>
                                          <p:spTgt spid="48131">
                                            <p:txEl>
                                              <p:pRg st="7" end="7"/>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48131">
                                            <p:txEl>
                                              <p:pRg st="7" end="7"/>
                                            </p:txEl>
                                          </p:spTgt>
                                        </p:tgtEl>
                                        <p:attrNameLst>
                                          <p:attrName>ppt_y</p:attrName>
                                        </p:attrNameLst>
                                      </p:cBhvr>
                                      <p:tavLst>
                                        <p:tav tm="0">
                                          <p:val>
                                            <p:strVal val="#ppt_y"/>
                                          </p:val>
                                        </p:tav>
                                        <p:tav tm="100000">
                                          <p:val>
                                            <p:strVal val="#ppt_y"/>
                                          </p:val>
                                        </p:tav>
                                      </p:tavLst>
                                    </p:anim>
                                  </p:childTnLst>
                                </p:cTn>
                              </p:par>
                            </p:childTnLst>
                          </p:cTn>
                        </p:par>
                        <p:par>
                          <p:cTn id="44" fill="hold">
                            <p:stCondLst>
                              <p:cond delay="12000"/>
                            </p:stCondLst>
                            <p:childTnLst>
                              <p:par>
                                <p:cTn id="45" presetID="2" presetClass="entr" presetSubtype="8" fill="hold" grpId="0" nodeType="afterEffect">
                                  <p:stCondLst>
                                    <p:cond delay="1000"/>
                                  </p:stCondLst>
                                  <p:childTnLst>
                                    <p:set>
                                      <p:cBhvr>
                                        <p:cTn id="46" dur="1" fill="hold">
                                          <p:stCondLst>
                                            <p:cond delay="0"/>
                                          </p:stCondLst>
                                        </p:cTn>
                                        <p:tgtEl>
                                          <p:spTgt spid="48131">
                                            <p:txEl>
                                              <p:pRg st="8" end="8"/>
                                            </p:txEl>
                                          </p:spTgt>
                                        </p:tgtEl>
                                        <p:attrNameLst>
                                          <p:attrName>style.visibility</p:attrName>
                                        </p:attrNameLst>
                                      </p:cBhvr>
                                      <p:to>
                                        <p:strVal val="visible"/>
                                      </p:to>
                                    </p:set>
                                    <p:anim calcmode="lin" valueType="num">
                                      <p:cBhvr additive="base">
                                        <p:cTn id="47" dur="500" fill="hold"/>
                                        <p:tgtEl>
                                          <p:spTgt spid="48131">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813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bldLvl="5" autoUpdateAnimBg="0" advAuto="100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p:txBody>
          <a:bodyPr>
            <a:normAutofit/>
          </a:bodyPr>
          <a:lstStyle/>
          <a:p>
            <a:r>
              <a:rPr lang="en-US" sz="3600" dirty="0"/>
              <a:t>3.    2’s Complement representation</a:t>
            </a:r>
          </a:p>
        </p:txBody>
      </p:sp>
      <p:sp>
        <p:nvSpPr>
          <p:cNvPr id="48131" name="Rectangle 1027"/>
          <p:cNvSpPr>
            <a:spLocks noGrp="1" noChangeArrowheads="1"/>
          </p:cNvSpPr>
          <p:nvPr>
            <p:ph idx="1"/>
          </p:nvPr>
        </p:nvSpPr>
        <p:spPr/>
        <p:txBody>
          <a:bodyPr>
            <a:noAutofit/>
          </a:bodyPr>
          <a:lstStyle/>
          <a:p>
            <a:r>
              <a:rPr lang="en-US" sz="2400" dirty="0"/>
              <a:t>Negative values are obtained by adding 1 to 1’s complement representation.</a:t>
            </a:r>
          </a:p>
          <a:p>
            <a:r>
              <a:rPr lang="en-US" sz="2400" dirty="0"/>
              <a:t>+3 = 00000011</a:t>
            </a:r>
          </a:p>
          <a:p>
            <a:r>
              <a:rPr lang="en-US" sz="2400" dirty="0"/>
              <a:t>+2 = 00000010</a:t>
            </a:r>
          </a:p>
          <a:p>
            <a:r>
              <a:rPr lang="en-US" sz="2400" dirty="0"/>
              <a:t>+0 = 00000000</a:t>
            </a:r>
          </a:p>
          <a:p>
            <a:endParaRPr lang="en-US" sz="2400" dirty="0"/>
          </a:p>
        </p:txBody>
      </p:sp>
      <p:sp>
        <p:nvSpPr>
          <p:cNvPr id="5" name="Rectangle 4"/>
          <p:cNvSpPr/>
          <p:nvPr/>
        </p:nvSpPr>
        <p:spPr>
          <a:xfrm>
            <a:off x="3352800" y="2438400"/>
            <a:ext cx="4572000" cy="1261884"/>
          </a:xfrm>
          <a:prstGeom prst="rect">
            <a:avLst/>
          </a:prstGeom>
        </p:spPr>
        <p:txBody>
          <a:bodyPr>
            <a:spAutoFit/>
          </a:bodyPr>
          <a:lstStyle/>
          <a:p>
            <a:r>
              <a:rPr lang="en-US" sz="2400" dirty="0"/>
              <a:t>-3 = 11111101</a:t>
            </a:r>
          </a:p>
          <a:p>
            <a:r>
              <a:rPr lang="en-US" sz="2400" dirty="0"/>
              <a:t> -2 = 11111110</a:t>
            </a:r>
          </a:p>
          <a:p>
            <a:r>
              <a:rPr lang="en-US" sz="2400" dirty="0"/>
              <a:t>  -0 = 00000000</a:t>
            </a:r>
            <a:r>
              <a:rPr lang="en-US" sz="2800"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2" presetClass="entr" presetSubtype="8" fill="hold" grpId="0" nodeType="afterEffect">
                                  <p:stCondLst>
                                    <p:cond delay="1000"/>
                                  </p:stCondLst>
                                  <p:childTnLst>
                                    <p:set>
                                      <p:cBhvr>
                                        <p:cTn id="11" dur="1" fill="hold">
                                          <p:stCondLst>
                                            <p:cond delay="0"/>
                                          </p:stCondLst>
                                        </p:cTn>
                                        <p:tgtEl>
                                          <p:spTgt spid="48131">
                                            <p:txEl>
                                              <p:pRg st="1" end="1"/>
                                            </p:txEl>
                                          </p:spTgt>
                                        </p:tgtEl>
                                        <p:attrNameLst>
                                          <p:attrName>style.visibility</p:attrName>
                                        </p:attrNameLst>
                                      </p:cBhvr>
                                      <p:to>
                                        <p:strVal val="visible"/>
                                      </p:to>
                                    </p:set>
                                    <p:anim calcmode="lin" valueType="num">
                                      <p:cBhvr additive="base">
                                        <p:cTn id="12" dur="500" fill="hold"/>
                                        <p:tgtEl>
                                          <p:spTgt spid="4813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131">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3000"/>
                            </p:stCondLst>
                            <p:childTnLst>
                              <p:par>
                                <p:cTn id="15" presetID="2" presetClass="entr" presetSubtype="8" fill="hold" grpId="0" nodeType="afterEffect">
                                  <p:stCondLst>
                                    <p:cond delay="1000"/>
                                  </p:stCondLst>
                                  <p:childTnLst>
                                    <p:set>
                                      <p:cBhvr>
                                        <p:cTn id="16" dur="1" fill="hold">
                                          <p:stCondLst>
                                            <p:cond delay="0"/>
                                          </p:stCondLst>
                                        </p:cTn>
                                        <p:tgtEl>
                                          <p:spTgt spid="48131">
                                            <p:txEl>
                                              <p:pRg st="2" end="2"/>
                                            </p:txEl>
                                          </p:spTgt>
                                        </p:tgtEl>
                                        <p:attrNameLst>
                                          <p:attrName>style.visibility</p:attrName>
                                        </p:attrNameLst>
                                      </p:cBhvr>
                                      <p:to>
                                        <p:strVal val="visible"/>
                                      </p:to>
                                    </p:set>
                                    <p:anim calcmode="lin" valueType="num">
                                      <p:cBhvr additive="base">
                                        <p:cTn id="17" dur="500" fill="hold"/>
                                        <p:tgtEl>
                                          <p:spTgt spid="4813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8131">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4500"/>
                            </p:stCondLst>
                            <p:childTnLst>
                              <p:par>
                                <p:cTn id="20" presetID="2" presetClass="entr" presetSubtype="8" fill="hold" grpId="0" nodeType="afterEffect">
                                  <p:stCondLst>
                                    <p:cond delay="1000"/>
                                  </p:stCondLst>
                                  <p:childTnLst>
                                    <p:set>
                                      <p:cBhvr>
                                        <p:cTn id="21" dur="1" fill="hold">
                                          <p:stCondLst>
                                            <p:cond delay="0"/>
                                          </p:stCondLst>
                                        </p:cTn>
                                        <p:tgtEl>
                                          <p:spTgt spid="48131">
                                            <p:txEl>
                                              <p:pRg st="3" end="3"/>
                                            </p:txEl>
                                          </p:spTgt>
                                        </p:tgtEl>
                                        <p:attrNameLst>
                                          <p:attrName>style.visibility</p:attrName>
                                        </p:attrNameLst>
                                      </p:cBhvr>
                                      <p:to>
                                        <p:strVal val="visible"/>
                                      </p:to>
                                    </p:set>
                                    <p:anim calcmode="lin" valueType="num">
                                      <p:cBhvr additive="base">
                                        <p:cTn id="22" dur="500" fill="hold"/>
                                        <p:tgtEl>
                                          <p:spTgt spid="48131">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81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amond(in)">
                                      <p:cBhvr>
                                        <p:cTn id="2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bldLvl="5" autoUpdateAnimBg="0" advAuto="100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457200"/>
          </a:xfrm>
        </p:spPr>
        <p:txBody>
          <a:bodyPr>
            <a:noAutofit/>
          </a:bodyPr>
          <a:lstStyle/>
          <a:p>
            <a:endParaRPr lang="en-US" sz="2800" dirty="0"/>
          </a:p>
        </p:txBody>
      </p:sp>
      <p:sp>
        <p:nvSpPr>
          <p:cNvPr id="3" name="Content Placeholder 2"/>
          <p:cNvSpPr>
            <a:spLocks noGrp="1"/>
          </p:cNvSpPr>
          <p:nvPr>
            <p:ph idx="1"/>
          </p:nvPr>
        </p:nvSpPr>
        <p:spPr>
          <a:xfrm>
            <a:off x="304800" y="762000"/>
            <a:ext cx="8534400" cy="5867400"/>
          </a:xfrm>
        </p:spPr>
        <p:txBody>
          <a:bodyPr>
            <a:noAutofit/>
          </a:bodyPr>
          <a:lstStyle/>
          <a:p>
            <a:r>
              <a:rPr lang="en-US" sz="2400" dirty="0"/>
              <a:t>Easier way to find 2’s complement</a:t>
            </a:r>
          </a:p>
          <a:p>
            <a:endParaRPr lang="en-US" sz="2400" dirty="0"/>
          </a:p>
          <a:p>
            <a:pPr>
              <a:buNone/>
            </a:pPr>
            <a:r>
              <a:rPr lang="en-US" sz="2400" dirty="0" err="1"/>
              <a:t>Eg</a:t>
            </a:r>
            <a:r>
              <a:rPr lang="en-US" sz="2400" dirty="0"/>
              <a:t>    for 10101000</a:t>
            </a:r>
          </a:p>
          <a:p>
            <a:pPr>
              <a:buNone/>
            </a:pPr>
            <a:endParaRPr lang="en-US" sz="2400" dirty="0"/>
          </a:p>
          <a:p>
            <a:pPr>
              <a:buNone/>
            </a:pPr>
            <a:r>
              <a:rPr lang="en-US" sz="2400" dirty="0"/>
              <a:t>Start from right end.  copy bits as they are , as long as a 1 is not encountered.</a:t>
            </a:r>
          </a:p>
          <a:p>
            <a:pPr>
              <a:buNone/>
            </a:pPr>
            <a:endParaRPr lang="en-US" sz="2400" dirty="0"/>
          </a:p>
          <a:p>
            <a:pPr>
              <a:buNone/>
            </a:pPr>
            <a:r>
              <a:rPr lang="en-US" sz="2400" dirty="0"/>
              <a:t>So   it is ……….</a:t>
            </a:r>
            <a:r>
              <a:rPr lang="en-US" sz="2400" dirty="0">
                <a:solidFill>
                  <a:srgbClr val="00B050"/>
                </a:solidFill>
              </a:rPr>
              <a:t>1000</a:t>
            </a:r>
          </a:p>
          <a:p>
            <a:pPr>
              <a:buNone/>
            </a:pPr>
            <a:endParaRPr lang="en-US" sz="2400" dirty="0"/>
          </a:p>
          <a:p>
            <a:pPr>
              <a:buNone/>
            </a:pPr>
            <a:r>
              <a:rPr lang="en-US" sz="2400" dirty="0"/>
              <a:t>After that complement remaining bits</a:t>
            </a:r>
          </a:p>
          <a:p>
            <a:pPr>
              <a:buNone/>
            </a:pPr>
            <a:r>
              <a:rPr lang="en-US" sz="2400" dirty="0"/>
              <a:t> so  </a:t>
            </a:r>
            <a:r>
              <a:rPr lang="en-US" sz="2400" dirty="0">
                <a:solidFill>
                  <a:srgbClr val="FF0000"/>
                </a:solidFill>
              </a:rPr>
              <a:t>0101</a:t>
            </a:r>
            <a:r>
              <a:rPr lang="en-US" sz="2400" dirty="0">
                <a:solidFill>
                  <a:srgbClr val="00B050"/>
                </a:solidFill>
              </a:rPr>
              <a:t>1000</a:t>
            </a:r>
          </a:p>
          <a:p>
            <a:endParaRPr lang="en-US" sz="2400" dirty="0"/>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229600" cy="715962"/>
          </a:xfrm>
        </p:spPr>
        <p:txBody>
          <a:bodyPr>
            <a:noAutofit/>
          </a:bodyPr>
          <a:lstStyle/>
          <a:p>
            <a:r>
              <a:rPr lang="en-US" sz="3200" dirty="0"/>
              <a:t>Benefits of 2’s complement number system</a:t>
            </a:r>
          </a:p>
        </p:txBody>
      </p:sp>
      <p:sp>
        <p:nvSpPr>
          <p:cNvPr id="8195" name="Rectangle 3"/>
          <p:cNvSpPr>
            <a:spLocks noGrp="1" noChangeArrowheads="1"/>
          </p:cNvSpPr>
          <p:nvPr>
            <p:ph idx="1"/>
          </p:nvPr>
        </p:nvSpPr>
        <p:spPr>
          <a:xfrm>
            <a:off x="476250" y="1013460"/>
            <a:ext cx="8439150" cy="5569902"/>
          </a:xfrm>
        </p:spPr>
        <p:txBody>
          <a:bodyPr>
            <a:normAutofit fontScale="92500" lnSpcReduction="10000"/>
          </a:bodyPr>
          <a:lstStyle/>
          <a:p>
            <a:pPr marL="0" indent="0">
              <a:buNone/>
            </a:pPr>
            <a:r>
              <a:rPr lang="en-US" dirty="0"/>
              <a:t>Benefit 1:</a:t>
            </a:r>
          </a:p>
          <a:p>
            <a:pPr marL="0" indent="0">
              <a:buNone/>
            </a:pPr>
            <a:r>
              <a:rPr lang="en-US" dirty="0"/>
              <a:t>Only One representation of zero</a:t>
            </a:r>
          </a:p>
          <a:p>
            <a:endParaRPr lang="en-US" dirty="0"/>
          </a:p>
          <a:p>
            <a:r>
              <a:rPr lang="en-US" dirty="0"/>
              <a:t>Zero =                    00000000</a:t>
            </a:r>
          </a:p>
          <a:p>
            <a:r>
              <a:rPr lang="en-US" dirty="0"/>
              <a:t>Bitwise not=         11111111</a:t>
            </a:r>
          </a:p>
          <a:p>
            <a:r>
              <a:rPr lang="en-US" dirty="0"/>
              <a:t>Add 1 to LSB                        1</a:t>
            </a:r>
          </a:p>
          <a:p>
            <a:r>
              <a:rPr lang="en-US" dirty="0"/>
              <a:t>Result   =           </a:t>
            </a:r>
            <a:r>
              <a:rPr lang="en-US" dirty="0">
                <a:solidFill>
                  <a:srgbClr val="0070C0"/>
                </a:solidFill>
              </a:rPr>
              <a:t>1</a:t>
            </a:r>
            <a:r>
              <a:rPr lang="en-US" dirty="0"/>
              <a:t> 00000000</a:t>
            </a:r>
          </a:p>
          <a:p>
            <a:r>
              <a:rPr lang="en-US" dirty="0">
                <a:solidFill>
                  <a:srgbClr val="0070C0"/>
                </a:solidFill>
              </a:rPr>
              <a:t>Overflow</a:t>
            </a:r>
            <a:r>
              <a:rPr lang="en-US" dirty="0"/>
              <a:t> is ignored, so:</a:t>
            </a:r>
          </a:p>
          <a:p>
            <a:r>
              <a:rPr lang="en-US" dirty="0"/>
              <a:t>- 0 = +0 </a:t>
            </a:r>
            <a:r>
              <a:rPr lang="en-US" dirty="0">
                <a:sym typeface="Symbol" pitchFamily="18" charset="2"/>
              </a:rPr>
              <a:t></a:t>
            </a:r>
          </a:p>
          <a:p>
            <a:r>
              <a:rPr lang="en-US" dirty="0"/>
              <a:t>Benefit 2 : Arithmetic operations can be done  easily </a:t>
            </a:r>
          </a:p>
          <a:p>
            <a:endParaRPr lang="en-US" dirty="0">
              <a:sym typeface="Symbol" pitchFamily="18" charset="2"/>
            </a:endParaRPr>
          </a:p>
          <a:p>
            <a:endParaRPr lang="en-US" dirty="0">
              <a:sym typeface="Symbol" pitchFamily="18" charset="2"/>
            </a:endParaRPr>
          </a:p>
          <a:p>
            <a:endParaRPr lang="en-US" dirty="0"/>
          </a:p>
          <a:p>
            <a:endParaRPr lang="en-US" dirty="0"/>
          </a:p>
          <a:p>
            <a:pPr lvl="1"/>
            <a:endParaRPr lang="en-US" dirty="0"/>
          </a:p>
          <a:p>
            <a:pPr lvl="1"/>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t>Range of Numbers</a:t>
            </a:r>
          </a:p>
        </p:txBody>
      </p:sp>
      <p:sp>
        <p:nvSpPr>
          <p:cNvPr id="12291" name="Rectangle 3"/>
          <p:cNvSpPr>
            <a:spLocks noGrp="1" noChangeArrowheads="1"/>
          </p:cNvSpPr>
          <p:nvPr>
            <p:ph idx="1"/>
          </p:nvPr>
        </p:nvSpPr>
        <p:spPr>
          <a:xfrm>
            <a:off x="381000" y="1143000"/>
            <a:ext cx="8305800" cy="4983163"/>
          </a:xfrm>
        </p:spPr>
        <p:txBody>
          <a:bodyPr>
            <a:normAutofit lnSpcReduction="10000"/>
          </a:bodyPr>
          <a:lstStyle/>
          <a:p>
            <a:r>
              <a:rPr lang="en-US" dirty="0"/>
              <a:t>For n bit number , the total numbers are 2 </a:t>
            </a:r>
            <a:r>
              <a:rPr lang="en-US" baseline="30000" dirty="0"/>
              <a:t>n</a:t>
            </a:r>
          </a:p>
          <a:p>
            <a:r>
              <a:rPr lang="en-US" dirty="0"/>
              <a:t>n bit 2’s complement</a:t>
            </a:r>
          </a:p>
          <a:p>
            <a:pPr lvl="1"/>
            <a:r>
              <a:rPr lang="en-US" dirty="0"/>
              <a:t>(+)</a:t>
            </a:r>
            <a:r>
              <a:rPr lang="en-US" dirty="0" err="1"/>
              <a:t>ve</a:t>
            </a:r>
            <a:r>
              <a:rPr lang="en-US" dirty="0"/>
              <a:t> no. range = 2</a:t>
            </a:r>
            <a:r>
              <a:rPr lang="en-US" baseline="30000" dirty="0"/>
              <a:t>n-1</a:t>
            </a:r>
            <a:r>
              <a:rPr lang="en-US" dirty="0"/>
              <a:t> -1</a:t>
            </a:r>
          </a:p>
          <a:p>
            <a:pPr lvl="1"/>
            <a:r>
              <a:rPr lang="en-US" dirty="0"/>
              <a:t> (-)</a:t>
            </a:r>
            <a:r>
              <a:rPr lang="en-US" dirty="0" err="1"/>
              <a:t>ve</a:t>
            </a:r>
            <a:r>
              <a:rPr lang="en-US" dirty="0"/>
              <a:t> no. range = -2</a:t>
            </a:r>
            <a:r>
              <a:rPr lang="en-US" baseline="30000" dirty="0"/>
              <a:t>n-1</a:t>
            </a:r>
            <a:endParaRPr lang="en-US" dirty="0"/>
          </a:p>
          <a:p>
            <a:r>
              <a:rPr lang="en-US" dirty="0"/>
              <a:t>8 bit 2’s complement</a:t>
            </a:r>
          </a:p>
          <a:p>
            <a:pPr marL="457200" lvl="1" indent="0">
              <a:buNone/>
            </a:pPr>
            <a:r>
              <a:rPr lang="en-US" dirty="0"/>
              <a:t>  01111111 = 2</a:t>
            </a:r>
            <a:r>
              <a:rPr lang="en-US" baseline="30000" dirty="0"/>
              <a:t>7</a:t>
            </a:r>
            <a:r>
              <a:rPr lang="en-US" dirty="0"/>
              <a:t> -1 = +127 </a:t>
            </a:r>
          </a:p>
          <a:p>
            <a:pPr marL="457200" lvl="1" indent="0">
              <a:buNone/>
            </a:pPr>
            <a:r>
              <a:rPr lang="en-US" dirty="0"/>
              <a:t> 10000000 = -2</a:t>
            </a:r>
            <a:r>
              <a:rPr lang="en-US" baseline="30000" dirty="0"/>
              <a:t>7   </a:t>
            </a:r>
            <a:r>
              <a:rPr lang="en-US" dirty="0"/>
              <a:t>=  -128 </a:t>
            </a:r>
          </a:p>
          <a:p>
            <a:r>
              <a:rPr lang="en-US" dirty="0"/>
              <a:t>16 bit 2s complement</a:t>
            </a:r>
          </a:p>
          <a:p>
            <a:pPr marL="457200" lvl="1" indent="0">
              <a:buNone/>
            </a:pPr>
            <a:r>
              <a:rPr lang="en-US" dirty="0"/>
              <a:t>011111111 11111111 = 2</a:t>
            </a:r>
            <a:r>
              <a:rPr lang="en-US" baseline="30000" dirty="0"/>
              <a:t>15</a:t>
            </a:r>
            <a:r>
              <a:rPr lang="en-US" dirty="0"/>
              <a:t> – 1 = +32767 </a:t>
            </a:r>
          </a:p>
          <a:p>
            <a:pPr marL="457200" lvl="1" indent="0">
              <a:buNone/>
            </a:pPr>
            <a:r>
              <a:rPr lang="en-US" dirty="0"/>
              <a:t>100000000 00000000 = -2</a:t>
            </a:r>
            <a:r>
              <a:rPr lang="en-US" baseline="30000" dirty="0"/>
              <a:t>15        </a:t>
            </a:r>
            <a:r>
              <a:rPr lang="en-US" dirty="0"/>
              <a:t> = -32768 </a:t>
            </a:r>
            <a:endParaRPr lang="en-US" baseline="30000" dirty="0"/>
          </a:p>
          <a:p>
            <a:pPr lvl="1"/>
            <a:endParaRPr lang="en-US" baseline="30000" dirty="0"/>
          </a:p>
          <a:p>
            <a:pPr lvl="1"/>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457200"/>
          </a:xfrm>
        </p:spPr>
        <p:txBody>
          <a:bodyPr>
            <a:noAutofit/>
          </a:bodyPr>
          <a:lstStyle/>
          <a:p>
            <a:endParaRPr lang="en-US" sz="2800" dirty="0"/>
          </a:p>
        </p:txBody>
      </p:sp>
      <p:sp>
        <p:nvSpPr>
          <p:cNvPr id="3" name="Content Placeholder 2"/>
          <p:cNvSpPr>
            <a:spLocks noGrp="1"/>
          </p:cNvSpPr>
          <p:nvPr>
            <p:ph idx="1"/>
          </p:nvPr>
        </p:nvSpPr>
        <p:spPr>
          <a:xfrm>
            <a:off x="304800" y="762000"/>
            <a:ext cx="8534400" cy="5867400"/>
          </a:xfrm>
        </p:spPr>
        <p:txBody>
          <a:bodyPr>
            <a:noAutofit/>
          </a:bodyPr>
          <a:lstStyle/>
          <a:p>
            <a:pPr>
              <a:buNone/>
            </a:pPr>
            <a:r>
              <a:rPr lang="en-US" sz="2400" dirty="0"/>
              <a:t>Represent following number in to all 3 formats  :   - 13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676275" y="595313"/>
            <a:ext cx="7791450" cy="56673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p:cNvSpPr>
          <p:nvPr>
            <p:ph type="title"/>
          </p:nvPr>
        </p:nvSpPr>
        <p:spPr/>
        <p:txBody>
          <a:bodyPr/>
          <a:lstStyle/>
          <a:p>
            <a:r>
              <a:rPr lang="en-US" sz="3600" b="1" dirty="0">
                <a:latin typeface="Times New Roman" pitchFamily="18" charset="0"/>
                <a:cs typeface="Times New Roman" pitchFamily="18" charset="0"/>
              </a:rPr>
              <a:t>Integer arithmetic</a:t>
            </a:r>
          </a:p>
        </p:txBody>
      </p:sp>
      <p:sp>
        <p:nvSpPr>
          <p:cNvPr id="36870" name="Rectangle 3"/>
          <p:cNvSpPr>
            <a:spLocks noGrp="1"/>
          </p:cNvSpPr>
          <p:nvPr>
            <p:ph type="body" sz="half" idx="1"/>
          </p:nvPr>
        </p:nvSpPr>
        <p:spPr>
          <a:xfrm>
            <a:off x="457200" y="1371600"/>
            <a:ext cx="8305800" cy="4906963"/>
          </a:xfrm>
        </p:spPr>
        <p:txBody>
          <a:bodyPr/>
          <a:lstStyle/>
          <a:p>
            <a:r>
              <a:rPr lang="en-US" sz="2400" dirty="0">
                <a:latin typeface="Times New Roman" pitchFamily="18" charset="0"/>
                <a:cs typeface="Times New Roman" pitchFamily="18" charset="0"/>
              </a:rPr>
              <a:t>Just like decimal numbers, arithmetic operations such as addition, subtraction, multiplication &amp; division can be performed on binary numbers also.</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We will study    +    -    * </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pPr marL="0" indent="0">
              <a:buNone/>
            </a:pPr>
            <a:r>
              <a:rPr lang="en-US" sz="2400" dirty="0"/>
              <a:t>Binary addition</a:t>
            </a:r>
          </a:p>
          <a:p>
            <a:endParaRPr lang="en-US" sz="2400" dirty="0"/>
          </a:p>
          <a:p>
            <a:r>
              <a:rPr lang="en-US" sz="2400" dirty="0"/>
              <a:t>We will study </a:t>
            </a:r>
          </a:p>
          <a:p>
            <a:endParaRPr lang="en-US" sz="2400" dirty="0"/>
          </a:p>
          <a:p>
            <a:r>
              <a:rPr lang="en-US" sz="2400" dirty="0"/>
              <a:t>half adder ( single bit),</a:t>
            </a:r>
          </a:p>
          <a:p>
            <a:r>
              <a:rPr lang="en-US" sz="2400" dirty="0"/>
              <a:t> full adder ( single bit),</a:t>
            </a:r>
          </a:p>
          <a:p>
            <a:r>
              <a:rPr lang="en-US" sz="2400" dirty="0"/>
              <a:t> ripple carry adder ( multiple bit)</a:t>
            </a:r>
          </a:p>
          <a:p>
            <a:r>
              <a:rPr lang="en-US" sz="2400" dirty="0"/>
              <a:t>Fast adder using carry look ahead</a:t>
            </a:r>
          </a:p>
          <a:p>
            <a:endParaRPr lang="en-US" sz="2400" dirty="0"/>
          </a:p>
          <a:p>
            <a:endParaRPr lang="en-US" sz="2400" dirty="0"/>
          </a:p>
          <a:p>
            <a:r>
              <a:rPr lang="en-IN" sz="2400" dirty="0"/>
              <a:t>Half Adder, Full Adder are already covered in DELD Unit II-              ( Combinational Logic Design )</a:t>
            </a:r>
          </a:p>
          <a:p>
            <a:endParaRPr lang="en-US" sz="2400" dirty="0"/>
          </a:p>
        </p:txBody>
      </p:sp>
    </p:spTree>
    <p:extLst>
      <p:ext uri="{BB962C8B-B14F-4D97-AF65-F5344CB8AC3E}">
        <p14:creationId xmlns:p14="http://schemas.microsoft.com/office/powerpoint/2010/main" val="1424231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9482D2-4B25-4C23-907D-DA76F25D2C08}"/>
              </a:ext>
            </a:extLst>
          </p:cNvPr>
          <p:cNvPicPr>
            <a:picLocks noChangeAspect="1"/>
          </p:cNvPicPr>
          <p:nvPr/>
        </p:nvPicPr>
        <p:blipFill>
          <a:blip r:embed="rId2"/>
          <a:stretch>
            <a:fillRect/>
          </a:stretch>
        </p:blipFill>
        <p:spPr>
          <a:xfrm>
            <a:off x="1676399" y="3584961"/>
            <a:ext cx="4658375" cy="1790950"/>
          </a:xfrm>
          <a:prstGeom prst="rect">
            <a:avLst/>
          </a:prstGeom>
        </p:spPr>
      </p:pic>
      <p:sp>
        <p:nvSpPr>
          <p:cNvPr id="2" name="Title 1"/>
          <p:cNvSpPr>
            <a:spLocks noGrp="1"/>
          </p:cNvSpPr>
          <p:nvPr>
            <p:ph type="title"/>
          </p:nvPr>
        </p:nvSpPr>
        <p:spPr>
          <a:xfrm>
            <a:off x="304800" y="152400"/>
            <a:ext cx="8534400" cy="457200"/>
          </a:xfrm>
        </p:spPr>
        <p:txBody>
          <a:bodyPr>
            <a:noAutofit/>
          </a:bodyPr>
          <a:lstStyle/>
          <a:p>
            <a:r>
              <a:rPr lang="en-US" sz="2800" dirty="0"/>
              <a:t>Half adder</a:t>
            </a:r>
          </a:p>
        </p:txBody>
      </p:sp>
      <p:sp>
        <p:nvSpPr>
          <p:cNvPr id="3" name="Content Placeholder 2"/>
          <p:cNvSpPr>
            <a:spLocks noGrp="1"/>
          </p:cNvSpPr>
          <p:nvPr>
            <p:ph idx="1"/>
          </p:nvPr>
        </p:nvSpPr>
        <p:spPr>
          <a:xfrm>
            <a:off x="304800" y="762000"/>
            <a:ext cx="8534400" cy="5867400"/>
          </a:xfrm>
        </p:spPr>
        <p:txBody>
          <a:bodyPr>
            <a:noAutofit/>
          </a:bodyPr>
          <a:lstStyle/>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r>
              <a:rPr lang="en-IN" dirty="0"/>
              <a:t>Sum       S=A⊕B</a:t>
            </a:r>
          </a:p>
          <a:p>
            <a:pPr>
              <a:buNone/>
            </a:pPr>
            <a:r>
              <a:rPr lang="en-IN" dirty="0"/>
              <a:t>Carry     C=A⋅B</a:t>
            </a:r>
            <a:endParaRPr lang="en-US" sz="4800" dirty="0"/>
          </a:p>
        </p:txBody>
      </p:sp>
      <p:graphicFrame>
        <p:nvGraphicFramePr>
          <p:cNvPr id="4" name="Group 44"/>
          <p:cNvGraphicFramePr>
            <a:graphicFrameLocks/>
          </p:cNvGraphicFramePr>
          <p:nvPr>
            <p:extLst>
              <p:ext uri="{D42A27DB-BD31-4B8C-83A1-F6EECF244321}">
                <p14:modId xmlns:p14="http://schemas.microsoft.com/office/powerpoint/2010/main" val="857495277"/>
              </p:ext>
            </p:extLst>
          </p:nvPr>
        </p:nvGraphicFramePr>
        <p:xfrm>
          <a:off x="1295400" y="1173480"/>
          <a:ext cx="5638800" cy="2286000"/>
        </p:xfrm>
        <a:graphic>
          <a:graphicData uri="http://schemas.openxmlformats.org/drawingml/2006/table">
            <a:tbl>
              <a:tblPr/>
              <a:tblGrid>
                <a:gridCol w="1128552">
                  <a:extLst>
                    <a:ext uri="{9D8B030D-6E8A-4147-A177-3AD203B41FA5}">
                      <a16:colId xmlns:a16="http://schemas.microsoft.com/office/drawing/2014/main" val="20000"/>
                    </a:ext>
                  </a:extLst>
                </a:gridCol>
                <a:gridCol w="1127232">
                  <a:extLst>
                    <a:ext uri="{9D8B030D-6E8A-4147-A177-3AD203B41FA5}">
                      <a16:colId xmlns:a16="http://schemas.microsoft.com/office/drawing/2014/main" val="20001"/>
                    </a:ext>
                  </a:extLst>
                </a:gridCol>
                <a:gridCol w="1127232">
                  <a:extLst>
                    <a:ext uri="{9D8B030D-6E8A-4147-A177-3AD203B41FA5}">
                      <a16:colId xmlns:a16="http://schemas.microsoft.com/office/drawing/2014/main" val="20002"/>
                    </a:ext>
                  </a:extLst>
                </a:gridCol>
                <a:gridCol w="1127232">
                  <a:extLst>
                    <a:ext uri="{9D8B030D-6E8A-4147-A177-3AD203B41FA5}">
                      <a16:colId xmlns:a16="http://schemas.microsoft.com/office/drawing/2014/main" val="20003"/>
                    </a:ext>
                  </a:extLst>
                </a:gridCol>
                <a:gridCol w="1128552">
                  <a:extLst>
                    <a:ext uri="{9D8B030D-6E8A-4147-A177-3AD203B41FA5}">
                      <a16:colId xmlns:a16="http://schemas.microsoft.com/office/drawing/2014/main" val="20004"/>
                    </a:ext>
                  </a:extLst>
                </a:gridCol>
              </a:tblGrid>
              <a:tr h="37928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dirty="0">
                          <a:ln>
                            <a:noFill/>
                          </a:ln>
                          <a:solidFill>
                            <a:schemeClr val="tx1"/>
                          </a:solidFill>
                          <a:effectLst/>
                          <a:latin typeface="Times New Roman" pitchFamily="18"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dirty="0">
                          <a:ln>
                            <a:noFill/>
                          </a:ln>
                          <a:solidFill>
                            <a:schemeClr val="tx1"/>
                          </a:solidFill>
                          <a:effectLst/>
                          <a:latin typeface="Times New Roman" pitchFamily="18"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a:ln>
                            <a:noFill/>
                          </a:ln>
                          <a:solidFill>
                            <a:schemeClr val="tx1"/>
                          </a:solidFill>
                          <a:effectLst/>
                          <a:latin typeface="Times New Roman" pitchFamily="18" charset="0"/>
                        </a:rPr>
                        <a:t>Sum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a:ln>
                            <a:noFill/>
                          </a:ln>
                          <a:solidFill>
                            <a:schemeClr val="tx1"/>
                          </a:solidFill>
                          <a:effectLst/>
                          <a:latin typeface="Times New Roman" pitchFamily="18" charset="0"/>
                        </a:rPr>
                        <a:t>Carry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a:ln>
                            <a:noFill/>
                          </a:ln>
                          <a:solidFill>
                            <a:schemeClr val="tx1"/>
                          </a:solidFill>
                          <a:effectLst/>
                          <a:latin typeface="Times New Roman" pitchFamily="18" charset="0"/>
                        </a:rPr>
                        <a:t>Result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6908">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0238">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28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928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DE89B-9838-4F47-B22A-9985DA83A9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B352BB-D020-4EEA-8878-F0ADF35D42B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642EEE8C-66B7-4D3B-9A84-C8C9AC50073B}"/>
              </a:ext>
            </a:extLst>
          </p:cNvPr>
          <p:cNvPicPr>
            <a:picLocks noChangeAspect="1"/>
          </p:cNvPicPr>
          <p:nvPr/>
        </p:nvPicPr>
        <p:blipFill>
          <a:blip r:embed="rId2"/>
          <a:stretch>
            <a:fillRect/>
          </a:stretch>
        </p:blipFill>
        <p:spPr>
          <a:xfrm>
            <a:off x="609600" y="2286000"/>
            <a:ext cx="7549618" cy="2567123"/>
          </a:xfrm>
          <a:prstGeom prst="rect">
            <a:avLst/>
          </a:prstGeom>
        </p:spPr>
      </p:pic>
    </p:spTree>
    <p:extLst>
      <p:ext uri="{BB962C8B-B14F-4D97-AF65-F5344CB8AC3E}">
        <p14:creationId xmlns:p14="http://schemas.microsoft.com/office/powerpoint/2010/main" val="249871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dirty="0"/>
              <a:t>Full adder ( single bit )</a:t>
            </a:r>
          </a:p>
          <a:p>
            <a:endParaRPr lang="en-US" sz="2400" dirty="0"/>
          </a:p>
          <a:p>
            <a:r>
              <a:rPr lang="en-US" sz="2400" dirty="0"/>
              <a:t>Adds total three bits, ( A , B &amp; </a:t>
            </a:r>
            <a:r>
              <a:rPr lang="en-US" sz="2400" dirty="0" err="1"/>
              <a:t>Cin</a:t>
            </a:r>
            <a:r>
              <a:rPr lang="en-US" sz="2400" dirty="0"/>
              <a:t> :the carry from previous bit addition )</a:t>
            </a:r>
          </a:p>
          <a:p>
            <a:endParaRPr lang="en-US" sz="2400" dirty="0"/>
          </a:p>
        </p:txBody>
      </p:sp>
      <p:pic>
        <p:nvPicPr>
          <p:cNvPr id="14" name="Picture 13">
            <a:extLst>
              <a:ext uri="{FF2B5EF4-FFF2-40B4-BE49-F238E27FC236}">
                <a16:creationId xmlns:a16="http://schemas.microsoft.com/office/drawing/2014/main" id="{FBF8FAA9-1A3B-42BF-8FAF-7A120332FAC8}"/>
              </a:ext>
            </a:extLst>
          </p:cNvPr>
          <p:cNvPicPr>
            <a:picLocks noChangeAspect="1"/>
          </p:cNvPicPr>
          <p:nvPr/>
        </p:nvPicPr>
        <p:blipFill>
          <a:blip r:embed="rId2"/>
          <a:stretch>
            <a:fillRect/>
          </a:stretch>
        </p:blipFill>
        <p:spPr>
          <a:xfrm>
            <a:off x="2438400" y="1752600"/>
            <a:ext cx="3505200" cy="3938195"/>
          </a:xfrm>
          <a:prstGeom prst="rect">
            <a:avLst/>
          </a:prstGeom>
        </p:spPr>
      </p:pic>
      <p:pic>
        <p:nvPicPr>
          <p:cNvPr id="15" name="Picture 14">
            <a:extLst>
              <a:ext uri="{FF2B5EF4-FFF2-40B4-BE49-F238E27FC236}">
                <a16:creationId xmlns:a16="http://schemas.microsoft.com/office/drawing/2014/main" id="{591EA96B-32CC-4658-B3A3-C4202F9358AD}"/>
              </a:ext>
            </a:extLst>
          </p:cNvPr>
          <p:cNvPicPr>
            <a:picLocks noChangeAspect="1"/>
          </p:cNvPicPr>
          <p:nvPr/>
        </p:nvPicPr>
        <p:blipFill>
          <a:blip r:embed="rId3"/>
          <a:stretch>
            <a:fillRect/>
          </a:stretch>
        </p:blipFill>
        <p:spPr>
          <a:xfrm>
            <a:off x="945366" y="5698124"/>
            <a:ext cx="2410689" cy="457200"/>
          </a:xfrm>
          <a:prstGeom prst="rect">
            <a:avLst/>
          </a:prstGeom>
        </p:spPr>
      </p:pic>
      <p:pic>
        <p:nvPicPr>
          <p:cNvPr id="16" name="Picture 15">
            <a:extLst>
              <a:ext uri="{FF2B5EF4-FFF2-40B4-BE49-F238E27FC236}">
                <a16:creationId xmlns:a16="http://schemas.microsoft.com/office/drawing/2014/main" id="{5FE23159-75C7-443B-AB47-EA5352EEDE4C}"/>
              </a:ext>
            </a:extLst>
          </p:cNvPr>
          <p:cNvPicPr>
            <a:picLocks noChangeAspect="1"/>
          </p:cNvPicPr>
          <p:nvPr/>
        </p:nvPicPr>
        <p:blipFill>
          <a:blip r:embed="rId4"/>
          <a:stretch>
            <a:fillRect/>
          </a:stretch>
        </p:blipFill>
        <p:spPr>
          <a:xfrm>
            <a:off x="869166" y="6241071"/>
            <a:ext cx="4386256" cy="457200"/>
          </a:xfrm>
          <a:prstGeom prst="rect">
            <a:avLst/>
          </a:prstGeom>
        </p:spPr>
      </p:pic>
    </p:spTree>
    <p:extLst>
      <p:ext uri="{BB962C8B-B14F-4D97-AF65-F5344CB8AC3E}">
        <p14:creationId xmlns:p14="http://schemas.microsoft.com/office/powerpoint/2010/main" val="379497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Such n full adder blocks  can be used to add two n bit numbers</a:t>
            </a:r>
          </a:p>
        </p:txBody>
      </p:sp>
      <p:pic>
        <p:nvPicPr>
          <p:cNvPr id="6" name="Picture 5">
            <a:extLst>
              <a:ext uri="{FF2B5EF4-FFF2-40B4-BE49-F238E27FC236}">
                <a16:creationId xmlns:a16="http://schemas.microsoft.com/office/drawing/2014/main" id="{FB98441A-73F8-474E-B5FE-4DBEB006C7AD}"/>
              </a:ext>
            </a:extLst>
          </p:cNvPr>
          <p:cNvPicPr>
            <a:picLocks noChangeAspect="1"/>
          </p:cNvPicPr>
          <p:nvPr/>
        </p:nvPicPr>
        <p:blipFill>
          <a:blip r:embed="rId2"/>
          <a:stretch>
            <a:fillRect/>
          </a:stretch>
        </p:blipFill>
        <p:spPr>
          <a:xfrm>
            <a:off x="523310" y="1371600"/>
            <a:ext cx="8097380" cy="3019846"/>
          </a:xfrm>
          <a:prstGeom prst="rect">
            <a:avLst/>
          </a:prstGeom>
        </p:spPr>
      </p:pic>
    </p:spTree>
    <p:extLst>
      <p:ext uri="{BB962C8B-B14F-4D97-AF65-F5344CB8AC3E}">
        <p14:creationId xmlns:p14="http://schemas.microsoft.com/office/powerpoint/2010/main" val="2786190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dirty="0"/>
              <a:t>Design  4 bit full adder using single bit full adders</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marL="0" indent="0">
              <a:buNone/>
            </a:pPr>
            <a:endParaRPr lang="en-US" sz="2400" dirty="0"/>
          </a:p>
          <a:p>
            <a:endParaRPr lang="en-US" sz="2400" dirty="0"/>
          </a:p>
          <a:p>
            <a:r>
              <a:rPr lang="en-US" sz="2400" dirty="0"/>
              <a:t>This is also called </a:t>
            </a:r>
            <a:r>
              <a:rPr lang="en-US" sz="2400" b="1" dirty="0"/>
              <a:t>Ripple Carry Adder ( RCA)</a:t>
            </a:r>
          </a:p>
          <a:p>
            <a:endParaRPr lang="en-US" sz="2400" dirty="0"/>
          </a:p>
          <a:p>
            <a:r>
              <a:rPr lang="en-US" sz="2400" dirty="0"/>
              <a:t>Because carry from previous stage is propagated ( ripple) to next stage</a:t>
            </a:r>
          </a:p>
          <a:p>
            <a:endParaRPr lang="en-US" sz="2400" dirty="0"/>
          </a:p>
        </p:txBody>
      </p:sp>
      <p:pic>
        <p:nvPicPr>
          <p:cNvPr id="6" name="Picture 5">
            <a:extLst>
              <a:ext uri="{FF2B5EF4-FFF2-40B4-BE49-F238E27FC236}">
                <a16:creationId xmlns:a16="http://schemas.microsoft.com/office/drawing/2014/main" id="{0B233153-73E2-4557-A7EB-FAC9A966C68D}"/>
              </a:ext>
            </a:extLst>
          </p:cNvPr>
          <p:cNvPicPr>
            <a:picLocks noChangeAspect="1"/>
          </p:cNvPicPr>
          <p:nvPr/>
        </p:nvPicPr>
        <p:blipFill>
          <a:blip r:embed="rId2"/>
          <a:stretch>
            <a:fillRect/>
          </a:stretch>
        </p:blipFill>
        <p:spPr>
          <a:xfrm>
            <a:off x="1143000" y="993401"/>
            <a:ext cx="6400800" cy="3141570"/>
          </a:xfrm>
          <a:prstGeom prst="rect">
            <a:avLst/>
          </a:prstGeom>
        </p:spPr>
      </p:pic>
    </p:spTree>
    <p:extLst>
      <p:ext uri="{BB962C8B-B14F-4D97-AF65-F5344CB8AC3E}">
        <p14:creationId xmlns:p14="http://schemas.microsoft.com/office/powerpoint/2010/main" val="308075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3"/>
          <p:cNvSpPr>
            <a:spLocks noGrp="1"/>
          </p:cNvSpPr>
          <p:nvPr>
            <p:ph type="body" idx="1"/>
          </p:nvPr>
        </p:nvSpPr>
        <p:spPr>
          <a:xfrm>
            <a:off x="457200" y="304800"/>
            <a:ext cx="8229600" cy="5821363"/>
          </a:xfrm>
        </p:spPr>
        <p:txBody>
          <a:bodyPr/>
          <a:lstStyle/>
          <a:p>
            <a:endParaRPr lang="en-US" dirty="0"/>
          </a:p>
          <a:p>
            <a:r>
              <a:rPr lang="en-US" sz="2800" dirty="0"/>
              <a:t>E.g. Add the binary numbers: 101 &amp; 1111.</a:t>
            </a:r>
          </a:p>
        </p:txBody>
      </p:sp>
      <p:pic>
        <p:nvPicPr>
          <p:cNvPr id="37894" name="Picture 4" descr="scan0016"/>
          <p:cNvPicPr>
            <a:picLocks noChangeAspect="1" noChangeArrowheads="1"/>
          </p:cNvPicPr>
          <p:nvPr/>
        </p:nvPicPr>
        <p:blipFill>
          <a:blip r:embed="rId2">
            <a:lum bright="-18000" contrast="48000"/>
          </a:blip>
          <a:srcRect/>
          <a:stretch>
            <a:fillRect/>
          </a:stretch>
        </p:blipFill>
        <p:spPr bwMode="auto">
          <a:xfrm>
            <a:off x="1981200" y="2362200"/>
            <a:ext cx="4896071" cy="25860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endParaRPr lang="en-US" sz="2400" dirty="0"/>
          </a:p>
          <a:p>
            <a:pPr marL="0" indent="0">
              <a:buNone/>
            </a:pPr>
            <a:r>
              <a:rPr lang="en-US" sz="2400" b="1" dirty="0"/>
              <a:t>Problem with Ripple Carry Adder</a:t>
            </a:r>
          </a:p>
          <a:p>
            <a:pPr marL="0" indent="0">
              <a:buNone/>
            </a:pPr>
            <a:endParaRPr lang="en-US" sz="2400" b="1" dirty="0"/>
          </a:p>
          <a:p>
            <a:r>
              <a:rPr lang="en-US" sz="2400" dirty="0"/>
              <a:t>In RCA, the carry out (Ci-1) of one  stage becomes the carry in (Ci) for subsequent stage, creating a sequential dependency.</a:t>
            </a:r>
          </a:p>
          <a:p>
            <a:r>
              <a:rPr lang="en-US" sz="2400" dirty="0"/>
              <a:t>Delay increases with number of bits: Total delay ∝ n </a:t>
            </a:r>
          </a:p>
          <a:p>
            <a:r>
              <a:rPr lang="en-US" sz="2400" dirty="0"/>
              <a:t> This makes it slow for large word sizes (16-bit, 32-bit, 64-bit).</a:t>
            </a:r>
          </a:p>
          <a:p>
            <a:endParaRPr lang="en-US" sz="2400" dirty="0"/>
          </a:p>
          <a:p>
            <a:r>
              <a:rPr lang="en-US" sz="2400" dirty="0"/>
              <a:t>This problem is solved by using </a:t>
            </a:r>
          </a:p>
          <a:p>
            <a:r>
              <a:rPr lang="en-US" sz="2400" b="1" dirty="0"/>
              <a:t>Carry Look Ahead Adder (CLA) – Fast Adder</a:t>
            </a:r>
          </a:p>
          <a:p>
            <a:endParaRPr lang="en-US" sz="2400" dirty="0"/>
          </a:p>
          <a:p>
            <a:endParaRPr lang="en-US" sz="2400" dirty="0"/>
          </a:p>
        </p:txBody>
      </p:sp>
    </p:spTree>
    <p:extLst>
      <p:ext uri="{BB962C8B-B14F-4D97-AF65-F5344CB8AC3E}">
        <p14:creationId xmlns:p14="http://schemas.microsoft.com/office/powerpoint/2010/main" val="245154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b="1" dirty="0"/>
              <a:t>Carry Look Ahead Adder (CLA) – Fast Adder</a:t>
            </a:r>
          </a:p>
          <a:p>
            <a:r>
              <a:rPr lang="en-US" sz="2400" b="1" dirty="0"/>
              <a:t>Concept</a:t>
            </a:r>
          </a:p>
          <a:p>
            <a:r>
              <a:rPr lang="en-US" sz="2400" dirty="0"/>
              <a:t>Instead of waiting for carry to ripple, CLA calculates carries in advance using Generate (G) and Propagate (P) signals.</a:t>
            </a:r>
          </a:p>
          <a:p>
            <a:endParaRPr lang="en-US" sz="2400" dirty="0"/>
          </a:p>
          <a:p>
            <a:endParaRPr lang="en-US" sz="2400" dirty="0"/>
          </a:p>
          <a:p>
            <a:r>
              <a:rPr lang="en-IN" sz="2400" b="1" dirty="0"/>
              <a:t>Generate and Propagate Signals</a:t>
            </a:r>
          </a:p>
          <a:p>
            <a:r>
              <a:rPr lang="en-IN" sz="2400" dirty="0"/>
              <a:t>For each bit position </a:t>
            </a:r>
            <a:r>
              <a:rPr lang="en-IN" sz="2400" i="1" dirty="0"/>
              <a:t>i</a:t>
            </a:r>
            <a:r>
              <a:rPr lang="en-IN" sz="2400" dirty="0"/>
              <a:t>:</a:t>
            </a:r>
          </a:p>
          <a:p>
            <a:pPr>
              <a:buFont typeface="Arial" panose="020B0604020202020204" pitchFamily="34" charset="0"/>
              <a:buChar char="•"/>
            </a:pPr>
            <a:r>
              <a:rPr lang="en-IN" sz="2400" b="1" dirty="0"/>
              <a:t>Generate (Gi)</a:t>
            </a:r>
            <a:endParaRPr lang="en-IN" sz="2400" dirty="0"/>
          </a:p>
          <a:p>
            <a:r>
              <a:rPr lang="en-IN" sz="2400" dirty="0"/>
              <a:t>Gi=</a:t>
            </a:r>
            <a:r>
              <a:rPr lang="en-IN" sz="2400" dirty="0" err="1"/>
              <a:t>Ai⋅Bi</a:t>
            </a:r>
            <a:r>
              <a:rPr lang="en-IN" sz="2400" dirty="0"/>
              <a:t>    ​ (Carry is generated at this bit)</a:t>
            </a:r>
          </a:p>
          <a:p>
            <a:pPr>
              <a:buFont typeface="Arial" panose="020B0604020202020204" pitchFamily="34" charset="0"/>
              <a:buChar char="•"/>
            </a:pPr>
            <a:r>
              <a:rPr lang="en-IN" sz="2400" b="1" dirty="0"/>
              <a:t>Propagate (Pi)</a:t>
            </a:r>
            <a:endParaRPr lang="en-IN" sz="2400" dirty="0"/>
          </a:p>
          <a:p>
            <a:r>
              <a:rPr lang="en-IN" sz="2400" dirty="0"/>
              <a:t>Pi=</a:t>
            </a:r>
            <a:r>
              <a:rPr lang="en-IN" sz="2400" dirty="0" err="1"/>
              <a:t>Ai⊕Bi</a:t>
            </a:r>
            <a:r>
              <a:rPr lang="en-IN" sz="2400" dirty="0"/>
              <a:t> ​ (Carry is propagated if present)</a:t>
            </a:r>
          </a:p>
          <a:p>
            <a:pPr marL="0" indent="0">
              <a:buNone/>
            </a:pPr>
            <a:endParaRPr lang="en-US" sz="2400" dirty="0"/>
          </a:p>
          <a:p>
            <a:endParaRPr lang="en-US" sz="2400" dirty="0"/>
          </a:p>
        </p:txBody>
      </p:sp>
    </p:spTree>
    <p:extLst>
      <p:ext uri="{BB962C8B-B14F-4D97-AF65-F5344CB8AC3E}">
        <p14:creationId xmlns:p14="http://schemas.microsoft.com/office/powerpoint/2010/main" val="190324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IN" sz="2000" b="1" dirty="0"/>
              <a:t>Carry Equations (4-bit CLA)</a:t>
            </a:r>
          </a:p>
          <a:p>
            <a:endParaRPr lang="en-IN" sz="2000" b="1" dirty="0"/>
          </a:p>
          <a:p>
            <a:pPr marL="0" indent="0">
              <a:buNone/>
            </a:pPr>
            <a:r>
              <a:rPr lang="en-IN" sz="2000" dirty="0"/>
              <a:t>Let input carry be </a:t>
            </a:r>
            <a:r>
              <a:rPr lang="en-IN" sz="2000" b="1" dirty="0"/>
              <a:t>C0</a:t>
            </a:r>
            <a:r>
              <a:rPr lang="en-IN" sz="2000" dirty="0"/>
              <a:t>.</a:t>
            </a:r>
          </a:p>
          <a:p>
            <a:pPr marL="0" indent="0">
              <a:buNone/>
            </a:pPr>
            <a:endParaRPr lang="en-IN" sz="2000" dirty="0"/>
          </a:p>
          <a:p>
            <a:pPr marL="0" indent="0">
              <a:buNone/>
            </a:pPr>
            <a:r>
              <a:rPr lang="en-IN" sz="2400" dirty="0"/>
              <a:t>C1=G0 + P0C0 </a:t>
            </a:r>
          </a:p>
          <a:p>
            <a:pPr marL="0" indent="0">
              <a:buNone/>
            </a:pPr>
            <a:r>
              <a:rPr lang="en-IN" sz="2400" dirty="0"/>
              <a:t>C2=G1 + P1G0 + P1P0C0</a:t>
            </a:r>
          </a:p>
          <a:p>
            <a:pPr marL="0" indent="0">
              <a:buNone/>
            </a:pPr>
            <a:r>
              <a:rPr lang="en-IN" sz="2400" dirty="0"/>
              <a:t>C3=G2 + P2G1 + P2P1G0 + P2P1P0C0 </a:t>
            </a:r>
          </a:p>
          <a:p>
            <a:pPr marL="0" indent="0">
              <a:buNone/>
            </a:pPr>
            <a:r>
              <a:rPr lang="en-IN" sz="2400" dirty="0"/>
              <a:t>C4=G3 + P3G2 + P3P2G1 + P3P2P1G0 + P3P2P1P0C0</a:t>
            </a:r>
          </a:p>
          <a:p>
            <a:endParaRPr lang="en-IN" sz="2400" dirty="0"/>
          </a:p>
          <a:p>
            <a:pPr marL="0" indent="0">
              <a:buNone/>
            </a:pPr>
            <a:r>
              <a:rPr lang="en-IN" sz="2400" dirty="0"/>
              <a:t>Note: </a:t>
            </a:r>
            <a:r>
              <a:rPr lang="en-US" sz="2400" dirty="0"/>
              <a:t>Carries are computed </a:t>
            </a:r>
            <a:r>
              <a:rPr lang="en-US" sz="2400" b="1" dirty="0"/>
              <a:t>in parallel</a:t>
            </a:r>
            <a:r>
              <a:rPr lang="en-US" sz="2400" dirty="0"/>
              <a:t>, not sequentially.</a:t>
            </a:r>
          </a:p>
          <a:p>
            <a:endParaRPr lang="en-US" sz="2400" dirty="0"/>
          </a:p>
          <a:p>
            <a:r>
              <a:rPr lang="en-US" sz="2400" b="1" dirty="0"/>
              <a:t>Sum equation</a:t>
            </a:r>
            <a:r>
              <a:rPr lang="en-US" sz="2400" dirty="0"/>
              <a:t>:</a:t>
            </a:r>
          </a:p>
          <a:p>
            <a:endParaRPr lang="en-US" sz="2400" dirty="0"/>
          </a:p>
          <a:p>
            <a:pPr marL="0" indent="0">
              <a:buNone/>
            </a:pPr>
            <a:r>
              <a:rPr lang="en-IN" sz="2800" dirty="0"/>
              <a:t>	Si=</a:t>
            </a:r>
            <a:r>
              <a:rPr lang="en-IN" sz="2800" dirty="0" err="1"/>
              <a:t>Pi⊕Ci</a:t>
            </a:r>
            <a:endParaRPr lang="en-US" sz="4400" dirty="0"/>
          </a:p>
        </p:txBody>
      </p:sp>
    </p:spTree>
    <p:extLst>
      <p:ext uri="{BB962C8B-B14F-4D97-AF65-F5344CB8AC3E}">
        <p14:creationId xmlns:p14="http://schemas.microsoft.com/office/powerpoint/2010/main" val="287762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dirty="0"/>
              <a:t>Design 4 bit adder using CLA</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Or</a:t>
            </a:r>
          </a:p>
        </p:txBody>
      </p:sp>
      <p:pic>
        <p:nvPicPr>
          <p:cNvPr id="4098" name="Picture 2" descr="N-digits ternary carry lookahead adder design | Biotechnology School">
            <a:extLst>
              <a:ext uri="{FF2B5EF4-FFF2-40B4-BE49-F238E27FC236}">
                <a16:creationId xmlns:a16="http://schemas.microsoft.com/office/drawing/2014/main" id="{37FBB5FD-DFC8-49B2-80E5-8D4EDB90D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770778"/>
            <a:ext cx="4724400" cy="27443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08F4A92-33D7-4FFF-A311-1F8C66FCDB90}"/>
              </a:ext>
            </a:extLst>
          </p:cNvPr>
          <p:cNvPicPr>
            <a:picLocks noChangeAspect="1"/>
          </p:cNvPicPr>
          <p:nvPr/>
        </p:nvPicPr>
        <p:blipFill>
          <a:blip r:embed="rId3"/>
          <a:stretch>
            <a:fillRect/>
          </a:stretch>
        </p:blipFill>
        <p:spPr>
          <a:xfrm>
            <a:off x="228600" y="914400"/>
            <a:ext cx="6922377" cy="2514600"/>
          </a:xfrm>
          <a:prstGeom prst="rect">
            <a:avLst/>
          </a:prstGeom>
        </p:spPr>
      </p:pic>
      <p:pic>
        <p:nvPicPr>
          <p:cNvPr id="7" name="Picture 6">
            <a:extLst>
              <a:ext uri="{FF2B5EF4-FFF2-40B4-BE49-F238E27FC236}">
                <a16:creationId xmlns:a16="http://schemas.microsoft.com/office/drawing/2014/main" id="{50514323-60F1-45FC-84DF-C5F96201AAB0}"/>
              </a:ext>
            </a:extLst>
          </p:cNvPr>
          <p:cNvPicPr>
            <a:picLocks noChangeAspect="1"/>
          </p:cNvPicPr>
          <p:nvPr/>
        </p:nvPicPr>
        <p:blipFill>
          <a:blip r:embed="rId4"/>
          <a:stretch>
            <a:fillRect/>
          </a:stretch>
        </p:blipFill>
        <p:spPr>
          <a:xfrm>
            <a:off x="7150977" y="1066800"/>
            <a:ext cx="1867161" cy="2010056"/>
          </a:xfrm>
          <a:prstGeom prst="rect">
            <a:avLst/>
          </a:prstGeom>
        </p:spPr>
      </p:pic>
    </p:spTree>
    <p:extLst>
      <p:ext uri="{BB962C8B-B14F-4D97-AF65-F5344CB8AC3E}">
        <p14:creationId xmlns:p14="http://schemas.microsoft.com/office/powerpoint/2010/main" val="345452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pPr marL="0" indent="0">
              <a:lnSpc>
                <a:spcPct val="107000"/>
              </a:lnSpc>
              <a:spcAft>
                <a:spcPts val="800"/>
              </a:spcAft>
              <a:buNone/>
            </a:pPr>
            <a:r>
              <a:rPr lang="en-IN" sz="2400" b="1"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Fast Adder (CLA)</a:t>
            </a:r>
            <a:endParaRPr lang="en-IN" sz="2400" spc="10" dirty="0">
              <a:solidFill>
                <a:srgbClr val="000000"/>
              </a:solidFill>
              <a:effectLst/>
              <a:latin typeface="Times New Roman" panose="02020603050405020304" pitchFamily="18" charset="0"/>
              <a:ea typeface="Calibri" panose="020F0502020204030204" pitchFamily="34" charset="0"/>
              <a:cs typeface="Mangal" panose="00000400000000000000" pitchFamily="2"/>
            </a:endParaRPr>
          </a:p>
          <a:p>
            <a:pPr>
              <a:lnSpc>
                <a:spcPct val="107000"/>
              </a:lnSpc>
              <a:spcAft>
                <a:spcPts val="800"/>
              </a:spcAft>
            </a:pPr>
            <a:r>
              <a:rPr lang="en-IN" sz="240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Very high speed</a:t>
            </a:r>
          </a:p>
          <a:p>
            <a:pPr>
              <a:lnSpc>
                <a:spcPct val="107000"/>
              </a:lnSpc>
              <a:spcAft>
                <a:spcPts val="800"/>
              </a:spcAft>
            </a:pPr>
            <a:r>
              <a:rPr lang="en-IN" sz="240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Delay independent of number of bits (to large extent)</a:t>
            </a:r>
            <a:endParaRPr lang="en-IN" sz="2400" spc="10" dirty="0">
              <a:solidFill>
                <a:srgbClr val="000000"/>
              </a:solidFill>
              <a:effectLst/>
              <a:latin typeface="Times New Roman" panose="02020603050405020304" pitchFamily="18" charset="0"/>
              <a:ea typeface="Calibri" panose="020F0502020204030204" pitchFamily="34" charset="0"/>
              <a:cs typeface="Mangal" panose="00000400000000000000" pitchFamily="2"/>
            </a:endParaRPr>
          </a:p>
          <a:p>
            <a:pPr>
              <a:lnSpc>
                <a:spcPct val="107000"/>
              </a:lnSpc>
              <a:spcAft>
                <a:spcPts val="800"/>
              </a:spcAft>
            </a:pPr>
            <a:r>
              <a:rPr lang="en-IN" sz="240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Used in modern processors (ALU)</a:t>
            </a:r>
            <a:endParaRPr lang="en-IN" sz="2400" spc="10" dirty="0">
              <a:solidFill>
                <a:srgbClr val="000000"/>
              </a:solidFill>
              <a:effectLst/>
              <a:latin typeface="Times New Roman" panose="02020603050405020304" pitchFamily="18" charset="0"/>
              <a:ea typeface="Calibri" panose="020F0502020204030204" pitchFamily="34" charset="0"/>
              <a:cs typeface="Mangal" panose="00000400000000000000" pitchFamily="2"/>
            </a:endParaRPr>
          </a:p>
          <a:p>
            <a:endParaRPr lang="en-US" dirty="0"/>
          </a:p>
          <a:p>
            <a:pPr marL="0" indent="0">
              <a:lnSpc>
                <a:spcPct val="107000"/>
              </a:lnSpc>
              <a:spcAft>
                <a:spcPts val="800"/>
              </a:spcAft>
              <a:buNone/>
            </a:pPr>
            <a:r>
              <a:rPr lang="en-IN" sz="2400" b="1"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IN" sz="2400" spc="10" dirty="0">
              <a:solidFill>
                <a:srgbClr val="000000"/>
              </a:solidFill>
              <a:effectLst/>
              <a:latin typeface="Times New Roman" panose="02020603050405020304" pitchFamily="18" charset="0"/>
              <a:ea typeface="Calibri" panose="020F0502020204030204" pitchFamily="34" charset="0"/>
              <a:cs typeface="Mangal" panose="00000400000000000000" pitchFamily="2"/>
            </a:endParaRPr>
          </a:p>
          <a:p>
            <a:pPr>
              <a:lnSpc>
                <a:spcPct val="107000"/>
              </a:lnSpc>
              <a:spcAft>
                <a:spcPts val="800"/>
              </a:spcAft>
            </a:pPr>
            <a:r>
              <a:rPr lang="en-IN" sz="240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More hardware complexity</a:t>
            </a:r>
          </a:p>
          <a:p>
            <a:pPr>
              <a:lnSpc>
                <a:spcPct val="107000"/>
              </a:lnSpc>
              <a:spcAft>
                <a:spcPts val="800"/>
              </a:spcAft>
            </a:pPr>
            <a:r>
              <a:rPr lang="en-IN" sz="240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Increased cost</a:t>
            </a:r>
            <a:endPar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r>
              <a:rPr lang="en-IN" sz="240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Not economical for very small bit adders</a:t>
            </a:r>
            <a:endParaRPr lang="en-IN" sz="2400" spc="10" dirty="0">
              <a:solidFill>
                <a:srgbClr val="000000"/>
              </a:solidFill>
              <a:effectLst/>
              <a:latin typeface="Times New Roman" panose="02020603050405020304" pitchFamily="18" charset="0"/>
              <a:ea typeface="Calibri" panose="020F0502020204030204" pitchFamily="34" charset="0"/>
              <a:cs typeface="Mangal" panose="00000400000000000000" pitchFamily="2"/>
            </a:endParaRPr>
          </a:p>
          <a:p>
            <a:endParaRPr lang="en-US" sz="2400" dirty="0"/>
          </a:p>
        </p:txBody>
      </p:sp>
    </p:spTree>
    <p:extLst>
      <p:ext uri="{BB962C8B-B14F-4D97-AF65-F5344CB8AC3E}">
        <p14:creationId xmlns:p14="http://schemas.microsoft.com/office/powerpoint/2010/main" val="1778515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normAutofit fontScale="92500" lnSpcReduction="10000"/>
          </a:bodyPr>
          <a:lstStyle/>
          <a:p>
            <a:pPr>
              <a:buNone/>
            </a:pPr>
            <a:r>
              <a:rPr lang="en-US" sz="2400" dirty="0"/>
              <a:t>OVERFLOW RULE: </a:t>
            </a:r>
          </a:p>
          <a:p>
            <a:pPr>
              <a:buNone/>
            </a:pPr>
            <a:r>
              <a:rPr lang="en-US" sz="2400" dirty="0"/>
              <a:t>If two numbers are added, and they are both positive or both negative, then overflow occurs if the result has the opposite sign.</a:t>
            </a:r>
          </a:p>
          <a:p>
            <a:pPr>
              <a:buFont typeface="Arial" charset="0"/>
              <a:buNone/>
            </a:pPr>
            <a:endParaRPr lang="en-US" sz="2400" dirty="0"/>
          </a:p>
          <a:p>
            <a:pPr>
              <a:buFont typeface="Arial" charset="0"/>
              <a:buNone/>
            </a:pPr>
            <a:r>
              <a:rPr lang="en-US" sz="2400" dirty="0" err="1"/>
              <a:t>Eg</a:t>
            </a:r>
            <a:r>
              <a:rPr lang="en-US" sz="2400" dirty="0"/>
              <a:t> add 0111 &amp; 0111</a:t>
            </a:r>
          </a:p>
          <a:p>
            <a:pPr>
              <a:buFont typeface="Arial" charset="0"/>
              <a:buNone/>
            </a:pPr>
            <a:endParaRPr lang="en-US" sz="2400" dirty="0"/>
          </a:p>
          <a:p>
            <a:pPr>
              <a:buFont typeface="Arial" charset="0"/>
              <a:buNone/>
            </a:pPr>
            <a:endParaRPr lang="en-US" sz="2400" dirty="0"/>
          </a:p>
          <a:p>
            <a:pPr>
              <a:buFont typeface="Arial" charset="0"/>
              <a:buNone/>
            </a:pPr>
            <a:endParaRPr lang="en-US" sz="2400" dirty="0"/>
          </a:p>
          <a:p>
            <a:pPr>
              <a:buFont typeface="Arial" charset="0"/>
              <a:buNone/>
            </a:pPr>
            <a:endParaRPr lang="en-US" sz="2400" dirty="0"/>
          </a:p>
          <a:p>
            <a:pPr>
              <a:buFont typeface="Arial" charset="0"/>
              <a:buNone/>
            </a:pPr>
            <a:endParaRPr lang="en-US" sz="2400" dirty="0"/>
          </a:p>
          <a:p>
            <a:pPr>
              <a:buFont typeface="Arial" charset="0"/>
              <a:buNone/>
            </a:pPr>
            <a:r>
              <a:rPr lang="en-US" sz="2400" dirty="0"/>
              <a:t>Both numbers are positive ( 7 &amp; 7)  </a:t>
            </a:r>
          </a:p>
          <a:p>
            <a:pPr>
              <a:buFont typeface="Arial" charset="0"/>
              <a:buNone/>
            </a:pPr>
            <a:r>
              <a:rPr lang="en-US" sz="2400" dirty="0"/>
              <a:t>But result is negative , so there is overflow and result can’t be used</a:t>
            </a:r>
          </a:p>
          <a:p>
            <a:pPr>
              <a:buFont typeface="Arial" charset="0"/>
              <a:buNone/>
            </a:pPr>
            <a:endParaRPr lang="en-US" sz="2400" dirty="0"/>
          </a:p>
          <a:p>
            <a:pPr>
              <a:buFont typeface="Arial" charset="0"/>
              <a:buNone/>
            </a:pPr>
            <a:r>
              <a:rPr lang="en-US" sz="2400" dirty="0"/>
              <a:t>			</a:t>
            </a:r>
          </a:p>
          <a:p>
            <a:pPr>
              <a:buFont typeface="Arial" charset="0"/>
              <a:buNone/>
            </a:pPr>
            <a:endParaRPr lang="en-US" sz="2400" dirty="0"/>
          </a:p>
        </p:txBody>
      </p:sp>
      <p:pic>
        <p:nvPicPr>
          <p:cNvPr id="3" name="Picture 2">
            <a:extLst>
              <a:ext uri="{FF2B5EF4-FFF2-40B4-BE49-F238E27FC236}">
                <a16:creationId xmlns:a16="http://schemas.microsoft.com/office/drawing/2014/main" id="{02003891-5DB7-49E0-A9EB-E2F874914236}"/>
              </a:ext>
            </a:extLst>
          </p:cNvPr>
          <p:cNvPicPr>
            <a:picLocks noChangeAspect="1"/>
          </p:cNvPicPr>
          <p:nvPr/>
        </p:nvPicPr>
        <p:blipFill>
          <a:blip r:embed="rId2"/>
          <a:stretch>
            <a:fillRect/>
          </a:stretch>
        </p:blipFill>
        <p:spPr>
          <a:xfrm>
            <a:off x="4090920" y="2871709"/>
            <a:ext cx="962159" cy="1114581"/>
          </a:xfrm>
          <a:prstGeom prst="rect">
            <a:avLst/>
          </a:prstGeom>
        </p:spPr>
      </p:pic>
    </p:spTree>
    <p:extLst>
      <p:ext uri="{BB962C8B-B14F-4D97-AF65-F5344CB8AC3E}">
        <p14:creationId xmlns:p14="http://schemas.microsoft.com/office/powerpoint/2010/main" val="2795570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3"/>
          <p:cNvSpPr>
            <a:spLocks noGrp="1"/>
          </p:cNvSpPr>
          <p:nvPr>
            <p:ph type="body" sz="half" idx="1"/>
          </p:nvPr>
        </p:nvSpPr>
        <p:spPr>
          <a:xfrm>
            <a:off x="457200" y="381000"/>
            <a:ext cx="8305800" cy="5897563"/>
          </a:xfrm>
        </p:spPr>
        <p:txBody>
          <a:bodyPr/>
          <a:lstStyle/>
          <a:p>
            <a:pPr>
              <a:buNone/>
            </a:pPr>
            <a:r>
              <a:rPr lang="en-US" sz="2400" b="1" dirty="0">
                <a:latin typeface="Times New Roman" pitchFamily="18" charset="0"/>
                <a:cs typeface="Times New Roman" pitchFamily="18" charset="0"/>
              </a:rPr>
              <a:t>Binary subtraction</a:t>
            </a:r>
          </a:p>
        </p:txBody>
      </p:sp>
      <p:graphicFrame>
        <p:nvGraphicFramePr>
          <p:cNvPr id="125995" name="Group 43"/>
          <p:cNvGraphicFramePr>
            <a:graphicFrameLocks noGrp="1"/>
          </p:cNvGraphicFramePr>
          <p:nvPr>
            <p:ph sz="half" idx="2"/>
            <p:extLst>
              <p:ext uri="{D42A27DB-BD31-4B8C-83A1-F6EECF244321}">
                <p14:modId xmlns:p14="http://schemas.microsoft.com/office/powerpoint/2010/main" val="1390202753"/>
              </p:ext>
            </p:extLst>
          </p:nvPr>
        </p:nvGraphicFramePr>
        <p:xfrm>
          <a:off x="1734566" y="1447800"/>
          <a:ext cx="5674867" cy="3173413"/>
        </p:xfrm>
        <a:graphic>
          <a:graphicData uri="http://schemas.openxmlformats.org/drawingml/2006/table">
            <a:tbl>
              <a:tblPr/>
              <a:tblGrid>
                <a:gridCol w="1357312">
                  <a:extLst>
                    <a:ext uri="{9D8B030D-6E8A-4147-A177-3AD203B41FA5}">
                      <a16:colId xmlns:a16="http://schemas.microsoft.com/office/drawing/2014/main" val="20000"/>
                    </a:ext>
                  </a:extLst>
                </a:gridCol>
                <a:gridCol w="1355725">
                  <a:extLst>
                    <a:ext uri="{9D8B030D-6E8A-4147-A177-3AD203B41FA5}">
                      <a16:colId xmlns:a16="http://schemas.microsoft.com/office/drawing/2014/main" val="20001"/>
                    </a:ext>
                  </a:extLst>
                </a:gridCol>
                <a:gridCol w="1606105">
                  <a:extLst>
                    <a:ext uri="{9D8B030D-6E8A-4147-A177-3AD203B41FA5}">
                      <a16:colId xmlns:a16="http://schemas.microsoft.com/office/drawing/2014/main" val="20002"/>
                    </a:ext>
                  </a:extLst>
                </a:gridCol>
                <a:gridCol w="1355725">
                  <a:extLst>
                    <a:ext uri="{9D8B030D-6E8A-4147-A177-3AD203B41FA5}">
                      <a16:colId xmlns:a16="http://schemas.microsoft.com/office/drawing/2014/main" val="20003"/>
                    </a:ext>
                  </a:extLst>
                </a:gridCol>
              </a:tblGrid>
              <a:tr h="63182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dirty="0">
                          <a:ln>
                            <a:noFill/>
                          </a:ln>
                          <a:solidFill>
                            <a:schemeClr val="tx1"/>
                          </a:solidFill>
                          <a:effectLst/>
                          <a:latin typeface="Times New Roman" pitchFamily="18"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dirty="0">
                          <a:ln>
                            <a:noFill/>
                          </a:ln>
                          <a:solidFill>
                            <a:schemeClr val="tx1"/>
                          </a:solidFill>
                          <a:effectLst/>
                          <a:latin typeface="Times New Roman" pitchFamily="18"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a:ln>
                            <a:noFill/>
                          </a:ln>
                          <a:solidFill>
                            <a:schemeClr val="tx1"/>
                          </a:solidFill>
                          <a:effectLst/>
                          <a:latin typeface="Times New Roman" pitchFamily="18" charset="0"/>
                        </a:rPr>
                        <a:t>Difference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1" i="0" u="none" strike="noStrike" cap="none" normalizeH="0" baseline="0">
                          <a:ln>
                            <a:noFill/>
                          </a:ln>
                          <a:solidFill>
                            <a:schemeClr val="tx1"/>
                          </a:solidFill>
                          <a:effectLst/>
                          <a:latin typeface="Times New Roman" pitchFamily="18" charset="0"/>
                        </a:rPr>
                        <a:t>Borrow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452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3413">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182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1825">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r>
                        <a:rPr kumimoji="0" lang="en-US" sz="2400" b="0" i="0" u="none" strike="noStrike" cap="none" normalizeH="0" baseline="0" dirty="0">
                          <a:ln>
                            <a:noFill/>
                          </a:ln>
                          <a:solidFill>
                            <a:schemeClr val="tx1"/>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lstStyle/>
          <a:p>
            <a:pPr>
              <a:buFont typeface="Arial" charset="0"/>
              <a:buNone/>
            </a:pPr>
            <a:r>
              <a:rPr lang="en-US" sz="2400" dirty="0"/>
              <a:t>Perform 1011 -  110</a:t>
            </a:r>
          </a:p>
          <a:p>
            <a:pPr>
              <a:buFont typeface="Arial" charset="0"/>
              <a:buNone/>
            </a:pPr>
            <a:endParaRPr lang="en-US" sz="2400" dirty="0"/>
          </a:p>
          <a:p>
            <a:pPr>
              <a:buFont typeface="Arial" charset="0"/>
              <a:buNone/>
            </a:pPr>
            <a:endParaRPr lang="en-US" sz="2400" dirty="0"/>
          </a:p>
        </p:txBody>
      </p:sp>
      <p:pic>
        <p:nvPicPr>
          <p:cNvPr id="5" name="Picture 4">
            <a:extLst>
              <a:ext uri="{FF2B5EF4-FFF2-40B4-BE49-F238E27FC236}">
                <a16:creationId xmlns:a16="http://schemas.microsoft.com/office/drawing/2014/main" id="{D3784C86-5DD7-4C7F-91B4-5865EDFEEE37}"/>
              </a:ext>
            </a:extLst>
          </p:cNvPr>
          <p:cNvPicPr>
            <a:picLocks noChangeAspect="1"/>
          </p:cNvPicPr>
          <p:nvPr/>
        </p:nvPicPr>
        <p:blipFill>
          <a:blip r:embed="rId2"/>
          <a:stretch>
            <a:fillRect/>
          </a:stretch>
        </p:blipFill>
        <p:spPr>
          <a:xfrm>
            <a:off x="3952788" y="2485893"/>
            <a:ext cx="1238423" cy="18862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endParaRPr lang="en-US" sz="2400" dirty="0"/>
          </a:p>
          <a:p>
            <a:pPr marL="0" indent="0">
              <a:buNone/>
            </a:pPr>
            <a:r>
              <a:rPr lang="en-US" sz="2400" dirty="0"/>
              <a:t>Binary subtraction can also be done by using adder !   How?</a:t>
            </a:r>
          </a:p>
          <a:p>
            <a:endParaRPr lang="en-US" sz="2400" dirty="0"/>
          </a:p>
          <a:p>
            <a:r>
              <a:rPr lang="en-US" sz="2400" dirty="0"/>
              <a:t>A -  B    =   A +  ( -B)</a:t>
            </a:r>
          </a:p>
          <a:p>
            <a:endParaRPr lang="en-US" sz="2400" dirty="0"/>
          </a:p>
          <a:p>
            <a:r>
              <a:rPr lang="en-US" sz="2400" dirty="0"/>
              <a:t>-b  can be obtained by taking  B’s complement </a:t>
            </a:r>
          </a:p>
        </p:txBody>
      </p:sp>
    </p:spTree>
    <p:extLst>
      <p:ext uri="{BB962C8B-B14F-4D97-AF65-F5344CB8AC3E}">
        <p14:creationId xmlns:p14="http://schemas.microsoft.com/office/powerpoint/2010/main" val="328766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Subtraction using complement method</a:t>
            </a:r>
          </a:p>
        </p:txBody>
      </p:sp>
      <p:sp>
        <p:nvSpPr>
          <p:cNvPr id="3" name="Content Placeholder 2"/>
          <p:cNvSpPr>
            <a:spLocks noGrp="1"/>
          </p:cNvSpPr>
          <p:nvPr>
            <p:ph idx="1"/>
          </p:nvPr>
        </p:nvSpPr>
        <p:spPr/>
        <p:txBody>
          <a:bodyPr>
            <a:normAutofit lnSpcReduction="10000"/>
          </a:bodyPr>
          <a:lstStyle/>
          <a:p>
            <a:r>
              <a:rPr lang="en-US" sz="2400" dirty="0"/>
              <a:t>for decimal numbers Using 9’s and 10’s complement </a:t>
            </a:r>
          </a:p>
          <a:p>
            <a:r>
              <a:rPr lang="en-US" sz="2400" dirty="0"/>
              <a:t>For binary  numbers we use 1’s and 2’s complement</a:t>
            </a:r>
          </a:p>
          <a:p>
            <a:r>
              <a:rPr lang="en-US" sz="2400" dirty="0" err="1"/>
              <a:t>Eg</a:t>
            </a:r>
            <a:r>
              <a:rPr lang="en-US" sz="2400" dirty="0"/>
              <a:t> . Using 10’s complement for decimal numbers</a:t>
            </a:r>
          </a:p>
          <a:p>
            <a:r>
              <a:rPr lang="en-US" sz="2400" dirty="0"/>
              <a:t>a-b  = a +(- b) = a+ 10’s complement of b , </a:t>
            </a:r>
          </a:p>
          <a:p>
            <a:r>
              <a:rPr lang="en-US" sz="2400" dirty="0"/>
              <a:t>then take 10’s complement of result</a:t>
            </a:r>
          </a:p>
          <a:p>
            <a:r>
              <a:rPr lang="en-US" sz="2400" dirty="0" err="1"/>
              <a:t>Eg</a:t>
            </a:r>
            <a:r>
              <a:rPr lang="en-US" sz="2400" dirty="0"/>
              <a:t>   find 4-8</a:t>
            </a:r>
          </a:p>
          <a:p>
            <a:r>
              <a:rPr lang="en-US" sz="2400" dirty="0"/>
              <a:t>So 10’s complement of 8  is 10-8 =2 </a:t>
            </a:r>
          </a:p>
          <a:p>
            <a:r>
              <a:rPr lang="en-US" sz="2400" dirty="0"/>
              <a:t>4+2 = 6 </a:t>
            </a:r>
          </a:p>
          <a:p>
            <a:r>
              <a:rPr lang="en-US" sz="2400" dirty="0"/>
              <a:t>Now 10s complement of 6 is 4 , and since 10-8 was +</a:t>
            </a:r>
            <a:r>
              <a:rPr lang="en-US" sz="2400" dirty="0" err="1"/>
              <a:t>ve</a:t>
            </a:r>
            <a:r>
              <a:rPr lang="en-US" sz="2400" dirty="0"/>
              <a:t>  , put –</a:t>
            </a:r>
            <a:r>
              <a:rPr lang="en-US" sz="2400" dirty="0" err="1"/>
              <a:t>ve</a:t>
            </a:r>
            <a:r>
              <a:rPr lang="en-US" sz="2400" dirty="0"/>
              <a:t> sign for final result . So final result  = -4</a:t>
            </a:r>
          </a:p>
          <a:p>
            <a:r>
              <a:rPr lang="en-US" sz="2400" dirty="0">
                <a:solidFill>
                  <a:srgbClr val="FF0000"/>
                </a:solidFill>
              </a:rPr>
              <a:t>So we only need addition and complement circuits</a:t>
            </a:r>
          </a:p>
          <a:p>
            <a:endParaRPr lang="en-US" sz="2400" dirty="0"/>
          </a:p>
          <a:p>
            <a:endParaRPr lang="en-US" sz="2400" dirty="0"/>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r>
              <a:rPr lang="en-US" sz="3200" dirty="0"/>
              <a:t>Addition and Subtraction using 2’s complement</a:t>
            </a:r>
          </a:p>
        </p:txBody>
      </p:sp>
      <p:sp>
        <p:nvSpPr>
          <p:cNvPr id="14339" name="Rectangle 3"/>
          <p:cNvSpPr>
            <a:spLocks noGrp="1" noChangeArrowheads="1"/>
          </p:cNvSpPr>
          <p:nvPr>
            <p:ph idx="1"/>
          </p:nvPr>
        </p:nvSpPr>
        <p:spPr/>
        <p:txBody>
          <a:bodyPr>
            <a:normAutofit/>
          </a:bodyPr>
          <a:lstStyle/>
          <a:p>
            <a:r>
              <a:rPr lang="en-US" dirty="0"/>
              <a:t>Take twos complement of subtrahend and add to minuend</a:t>
            </a:r>
          </a:p>
          <a:p>
            <a:pPr lvl="1"/>
            <a:r>
              <a:rPr lang="en-US" dirty="0"/>
              <a:t>i.e. a - b = a + (-b)</a:t>
            </a:r>
          </a:p>
          <a:p>
            <a:pPr lvl="1">
              <a:buNone/>
            </a:pPr>
            <a:r>
              <a:rPr lang="en-US" dirty="0"/>
              <a:t>                 = a + (2’s complement of ‘b’)</a:t>
            </a:r>
          </a:p>
          <a:p>
            <a:r>
              <a:rPr lang="en-US" dirty="0"/>
              <a:t>So we only need addition and complement circuits</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115745"/>
            <a:ext cx="8229600" cy="563562"/>
          </a:xfrm>
        </p:spPr>
        <p:txBody>
          <a:bodyPr>
            <a:normAutofit/>
          </a:bodyPr>
          <a:lstStyle/>
          <a:p>
            <a:r>
              <a:rPr lang="en-US" sz="2800" dirty="0"/>
              <a:t>Perform using 2s complement</a:t>
            </a:r>
          </a:p>
        </p:txBody>
      </p:sp>
      <p:sp>
        <p:nvSpPr>
          <p:cNvPr id="61443" name="Content Placeholder 4"/>
          <p:cNvSpPr>
            <a:spLocks noGrp="1"/>
          </p:cNvSpPr>
          <p:nvPr>
            <p:ph idx="1"/>
          </p:nvPr>
        </p:nvSpPr>
        <p:spPr>
          <a:xfrm>
            <a:off x="304800" y="649145"/>
            <a:ext cx="8534400" cy="5751655"/>
          </a:xfrm>
        </p:spPr>
        <p:txBody>
          <a:bodyPr/>
          <a:lstStyle/>
          <a:p>
            <a:pPr>
              <a:buFont typeface="Arial" charset="0"/>
              <a:buNone/>
            </a:pPr>
            <a:r>
              <a:rPr lang="en-US" sz="2400" dirty="0"/>
              <a:t>a)  2+3		b) 4-6 		c) -5-2		d) 7-3</a:t>
            </a:r>
          </a:p>
        </p:txBody>
      </p:sp>
      <p:pic>
        <p:nvPicPr>
          <p:cNvPr id="5" name="Picture 4">
            <a:extLst>
              <a:ext uri="{FF2B5EF4-FFF2-40B4-BE49-F238E27FC236}">
                <a16:creationId xmlns:a16="http://schemas.microsoft.com/office/drawing/2014/main" id="{943D053C-C53A-40DD-9B0D-04B420562129}"/>
              </a:ext>
            </a:extLst>
          </p:cNvPr>
          <p:cNvPicPr>
            <a:picLocks noChangeAspect="1"/>
          </p:cNvPicPr>
          <p:nvPr/>
        </p:nvPicPr>
        <p:blipFill>
          <a:blip r:embed="rId2"/>
          <a:stretch>
            <a:fillRect/>
          </a:stretch>
        </p:blipFill>
        <p:spPr>
          <a:xfrm>
            <a:off x="609600" y="1143000"/>
            <a:ext cx="3251198" cy="914400"/>
          </a:xfrm>
          <a:prstGeom prst="rect">
            <a:avLst/>
          </a:prstGeom>
        </p:spPr>
      </p:pic>
      <p:pic>
        <p:nvPicPr>
          <p:cNvPr id="7" name="Picture 6">
            <a:extLst>
              <a:ext uri="{FF2B5EF4-FFF2-40B4-BE49-F238E27FC236}">
                <a16:creationId xmlns:a16="http://schemas.microsoft.com/office/drawing/2014/main" id="{E33E7E25-48A5-42C7-965D-8EA253C34A24}"/>
              </a:ext>
            </a:extLst>
          </p:cNvPr>
          <p:cNvPicPr>
            <a:picLocks noChangeAspect="1"/>
          </p:cNvPicPr>
          <p:nvPr/>
        </p:nvPicPr>
        <p:blipFill>
          <a:blip r:embed="rId3"/>
          <a:stretch>
            <a:fillRect/>
          </a:stretch>
        </p:blipFill>
        <p:spPr>
          <a:xfrm>
            <a:off x="1600200" y="2057400"/>
            <a:ext cx="2057398" cy="381000"/>
          </a:xfrm>
          <a:prstGeom prst="rect">
            <a:avLst/>
          </a:prstGeom>
        </p:spPr>
      </p:pic>
      <p:pic>
        <p:nvPicPr>
          <p:cNvPr id="9" name="Picture 8">
            <a:extLst>
              <a:ext uri="{FF2B5EF4-FFF2-40B4-BE49-F238E27FC236}">
                <a16:creationId xmlns:a16="http://schemas.microsoft.com/office/drawing/2014/main" id="{98039FB9-508D-41EF-A06F-3F20E144BB53}"/>
              </a:ext>
            </a:extLst>
          </p:cNvPr>
          <p:cNvPicPr>
            <a:picLocks noChangeAspect="1"/>
          </p:cNvPicPr>
          <p:nvPr/>
        </p:nvPicPr>
        <p:blipFill>
          <a:blip r:embed="rId4"/>
          <a:stretch>
            <a:fillRect/>
          </a:stretch>
        </p:blipFill>
        <p:spPr>
          <a:xfrm>
            <a:off x="609600" y="2590800"/>
            <a:ext cx="2893513" cy="838200"/>
          </a:xfrm>
          <a:prstGeom prst="rect">
            <a:avLst/>
          </a:prstGeom>
        </p:spPr>
      </p:pic>
      <p:pic>
        <p:nvPicPr>
          <p:cNvPr id="11" name="Picture 10">
            <a:extLst>
              <a:ext uri="{FF2B5EF4-FFF2-40B4-BE49-F238E27FC236}">
                <a16:creationId xmlns:a16="http://schemas.microsoft.com/office/drawing/2014/main" id="{7B3E4FFF-E15C-4703-BC5A-D369EFE91B22}"/>
              </a:ext>
            </a:extLst>
          </p:cNvPr>
          <p:cNvPicPr>
            <a:picLocks noChangeAspect="1"/>
          </p:cNvPicPr>
          <p:nvPr/>
        </p:nvPicPr>
        <p:blipFill>
          <a:blip r:embed="rId5"/>
          <a:stretch>
            <a:fillRect/>
          </a:stretch>
        </p:blipFill>
        <p:spPr>
          <a:xfrm>
            <a:off x="1600199" y="3400661"/>
            <a:ext cx="1809749" cy="381000"/>
          </a:xfrm>
          <a:prstGeom prst="rect">
            <a:avLst/>
          </a:prstGeom>
        </p:spPr>
      </p:pic>
      <p:pic>
        <p:nvPicPr>
          <p:cNvPr id="13" name="Picture 12">
            <a:extLst>
              <a:ext uri="{FF2B5EF4-FFF2-40B4-BE49-F238E27FC236}">
                <a16:creationId xmlns:a16="http://schemas.microsoft.com/office/drawing/2014/main" id="{FEE8E18B-6434-433B-8CE7-D1A5B81CEE50}"/>
              </a:ext>
            </a:extLst>
          </p:cNvPr>
          <p:cNvPicPr>
            <a:picLocks noChangeAspect="1"/>
          </p:cNvPicPr>
          <p:nvPr/>
        </p:nvPicPr>
        <p:blipFill>
          <a:blip r:embed="rId6"/>
          <a:stretch>
            <a:fillRect/>
          </a:stretch>
        </p:blipFill>
        <p:spPr>
          <a:xfrm>
            <a:off x="746678" y="4005229"/>
            <a:ext cx="2779295" cy="838200"/>
          </a:xfrm>
          <a:prstGeom prst="rect">
            <a:avLst/>
          </a:prstGeom>
        </p:spPr>
      </p:pic>
      <p:pic>
        <p:nvPicPr>
          <p:cNvPr id="15" name="Picture 14">
            <a:extLst>
              <a:ext uri="{FF2B5EF4-FFF2-40B4-BE49-F238E27FC236}">
                <a16:creationId xmlns:a16="http://schemas.microsoft.com/office/drawing/2014/main" id="{0B1CC02D-DDF0-4319-BA17-58BE493233F7}"/>
              </a:ext>
            </a:extLst>
          </p:cNvPr>
          <p:cNvPicPr>
            <a:picLocks noChangeAspect="1"/>
          </p:cNvPicPr>
          <p:nvPr/>
        </p:nvPicPr>
        <p:blipFill>
          <a:blip r:embed="rId7"/>
          <a:stretch>
            <a:fillRect/>
          </a:stretch>
        </p:blipFill>
        <p:spPr>
          <a:xfrm>
            <a:off x="1521002" y="4830562"/>
            <a:ext cx="1982112" cy="384410"/>
          </a:xfrm>
          <a:prstGeom prst="rect">
            <a:avLst/>
          </a:prstGeom>
        </p:spPr>
      </p:pic>
      <p:pic>
        <p:nvPicPr>
          <p:cNvPr id="18" name="Picture 17">
            <a:extLst>
              <a:ext uri="{FF2B5EF4-FFF2-40B4-BE49-F238E27FC236}">
                <a16:creationId xmlns:a16="http://schemas.microsoft.com/office/drawing/2014/main" id="{D9668E07-8A71-4E62-9F69-E2283E421E89}"/>
              </a:ext>
            </a:extLst>
          </p:cNvPr>
          <p:cNvPicPr>
            <a:picLocks noChangeAspect="1"/>
          </p:cNvPicPr>
          <p:nvPr/>
        </p:nvPicPr>
        <p:blipFill>
          <a:blip r:embed="rId8"/>
          <a:stretch>
            <a:fillRect/>
          </a:stretch>
        </p:blipFill>
        <p:spPr>
          <a:xfrm>
            <a:off x="683828" y="5370655"/>
            <a:ext cx="2904994" cy="838200"/>
          </a:xfrm>
          <a:prstGeom prst="rect">
            <a:avLst/>
          </a:prstGeom>
        </p:spPr>
      </p:pic>
      <p:pic>
        <p:nvPicPr>
          <p:cNvPr id="19" name="Content Placeholder 5">
            <a:extLst>
              <a:ext uri="{FF2B5EF4-FFF2-40B4-BE49-F238E27FC236}">
                <a16:creationId xmlns:a16="http://schemas.microsoft.com/office/drawing/2014/main" id="{56C5A8A9-0912-41E6-AED3-71DE29873193}"/>
              </a:ext>
            </a:extLst>
          </p:cNvPr>
          <p:cNvPicPr>
            <a:picLocks noChangeAspect="1"/>
          </p:cNvPicPr>
          <p:nvPr/>
        </p:nvPicPr>
        <p:blipFill>
          <a:blip r:embed="rId9"/>
          <a:stretch>
            <a:fillRect/>
          </a:stretch>
        </p:blipFill>
        <p:spPr>
          <a:xfrm>
            <a:off x="1643069" y="6218116"/>
            <a:ext cx="1840994"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4CC6912-CDD4-4E19-B866-7931C2CA55A3}"/>
              </a:ext>
            </a:extLst>
          </p:cNvPr>
          <p:cNvPicPr>
            <a:picLocks noChangeAspect="1"/>
          </p:cNvPicPr>
          <p:nvPr/>
        </p:nvPicPr>
        <p:blipFill>
          <a:blip r:embed="rId2"/>
          <a:stretch>
            <a:fillRect/>
          </a:stretch>
        </p:blipFill>
        <p:spPr>
          <a:xfrm>
            <a:off x="685800" y="1143000"/>
            <a:ext cx="2922058" cy="838200"/>
          </a:xfrm>
          <a:prstGeom prst="rect">
            <a:avLst/>
          </a:prstGeom>
        </p:spPr>
      </p:pic>
      <p:pic>
        <p:nvPicPr>
          <p:cNvPr id="10" name="Picture 9">
            <a:extLst>
              <a:ext uri="{FF2B5EF4-FFF2-40B4-BE49-F238E27FC236}">
                <a16:creationId xmlns:a16="http://schemas.microsoft.com/office/drawing/2014/main" id="{C3BB6C73-0E66-4CEA-AD02-BCC3BD25EDDE}"/>
              </a:ext>
            </a:extLst>
          </p:cNvPr>
          <p:cNvPicPr>
            <a:picLocks noChangeAspect="1"/>
          </p:cNvPicPr>
          <p:nvPr/>
        </p:nvPicPr>
        <p:blipFill>
          <a:blip r:embed="rId3"/>
          <a:stretch>
            <a:fillRect/>
          </a:stretch>
        </p:blipFill>
        <p:spPr>
          <a:xfrm>
            <a:off x="4038600" y="1169670"/>
            <a:ext cx="3335155" cy="1066800"/>
          </a:xfrm>
          <a:prstGeom prst="rect">
            <a:avLst/>
          </a:prstGeom>
        </p:spPr>
      </p:pic>
      <p:sp>
        <p:nvSpPr>
          <p:cNvPr id="12" name="Content Placeholder 11">
            <a:extLst>
              <a:ext uri="{FF2B5EF4-FFF2-40B4-BE49-F238E27FC236}">
                <a16:creationId xmlns:a16="http://schemas.microsoft.com/office/drawing/2014/main" id="{90C688AE-FC59-49AE-B3FC-2ED0653C9733}"/>
              </a:ext>
            </a:extLst>
          </p:cNvPr>
          <p:cNvSpPr>
            <a:spLocks noGrp="1"/>
          </p:cNvSpPr>
          <p:nvPr>
            <p:ph idx="1"/>
          </p:nvPr>
        </p:nvSpPr>
        <p:spPr>
          <a:xfrm>
            <a:off x="533400" y="228600"/>
            <a:ext cx="8153400" cy="5897563"/>
          </a:xfrm>
        </p:spPr>
        <p:txBody>
          <a:bodyPr>
            <a:normAutofit/>
          </a:bodyPr>
          <a:lstStyle/>
          <a:p>
            <a:r>
              <a:rPr lang="en-US" sz="2400" dirty="0"/>
              <a:t>Perform using 2s complement</a:t>
            </a:r>
          </a:p>
          <a:p>
            <a:pPr marL="0" indent="0">
              <a:buNone/>
            </a:pPr>
            <a:r>
              <a:rPr lang="en-US" sz="2400" dirty="0"/>
              <a:t>e)-3-7        g) 6-3 	h) -7-5  	</a:t>
            </a:r>
            <a:r>
              <a:rPr lang="en-US" sz="2400" dirty="0" err="1"/>
              <a:t>i</a:t>
            </a:r>
            <a:r>
              <a:rPr lang="en-US" sz="2400" dirty="0"/>
              <a:t>) -7+1 		 j) 2-3</a:t>
            </a:r>
            <a:endParaRPr lang="en-IN" sz="2400" dirty="0"/>
          </a:p>
        </p:txBody>
      </p:sp>
      <p:pic>
        <p:nvPicPr>
          <p:cNvPr id="14" name="Picture 13">
            <a:extLst>
              <a:ext uri="{FF2B5EF4-FFF2-40B4-BE49-F238E27FC236}">
                <a16:creationId xmlns:a16="http://schemas.microsoft.com/office/drawing/2014/main" id="{8B111294-00A8-4A7F-AE44-49E949F21B7C}"/>
              </a:ext>
            </a:extLst>
          </p:cNvPr>
          <p:cNvPicPr>
            <a:picLocks noChangeAspect="1"/>
          </p:cNvPicPr>
          <p:nvPr/>
        </p:nvPicPr>
        <p:blipFill>
          <a:blip r:embed="rId4"/>
          <a:stretch>
            <a:fillRect/>
          </a:stretch>
        </p:blipFill>
        <p:spPr>
          <a:xfrm>
            <a:off x="621030" y="2236470"/>
            <a:ext cx="2503170" cy="906660"/>
          </a:xfrm>
          <a:prstGeom prst="rect">
            <a:avLst/>
          </a:prstGeom>
        </p:spPr>
      </p:pic>
      <p:pic>
        <p:nvPicPr>
          <p:cNvPr id="16" name="Picture 15">
            <a:extLst>
              <a:ext uri="{FF2B5EF4-FFF2-40B4-BE49-F238E27FC236}">
                <a16:creationId xmlns:a16="http://schemas.microsoft.com/office/drawing/2014/main" id="{4CDB9008-1C87-4E64-800D-CB6C93982910}"/>
              </a:ext>
            </a:extLst>
          </p:cNvPr>
          <p:cNvPicPr>
            <a:picLocks noChangeAspect="1"/>
          </p:cNvPicPr>
          <p:nvPr/>
        </p:nvPicPr>
        <p:blipFill>
          <a:blip r:embed="rId5"/>
          <a:stretch>
            <a:fillRect/>
          </a:stretch>
        </p:blipFill>
        <p:spPr>
          <a:xfrm>
            <a:off x="4011930" y="2224753"/>
            <a:ext cx="2848373" cy="914528"/>
          </a:xfrm>
          <a:prstGeom prst="rect">
            <a:avLst/>
          </a:prstGeom>
        </p:spPr>
      </p:pic>
      <p:pic>
        <p:nvPicPr>
          <p:cNvPr id="20" name="Picture 19">
            <a:extLst>
              <a:ext uri="{FF2B5EF4-FFF2-40B4-BE49-F238E27FC236}">
                <a16:creationId xmlns:a16="http://schemas.microsoft.com/office/drawing/2014/main" id="{922F6C74-2DF2-43E8-9FB8-9DB618268326}"/>
              </a:ext>
            </a:extLst>
          </p:cNvPr>
          <p:cNvPicPr>
            <a:picLocks noChangeAspect="1"/>
          </p:cNvPicPr>
          <p:nvPr/>
        </p:nvPicPr>
        <p:blipFill>
          <a:blip r:embed="rId6"/>
          <a:stretch>
            <a:fillRect/>
          </a:stretch>
        </p:blipFill>
        <p:spPr>
          <a:xfrm>
            <a:off x="685800" y="3398400"/>
            <a:ext cx="2448267" cy="704948"/>
          </a:xfrm>
          <a:prstGeom prst="rect">
            <a:avLst/>
          </a:prstGeom>
        </p:spPr>
      </p:pic>
      <p:pic>
        <p:nvPicPr>
          <p:cNvPr id="22" name="Picture 21">
            <a:extLst>
              <a:ext uri="{FF2B5EF4-FFF2-40B4-BE49-F238E27FC236}">
                <a16:creationId xmlns:a16="http://schemas.microsoft.com/office/drawing/2014/main" id="{AA4A4E45-844E-41A0-9271-FDC365D78772}"/>
              </a:ext>
            </a:extLst>
          </p:cNvPr>
          <p:cNvPicPr>
            <a:picLocks noChangeAspect="1"/>
          </p:cNvPicPr>
          <p:nvPr/>
        </p:nvPicPr>
        <p:blipFill>
          <a:blip r:embed="rId7"/>
          <a:stretch>
            <a:fillRect/>
          </a:stretch>
        </p:blipFill>
        <p:spPr>
          <a:xfrm>
            <a:off x="4038600" y="3327523"/>
            <a:ext cx="2648320" cy="952633"/>
          </a:xfrm>
          <a:prstGeom prst="rect">
            <a:avLst/>
          </a:prstGeom>
        </p:spPr>
      </p:pic>
      <p:pic>
        <p:nvPicPr>
          <p:cNvPr id="26" name="Picture 25">
            <a:extLst>
              <a:ext uri="{FF2B5EF4-FFF2-40B4-BE49-F238E27FC236}">
                <a16:creationId xmlns:a16="http://schemas.microsoft.com/office/drawing/2014/main" id="{335C5255-02BF-43D7-BD57-46D73937D79F}"/>
              </a:ext>
            </a:extLst>
          </p:cNvPr>
          <p:cNvPicPr>
            <a:picLocks noChangeAspect="1"/>
          </p:cNvPicPr>
          <p:nvPr/>
        </p:nvPicPr>
        <p:blipFill>
          <a:blip r:embed="rId8"/>
          <a:stretch>
            <a:fillRect/>
          </a:stretch>
        </p:blipFill>
        <p:spPr>
          <a:xfrm>
            <a:off x="691350" y="4409807"/>
            <a:ext cx="2362530" cy="704948"/>
          </a:xfrm>
          <a:prstGeom prst="rect">
            <a:avLst/>
          </a:prstGeom>
        </p:spPr>
      </p:pic>
      <p:pic>
        <p:nvPicPr>
          <p:cNvPr id="28" name="Picture 27">
            <a:extLst>
              <a:ext uri="{FF2B5EF4-FFF2-40B4-BE49-F238E27FC236}">
                <a16:creationId xmlns:a16="http://schemas.microsoft.com/office/drawing/2014/main" id="{82B0F11A-3A85-4840-8FD3-A3C2D400FFF0}"/>
              </a:ext>
            </a:extLst>
          </p:cNvPr>
          <p:cNvPicPr>
            <a:picLocks noChangeAspect="1"/>
          </p:cNvPicPr>
          <p:nvPr/>
        </p:nvPicPr>
        <p:blipFill>
          <a:blip r:embed="rId9"/>
          <a:stretch>
            <a:fillRect/>
          </a:stretch>
        </p:blipFill>
        <p:spPr>
          <a:xfrm>
            <a:off x="4097667" y="4280156"/>
            <a:ext cx="2762636" cy="1028844"/>
          </a:xfrm>
          <a:prstGeom prst="rect">
            <a:avLst/>
          </a:prstGeom>
        </p:spPr>
      </p:pic>
      <p:pic>
        <p:nvPicPr>
          <p:cNvPr id="30" name="Picture 29">
            <a:extLst>
              <a:ext uri="{FF2B5EF4-FFF2-40B4-BE49-F238E27FC236}">
                <a16:creationId xmlns:a16="http://schemas.microsoft.com/office/drawing/2014/main" id="{25D7669B-9A80-4398-9608-DB388A2089EA}"/>
              </a:ext>
            </a:extLst>
          </p:cNvPr>
          <p:cNvPicPr>
            <a:picLocks noChangeAspect="1"/>
          </p:cNvPicPr>
          <p:nvPr/>
        </p:nvPicPr>
        <p:blipFill>
          <a:blip r:embed="rId10"/>
          <a:stretch>
            <a:fillRect/>
          </a:stretch>
        </p:blipFill>
        <p:spPr>
          <a:xfrm>
            <a:off x="691527" y="5520548"/>
            <a:ext cx="2333951" cy="714475"/>
          </a:xfrm>
          <a:prstGeom prst="rect">
            <a:avLst/>
          </a:prstGeom>
        </p:spPr>
      </p:pic>
      <p:pic>
        <p:nvPicPr>
          <p:cNvPr id="32" name="Picture 31">
            <a:extLst>
              <a:ext uri="{FF2B5EF4-FFF2-40B4-BE49-F238E27FC236}">
                <a16:creationId xmlns:a16="http://schemas.microsoft.com/office/drawing/2014/main" id="{6BBEDBB7-AA92-48A5-BDE8-F4B6E6E86EB0}"/>
              </a:ext>
            </a:extLst>
          </p:cNvPr>
          <p:cNvPicPr>
            <a:picLocks noChangeAspect="1"/>
          </p:cNvPicPr>
          <p:nvPr/>
        </p:nvPicPr>
        <p:blipFill>
          <a:blip r:embed="rId11"/>
          <a:stretch>
            <a:fillRect/>
          </a:stretch>
        </p:blipFill>
        <p:spPr>
          <a:xfrm>
            <a:off x="4010021" y="5421031"/>
            <a:ext cx="2676899" cy="9621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Perform  -7 -6     &amp;  5+4  </a:t>
            </a:r>
          </a:p>
          <a:p>
            <a:endParaRPr lang="en-US" dirty="0"/>
          </a:p>
        </p:txBody>
      </p:sp>
      <p:pic>
        <p:nvPicPr>
          <p:cNvPr id="5" name="Picture 4">
            <a:extLst>
              <a:ext uri="{FF2B5EF4-FFF2-40B4-BE49-F238E27FC236}">
                <a16:creationId xmlns:a16="http://schemas.microsoft.com/office/drawing/2014/main" id="{60D1FA1D-8F4C-4B79-95C4-7078627668BD}"/>
              </a:ext>
            </a:extLst>
          </p:cNvPr>
          <p:cNvPicPr>
            <a:picLocks noChangeAspect="1"/>
          </p:cNvPicPr>
          <p:nvPr/>
        </p:nvPicPr>
        <p:blipFill>
          <a:blip r:embed="rId2"/>
          <a:stretch>
            <a:fillRect/>
          </a:stretch>
        </p:blipFill>
        <p:spPr>
          <a:xfrm>
            <a:off x="838200" y="2667000"/>
            <a:ext cx="3810000" cy="1277405"/>
          </a:xfrm>
          <a:prstGeom prst="rect">
            <a:avLst/>
          </a:prstGeom>
        </p:spPr>
      </p:pic>
      <p:pic>
        <p:nvPicPr>
          <p:cNvPr id="7" name="Picture 6">
            <a:extLst>
              <a:ext uri="{FF2B5EF4-FFF2-40B4-BE49-F238E27FC236}">
                <a16:creationId xmlns:a16="http://schemas.microsoft.com/office/drawing/2014/main" id="{497F7435-E4C0-42B0-8DCB-5FE5CFADDA12}"/>
              </a:ext>
            </a:extLst>
          </p:cNvPr>
          <p:cNvPicPr>
            <a:picLocks noChangeAspect="1"/>
          </p:cNvPicPr>
          <p:nvPr/>
        </p:nvPicPr>
        <p:blipFill>
          <a:blip r:embed="rId3"/>
          <a:stretch>
            <a:fillRect/>
          </a:stretch>
        </p:blipFill>
        <p:spPr>
          <a:xfrm>
            <a:off x="1392096" y="4648200"/>
            <a:ext cx="3286584" cy="10764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dirty="0"/>
              <a:t>Sign extension</a:t>
            </a:r>
          </a:p>
          <a:p>
            <a:endParaRPr lang="en-US" sz="2400" dirty="0"/>
          </a:p>
          <a:p>
            <a:r>
              <a:rPr lang="en-US" sz="2400" dirty="0"/>
              <a:t>Decimal number 5 can be written as  0101 in  4 bit binary  </a:t>
            </a:r>
          </a:p>
          <a:p>
            <a:r>
              <a:rPr lang="en-US" sz="2400" dirty="0"/>
              <a:t>To store bigger numbers we can use 8 bits</a:t>
            </a:r>
          </a:p>
          <a:p>
            <a:r>
              <a:rPr lang="en-US" sz="2400" dirty="0"/>
              <a:t>So 5 can be represented as  0000 0101 in  8 bit binary </a:t>
            </a:r>
          </a:p>
          <a:p>
            <a:endParaRPr lang="en-US" sz="2400" dirty="0"/>
          </a:p>
          <a:p>
            <a:r>
              <a:rPr lang="en-US" sz="2400" dirty="0"/>
              <a:t>What about negative numbers?</a:t>
            </a:r>
          </a:p>
          <a:p>
            <a:r>
              <a:rPr lang="en-US" sz="2400" dirty="0"/>
              <a:t>-5 = 1010  ( in 2s complement form) in  4 bit binary </a:t>
            </a:r>
          </a:p>
          <a:p>
            <a:r>
              <a:rPr lang="en-US" sz="2400" dirty="0"/>
              <a:t>How to -5 represent in 8 bit size? Which is correct in following ?</a:t>
            </a:r>
          </a:p>
          <a:p>
            <a:pPr marL="0" indent="0">
              <a:buNone/>
            </a:pPr>
            <a:r>
              <a:rPr lang="en-US" sz="2400" dirty="0"/>
              <a:t>	a) 0000 1010 </a:t>
            </a:r>
          </a:p>
          <a:p>
            <a:pPr marL="0" indent="0">
              <a:buNone/>
            </a:pPr>
            <a:r>
              <a:rPr lang="en-US" sz="2400" dirty="0"/>
              <a:t>	b) 1111 1010</a:t>
            </a:r>
          </a:p>
          <a:p>
            <a:pPr marL="0" indent="0">
              <a:buNone/>
            </a:pPr>
            <a:r>
              <a:rPr lang="en-US" altLang="en-US" sz="2400" dirty="0">
                <a:latin typeface="Cambria" pitchFamily="18" charset="0"/>
              </a:rPr>
              <a:t>Option a is incorrect Because it will change the sign of  8 bit data to 0 (positive)</a:t>
            </a:r>
          </a:p>
          <a:p>
            <a:pPr marL="0" indent="0">
              <a:buNone/>
            </a:pPr>
            <a:r>
              <a:rPr lang="en-US" altLang="en-US" sz="2400" dirty="0">
                <a:latin typeface="Cambria" pitchFamily="18" charset="0"/>
              </a:rPr>
              <a:t>Option b is correct</a:t>
            </a:r>
          </a:p>
          <a:p>
            <a:pPr marL="0" indent="0">
              <a:buNone/>
            </a:pPr>
            <a:r>
              <a:rPr lang="en-US" altLang="en-US" sz="2400" dirty="0">
                <a:latin typeface="Cambria" pitchFamily="18" charset="0"/>
              </a:rPr>
              <a:t>Take 2s </a:t>
            </a:r>
            <a:r>
              <a:rPr lang="en-US" sz="2400" dirty="0"/>
              <a:t>complement of 1111 1010 &amp; find decimal . It will be -5</a:t>
            </a:r>
          </a:p>
          <a:p>
            <a:pPr marL="0" indent="0">
              <a:buNone/>
            </a:pPr>
            <a:endParaRPr lang="en-US" altLang="en-US" sz="2400" dirty="0">
              <a:latin typeface="Cambria" pitchFamily="18" charset="0"/>
            </a:endParaRPr>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425843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endParaRPr lang="en-US" sz="2400" dirty="0"/>
          </a:p>
        </p:txBody>
      </p:sp>
    </p:spTree>
    <p:extLst>
      <p:ext uri="{BB962C8B-B14F-4D97-AF65-F5344CB8AC3E}">
        <p14:creationId xmlns:p14="http://schemas.microsoft.com/office/powerpoint/2010/main" val="3447960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1565</Words>
  <Application>Microsoft Office PowerPoint</Application>
  <PresentationFormat>On-screen Show (4:3)</PresentationFormat>
  <Paragraphs>319</Paragraphs>
  <Slides>35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vt:lpstr>
      <vt:lpstr>Times New Roman</vt:lpstr>
      <vt:lpstr>Office Theme</vt:lpstr>
      <vt:lpstr>PowerPoint Presentation</vt:lpstr>
      <vt:lpstr>PowerPoint Presentation</vt:lpstr>
      <vt:lpstr>PowerPoint Presentation</vt:lpstr>
      <vt:lpstr>1. Sign-Magnitude representation</vt:lpstr>
      <vt:lpstr>2.   1’s Complement representation</vt:lpstr>
      <vt:lpstr>3.    2’s Complement representation</vt:lpstr>
      <vt:lpstr>PowerPoint Presentation</vt:lpstr>
      <vt:lpstr>Benefits of 2’s complement number system</vt:lpstr>
      <vt:lpstr>Range of Numbers</vt:lpstr>
      <vt:lpstr>PowerPoint Presentation</vt:lpstr>
      <vt:lpstr>PowerPoint Presentation</vt:lpstr>
      <vt:lpstr>Integer arithmetic</vt:lpstr>
      <vt:lpstr>PowerPoint Presentation</vt:lpstr>
      <vt:lpstr>Half adder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Subtraction using complement method</vt:lpstr>
      <vt:lpstr>Addition and Subtraction using 2’s complement</vt:lpstr>
      <vt:lpstr>Perform using 2s complement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HODIT</dc:creator>
  <cp:lastModifiedBy>ANA</cp:lastModifiedBy>
  <cp:revision>55</cp:revision>
  <dcterms:created xsi:type="dcterms:W3CDTF">2006-08-16T00:00:00Z</dcterms:created>
  <dcterms:modified xsi:type="dcterms:W3CDTF">2026-01-29T07:22:06Z</dcterms:modified>
</cp:coreProperties>
</file>
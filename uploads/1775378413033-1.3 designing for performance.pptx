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58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r>
              <a:rPr lang="en-IN" sz="3600" b="0" i="0" dirty="0">
                <a:solidFill>
                  <a:srgbClr val="000000"/>
                </a:solidFill>
                <a:effectLst/>
                <a:latin typeface="CharterBT-Roman"/>
              </a:rPr>
              <a:t>Designing for Performance</a:t>
            </a:r>
          </a:p>
          <a:p>
            <a:endParaRPr lang="en-IN" sz="3600" dirty="0">
              <a:solidFill>
                <a:srgbClr val="000000"/>
              </a:solidFill>
              <a:latin typeface="CharterBT-Roman"/>
            </a:endParaRPr>
          </a:p>
          <a:p>
            <a:r>
              <a:rPr lang="en-IN" sz="3600" dirty="0">
                <a:solidFill>
                  <a:srgbClr val="000000"/>
                </a:solidFill>
                <a:latin typeface="CharterBT-Roman"/>
              </a:rPr>
              <a:t>Basic design remained almost same , but each component were more sophisticated.</a:t>
            </a:r>
            <a:r>
              <a:rPr lang="en-IN" sz="2800" dirty="0"/>
              <a:t> </a:t>
            </a:r>
            <a:br>
              <a:rPr lang="en-IN" sz="1400" dirty="0"/>
            </a:b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TimesTen-Roman"/>
              </a:rPr>
              <a:t>1. Microprocessor speed  followed Moore’s law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Ten-Roman"/>
              </a:rPr>
              <a:t>	From 746 </a:t>
            </a:r>
            <a:r>
              <a:rPr lang="en-US" sz="1800" dirty="0" err="1">
                <a:solidFill>
                  <a:srgbClr val="000000"/>
                </a:solidFill>
                <a:latin typeface="TimesTen-Roman"/>
              </a:rPr>
              <a:t>KHz</a:t>
            </a:r>
            <a:r>
              <a:rPr lang="en-US" sz="1800" dirty="0">
                <a:solidFill>
                  <a:srgbClr val="000000"/>
                </a:solidFill>
                <a:latin typeface="TimesTen-Roman"/>
              </a:rPr>
              <a:t> to 4 GHz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2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Ten-Bold"/>
              </a:rPr>
              <a:t>Branch prediction: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The processor looks ahead in the instruction code fetched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from memory and predicts which branches, or groups of instructions, are likely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to be processed next.</a:t>
            </a:r>
            <a:r>
              <a:rPr lang="en-US" sz="1400" dirty="0"/>
              <a:t> </a:t>
            </a:r>
          </a:p>
          <a:p>
            <a:endParaRPr lang="en-US" sz="1400" dirty="0"/>
          </a:p>
          <a:p>
            <a:r>
              <a:rPr lang="en-US" sz="1800" b="1" i="0" dirty="0">
                <a:solidFill>
                  <a:srgbClr val="000000"/>
                </a:solidFill>
                <a:effectLst/>
                <a:latin typeface="TimesTen-Bold"/>
              </a:rPr>
              <a:t>3 Data flow analysis: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The processor analyzes which instructions are dependent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on each other’s results, or data, to create an optimized schedule of instructions.</a:t>
            </a:r>
            <a:r>
              <a:rPr lang="en-US" sz="1000" dirty="0"/>
              <a:t> </a:t>
            </a:r>
          </a:p>
          <a:p>
            <a:endParaRPr lang="en-US" sz="1000" dirty="0"/>
          </a:p>
          <a:p>
            <a:r>
              <a:rPr lang="en-US" sz="1800" b="1" i="0" dirty="0">
                <a:solidFill>
                  <a:srgbClr val="000000"/>
                </a:solidFill>
                <a:effectLst/>
                <a:latin typeface="TimesTen-Bold"/>
              </a:rPr>
              <a:t>4 Speculative execution: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Using branch prediction and data flow analysis, some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processors speculatively execute instructions ahead of their actual appearance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in the program execution, holding the results in temporary locations</a:t>
            </a:r>
            <a:r>
              <a:rPr lang="en-US" sz="800" dirty="0"/>
              <a:t> </a:t>
            </a:r>
            <a:br>
              <a:rPr lang="en-US" sz="800" dirty="0"/>
            </a:br>
            <a:br>
              <a:rPr lang="en-US" sz="1000" dirty="0"/>
            </a:br>
            <a:br>
              <a:rPr lang="en-US" sz="1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4924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r>
              <a:rPr lang="en-US" sz="2400" dirty="0"/>
              <a:t>One bottleneck is </a:t>
            </a:r>
          </a:p>
          <a:p>
            <a:r>
              <a:rPr lang="en-US" sz="2400" dirty="0"/>
              <a:t>Speed mismatch between processor &amp; memory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Tackled by wide bus length, high speed bus  &amp; caches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897CE0-FC55-4B0E-A396-2F246A9D4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228418"/>
            <a:ext cx="6906589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725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r>
              <a:rPr lang="en-US" sz="2400" dirty="0"/>
              <a:t>Similar bottleneck is speed gap between processor &amp; IO devices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1800" b="0" i="0" dirty="0">
              <a:solidFill>
                <a:srgbClr val="000000"/>
              </a:solidFill>
              <a:effectLst/>
              <a:latin typeface="TimesTen-Roman"/>
            </a:endParaRP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Solutions: caching and buffering schemes ,use of higher-speed interconnection buses and more elaborate structures of buses. the use of multiple-processor configurations </a:t>
            </a:r>
            <a:br>
              <a:rPr lang="en-US" sz="1400" dirty="0"/>
            </a:b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D66C71-06B6-46E8-AB96-33892A166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57" y="609600"/>
            <a:ext cx="7773485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299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endParaRPr lang="en-US" sz="2400" dirty="0"/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The key in all this is balance. 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Designers constantly strive to balance the throughput and processing demands of the processor components, main memory, I/O devices, and the interconnection structures.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 This design must constantly cope with two constantly evolving factors: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0" dirty="0">
                <a:solidFill>
                  <a:srgbClr val="808080"/>
                </a:solidFill>
                <a:effectLst/>
                <a:latin typeface="TimesTen-Roman"/>
              </a:rPr>
              <a:t>•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The rate at which performance is changing in the various technology areas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(processor, buses, memory, peripherals) differs greatly from one type of element to another.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0" dirty="0">
                <a:solidFill>
                  <a:srgbClr val="808080"/>
                </a:solidFill>
                <a:effectLst/>
                <a:latin typeface="TimesTen-Roman"/>
              </a:rPr>
              <a:t>•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New applications and new peripheral devices constantly change the nature of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the demand on the system in terms of typical instruction profile and the data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access </a:t>
            </a:r>
            <a:r>
              <a:rPr lang="en-US" sz="1800" b="0" i="0">
                <a:solidFill>
                  <a:srgbClr val="000000"/>
                </a:solidFill>
                <a:effectLst/>
                <a:latin typeface="TimesTen-Roman"/>
              </a:rPr>
              <a:t>patterns.</a:t>
            </a:r>
          </a:p>
          <a:p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Thus, computer design is a constantly evolving</a:t>
            </a:r>
            <a:r>
              <a:rPr lang="en-US" sz="1400" dirty="0"/>
              <a:t> </a:t>
            </a:r>
            <a:br>
              <a:rPr lang="en-US" sz="1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38172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311</Words>
  <Application>Microsoft Office PowerPoint</Application>
  <PresentationFormat>On-screen Show (4:3)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CharterBT-Roman</vt:lpstr>
      <vt:lpstr>TimesTen-Bold</vt:lpstr>
      <vt:lpstr>TimesTen-Roman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HODIT</dc:creator>
  <cp:lastModifiedBy>ANA</cp:lastModifiedBy>
  <cp:revision>14</cp:revision>
  <dcterms:created xsi:type="dcterms:W3CDTF">2006-08-16T00:00:00Z</dcterms:created>
  <dcterms:modified xsi:type="dcterms:W3CDTF">2026-01-09T11:05:56Z</dcterms:modified>
</cp:coreProperties>
</file>
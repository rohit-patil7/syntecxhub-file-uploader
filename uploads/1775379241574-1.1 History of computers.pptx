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6" r:id="rId2"/>
    <p:sldId id="278" r:id="rId3"/>
    <p:sldId id="279" r:id="rId4"/>
    <p:sldId id="280" r:id="rId5"/>
    <p:sldId id="281" r:id="rId6"/>
    <p:sldId id="284" r:id="rId7"/>
    <p:sldId id="282" r:id="rId8"/>
    <p:sldId id="283" r:id="rId9"/>
    <p:sldId id="258" r:id="rId10"/>
    <p:sldId id="285" r:id="rId11"/>
    <p:sldId id="259" r:id="rId12"/>
    <p:sldId id="260" r:id="rId13"/>
    <p:sldId id="295" r:id="rId14"/>
    <p:sldId id="296" r:id="rId15"/>
    <p:sldId id="266" r:id="rId16"/>
    <p:sldId id="268" r:id="rId17"/>
    <p:sldId id="269" r:id="rId18"/>
    <p:sldId id="288" r:id="rId19"/>
    <p:sldId id="270" r:id="rId20"/>
    <p:sldId id="271" r:id="rId21"/>
    <p:sldId id="272" r:id="rId22"/>
    <p:sldId id="290" r:id="rId23"/>
    <p:sldId id="291" r:id="rId24"/>
    <p:sldId id="294" r:id="rId25"/>
    <p:sldId id="273" r:id="rId26"/>
    <p:sldId id="274" r:id="rId27"/>
    <p:sldId id="275" r:id="rId28"/>
    <p:sldId id="286" r:id="rId29"/>
    <p:sldId id="287" r:id="rId30"/>
    <p:sldId id="293" r:id="rId31"/>
    <p:sldId id="299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58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C66D5-E982-4603-9F47-124CE89C09EB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6C19F-3436-4E40-9095-29B6F29A61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List_of_Intel_microprocessors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1"/>
            <a:ext cx="7772400" cy="200025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GB" sz="5400" dirty="0"/>
            </a:br>
            <a:r>
              <a:rPr lang="en-GB" sz="5400" dirty="0"/>
              <a:t>Unit I </a:t>
            </a:r>
            <a:br>
              <a:rPr lang="en-GB" sz="5400" dirty="0"/>
            </a:br>
            <a:br>
              <a:rPr lang="en-GB" dirty="0"/>
            </a:br>
            <a:r>
              <a:rPr lang="en-GB" dirty="0"/>
              <a:t>Computer Evolution and Arithmetic</a:t>
            </a:r>
            <a:br>
              <a:rPr lang="en-GB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213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Ancient 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http://upload.wikimedia.org/wikipedia/commons/thumb/a/af/Abacus_6.png/220px-Abacus_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600"/>
            <a:ext cx="3005174" cy="1762126"/>
          </a:xfrm>
          <a:prstGeom prst="rect">
            <a:avLst/>
          </a:prstGeom>
          <a:noFill/>
        </p:spPr>
      </p:pic>
      <p:pic>
        <p:nvPicPr>
          <p:cNvPr id="1028" name="Picture 4" descr="http://upload.wikimedia.org/wikipedia/commons/thumb/a/af/Napier%27s_calculating_tables.JPG/170px-Napier%27s_calculating_tabl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4800" y="1432448"/>
            <a:ext cx="2133600" cy="1644127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143000" y="3505200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Abacus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276600"/>
            <a:ext cx="1524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Napiers</a:t>
            </a:r>
            <a:r>
              <a:rPr lang="en-US" dirty="0"/>
              <a:t> bones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3352800"/>
            <a:ext cx="7239000" cy="2092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981200" y="6019800"/>
            <a:ext cx="35249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What was before this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Zero Generation : Mechanical Era (1600-1940)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40080" lvl="1" indent="-274320">
              <a:buFont typeface="Arial" pitchFamily="34" charset="0"/>
              <a:buChar char="•"/>
              <a:defRPr/>
            </a:pPr>
            <a:r>
              <a:rPr lang="en-IN" dirty="0"/>
              <a:t>Wilhelm </a:t>
            </a:r>
            <a:r>
              <a:rPr lang="en-IN" dirty="0" err="1"/>
              <a:t>Schickhard</a:t>
            </a:r>
            <a:r>
              <a:rPr lang="en-IN" dirty="0"/>
              <a:t> and </a:t>
            </a:r>
            <a:r>
              <a:rPr lang="en-US" dirty="0" err="1"/>
              <a:t>Blaise</a:t>
            </a:r>
            <a:r>
              <a:rPr lang="en-US" dirty="0"/>
              <a:t> Pascal</a:t>
            </a:r>
            <a:r>
              <a:rPr lang="en-IN" dirty="0"/>
              <a:t> (1623-1642)</a:t>
            </a:r>
            <a:endParaRPr lang="en-US" dirty="0"/>
          </a:p>
          <a:p>
            <a:pPr>
              <a:lnSpc>
                <a:spcPct val="90000"/>
              </a:lnSpc>
              <a:buNone/>
            </a:pPr>
            <a:r>
              <a:rPr lang="en-US" dirty="0"/>
              <a:t>         : built a mechanical counter with carry</a:t>
            </a:r>
          </a:p>
          <a:p>
            <a:endParaRPr lang="en-US" dirty="0"/>
          </a:p>
        </p:txBody>
      </p:sp>
      <p:pic>
        <p:nvPicPr>
          <p:cNvPr id="47106" name="Picture 2" descr="http://upload.wikimedia.org/wikipedia/commons/thumb/b/b4/Pascaline_calculator.jpg/1024px-Pascaline_calculato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200400"/>
            <a:ext cx="5486400" cy="29307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 </a:t>
            </a:r>
          </a:p>
          <a:p>
            <a:r>
              <a:rPr lang="en-US" b="1" dirty="0"/>
              <a:t>Charles Babbage</a:t>
            </a:r>
          </a:p>
          <a:p>
            <a:r>
              <a:rPr lang="en-US" dirty="0"/>
              <a:t>originated the concept of a programmable computer. </a:t>
            </a:r>
          </a:p>
          <a:p>
            <a:r>
              <a:rPr lang="en-US" dirty="0"/>
              <a:t>Considered the "father of the computer",</a:t>
            </a:r>
          </a:p>
          <a:p>
            <a:r>
              <a:rPr lang="en-US" dirty="0"/>
              <a:t>he conceptualized and invented the first mechanical computer in 1833</a:t>
            </a:r>
          </a:p>
          <a:p>
            <a:r>
              <a:rPr lang="en-US" dirty="0"/>
              <a:t>he realized that a much more general design, an Analytical Engine, was possible. The input of programs and data was to be provided to the machine via punched cards, a method being used at the time in </a:t>
            </a:r>
            <a:r>
              <a:rPr lang="en-US" b="1" dirty="0"/>
              <a:t>mechanical looms </a:t>
            </a:r>
            <a:r>
              <a:rPr lang="en-US" dirty="0"/>
              <a:t>such as the Jacquard loom.</a:t>
            </a:r>
          </a:p>
        </p:txBody>
      </p:sp>
      <p:sp>
        <p:nvSpPr>
          <p:cNvPr id="48132" name="AutoShape 4" descr="data:image/jpeg;base64,/9j/4AAQSkZJRgABAQAAAQABAAD/2wCEAAkGBxQTEhUUExQWFhQXGRobGBgYFRwcGhoaHhsYGBgaGBgaHSggGhwlHBcYITEhJikrLi4uGB8zODMsNygtLisBCgoKDg0OGxAQGjQkICY4NDQsLCwsLCwsLCwsLC8sLCwvLCwsLCwsLCwsLCwsLCwsLCwsLCwsLCwsLCwsLCwsLP/AABEIAMQBAQMBIgACEQEDEQH/xAAcAAACAgMBAQAAAAAAAAAAAAAEBQMGAAIHAQj/xABJEAACAQIEAwUEBgYHBwQDAAABAhEAAwQSITEFQVEGImFxkRMygaEjQrHB0fAHFDNSYnJDgpKys8LhFSQ0U3Oj8RYlosNjZJP/xAAaAQADAQEBAQAAAAAAAAAAAAABAgMEAAUG/8QAMxEAAgIBAwIEBAUCBwAAAAAAAAECEQMSITEEQRMyUfAiYXHBgZGx0eEjQgUUM0NSofH/2gAMAwEAAhEDEQA/ALB7IE7fn4VudxH5ipglelNR8fuqHhRW6K+NNqmybBpzy+mh+VWHhZ8fWkGH0pnhcWRUnF1ZRTVtFryilPErQFYnE9N4oLH3i0mQfkaeU0+wkYtdwFhrXhWoFu6+98CJ+Y1oi009PgZp4uxZJo8CVEymd4jcRRYHSoWFPQlmIK2IreyleulNR1mgrcbx4A/AyPuNalKBxQdPb3nzezS0hG0QhZ3gATMAbz71SyNRKY05De2BRuFid9jB+376pFjtbhmKhbi95lzZyUyiRJlh0nn0ozCcQBF241zMMxMrqAMqgRlnTSfWpOm6TKJurL6cQIpTjVDHU7Gd/t61XBjA7ItvMe6Sx5SckKddxJnpFSXmCkKSM7NCiR3hDkkDf6tN5t2xV8PYYX2HWgbtwVrcsPE5dJjrrtEfCo/1C9I7ja7dwj5mqKArmRvcqFno5eDXztbPxZR9pqUdm75/cHm34A02gGoi4dxf2KlQkyZJzR91LsZfFxyxUDXMB0PXzpji+z9xAJdNekn7YqHBcEe5MFjBjRQPmzUvg/I7xUu464dwVGw+d0m4QxXUyNO7A+fxqrs5qwjgV0JHtLvgPaBVjyE1ph+A2tmImYj2hPT92KCwneOivs5qBnPh61eLfZ+0Pqr/AGSf7zGtrfC7YfRFiP3V3nwHnTeAweOihrbLcx8ATReF4YxPP0roVq0FGmlZgsGurRJLN9ppJ4mtkykMqe7RUB2cLamYpJxPhwQ7V1HGXAqGa5vx7E5mMVnnjalVl4ZNUW6EXs/KvKzNWV3hC6y1W3U7Ga2uEaUtxtsKC6roBJBgH4FaGTFMDEMP6wI+c1XxZNE3ijZYMONPjU60nS+wMTPwinuCwVx1lfmNPWnhO1VCThTuzXWsujQ0Q+DvLvbn+U14zJlYPnQwYlNJjqKdpCLUAoO98K9a14emlH8Dwy3HaZ0A+2nqcNtjlPmaEIpoabaZV7Qbkf7Q+8Vqt0nlVxTDqNlHpVSKd4/zfeaaWy2EW73CuHWmcGFOhii3wh+tpW3A8PKMQzKcx2PgNwdDSj9IeIe1gr5zScgEgQYZwh+ME0s5PRtyPGK17keP7T4OxANwO591bfeZvARp86gx3HLWK4ZfvWgQrWbohhBBCsCDBI+dEYPsjgrYtXBh2tXrahlYFsuYL4ErSOzZVeE3woAHsnOnUoo/eP55VmzQ0Nd7L4nqv5HKcQ4UadBpMyefl5V7bcgKwbKWJAEwdMsz094fOtjhyULT7pHx3/Oxo7tPgCq2O6IK66DLJJbXQLsI5bGAaVVQXdkmD7UYi0Tlvb6d4hp6iTr6GnPZ7trcsXVe4huhZ0zEETnnUg6y5OvlVUTAFkw8LAN4qsT730RLa9dNulSthJvYjvar7QAkjWJBO++ggRpPhSprlMLT7ovnCe2ttnti8XVVuq5YknQF2ghANiU5awas/Cu1YvtbHtUUi6SVmSVh20LQfqxts451w+3cf2TNKllGgAM6FZZp5GSBHNdup+FvtmQMghkViddAY2gHximU5LgDimd6wnH/AGossqkhmuhjIGirOoOuvdI06Uzt48NcVAD3rZf3TESAO9tzOlfPWH47lt5w1xFJAO8SwIIjTNoIMA8qtPDu3FyyyhXtuVXJlcahZzQII6761SPUNP4kTliTWx1Tjf1fj91LsISLTQxUlzsYnU6UiXtr7VQXslY5q0jXoCB9tEYDidm9bKhzIYkqQBuTEaanXrWj/MY2tmZ3gne6CjZZjqSfjTHC8PfuseR2noa2wFpFVfemB+8Om0VP7RY2O/M9SY3NFb1QvqGM1Re0EnUcudQEjkq/nyBrxHMEiBr0J8PCtBGid8WANxuKr3/qaNBzP2mj8beIQsTsCdgNgT1Nctw+KJu2xO7p/mJ+ysXVrg9HoknCTfb+ToWO4mWGpqt415oq49AX6lFJDtgsVlb5aymsmdfvYS23vIreag0vvdmsM39EB/KSPsMU3rK1UiFs51csgPA5GKufZ/8AY/E1VsSv0rfzffT/AINj7aIVZgDmO/SoY6TLT3Q8qLFrKN/KfsrVMbbOzqf6wr12lT5GtBAU8CtxcaP3R9pp5SfhX7U/yD7acUEFmVVWTVv5vvNWqq5dX3v5vvNCXBy5D+z37Nv5z9i1XP0qH/c7vlb/AMVasfZ/9m385+xarP6WGjB3fK3/AIq/hSPyIdeZlxxX7Fv5D/drnd5p4Xe1n6E85+qP4m+34Vf+I3ALDzv7Nv7tUDEv/wC1Xef0Q5zyX+I1PqPMvxKYeH+BzfCkCxczbZln0annaRRFnqF0MDxkZtD6Hp8Udj9i+sd7f+q3iPtFOe1b96wojUTOs6qdNJ057HzrJezNC5B8AoyYPT+nn52x0jl/rU2DZnuYoyYEhQSdIdgdYECeU6da14WsjBdBcB2n+kjoY28K84SR/vpPS5JEE6XRykddiamnsOK8JhR7C/oIhF0gjW4DyMcutM7GEU3Le4b9WtQRGwszz/lPP5ig7J+gvnq1nTfTvGNZPKmmDtfTKBys2xqf/wBe9uYHQUbe51IrFzAn2LiZCvbyg7DNnYwCOeUedNH7P+0u3bdsKWPdUZspBX2I1Ld3nP5g6Z/onO03LZ0GX6l07Dzq08DtlsU8iSLrLGUv/wAs6L5oT86aMm5V8xJJKNlQ412dvYNB7QX7bMYRheRrbHUwMngD46VcOy7QdBoAoYnU/WI1ncmPSjO3V1SEhh3fbE+8DK2m0K6gasPLShezF/IL386j0zePjVpQi8iiRtxx6i92scsCBOg1/M9K1TFa+E/j4daU4fiakAZgD6eVSXMWw0md/wA7V6SSPObY6/XB4/OtUvgDYn+r8eZpA+Nfqfz8Kkv4lxpJj49POmsDtk/aDFhcNe0M+ybkP3SPvrmXBDmxdkdCx9Lc/a1XftFdjAXWO5Kr8CyD7zVK7Grmx38tpz8fo0/GsnVPg9foY108386/T9y7XBQV4UyuLQV5aypgaAstZUkCvaYSjqq3G5gep+9agxvEchUATPOaSjiLn3ktnrKf61rfvFssqqjWAqx0mtmVtRtGfpkp5FFgeI/aH+b76ecCcnOmUEAzPnpHypJfH0h+H2invA9DcJ0HdidP3qjB7lJLZjB8Kh3tof6v+lQXeGWoPcA0O0j76YAztXjjQ+Rq9JkLZVsQpQjKzDQbMR1gfI+leJcaNLj+RM8/EVtxKQw8V1+B0+0+tRWTofzzrJkk1OkejgxxljTaDsC9wuAHGoO6j7q8ZWgzG/L41rg76pdUsYEHWirnukjqPvrRB3EyZo6Z8bGcIdgjZULDMdmA5Dkaqf6VcQWwlzuldLehj/mDoTVr4ZjrdtWDtBzE7E8h0FVT9L5/3dvK3/iCu/sFcWpW0WfjOLX2TDvA+zbdGH1epFUzHP8A+13P+mv+TxNW/tXdm22UyAjzBmNOdUnibxwy4P4E/wAlQzSuf5/YtjjUPy+5R8Ev0fncjUx9Q6aEb7b0x7UiLlkdETTT9xuR/ClNh4tf1z/ht0ZT8/XamnaUH2tomYy2+vNSeZA57eHlWZ8F0ScP0OBH8X/2nXeoOFyExZ11W/1/5ibH8PGt+G+/g/Mn/uMeg6V5b0s3xJ2uZgREMSm+p/h36VNcD9wSxcy4a8YHv2fqgj3bk6bH49NacIYxF7+G0g/7Lj76RP8A8Jc8Xs/JLh8OtO8QYuYqCDoBzkQkeH7w2rr5OE+FI9iogSzqNjv7PpPjVr4FcnFXdo9ud2ZR714bp3vq7Deqtgh3bC8jf8vqoNvjVm7K3PpyZibhM5wPrX9yNh8/ueHnX1En5X9Bf2nxOpVRofbbMea21J724G0Rz9CuBGRc5y5P59al7cuDeEGfo3Gl0uJL2RuwBB8PwFDcIci0YYiWY6HwUVoS/qEZv+mWyzg1IWVH5ip1TKNAPIz4eNV/h9+6XQZ2gssyTtImrHaxr66Jof3fTnW6MkzBKLRoCDyHz/Gpry7mBuevXzrS7fPtSBMZor17lwrEGJmIO/WmYok7c3IwGXbO4Gnhmb/LVY/R8k4rEN+7bj+1cY/5afdvifY4ZToTcn00/wA9Jv0ZJriXPP2K+isx/vVk6k9nplXR/V/f+C4XvKgb3lTK4NKDvpWZE2AxXtSZaynEL0MNUeN7uU+f3UWcWnU/2W/CocfDBY5Hy+2t+dpY2Yenko5E5cfwKMU4Usx5ARPWBFVvFX7zuCbjQDG+kHn+fGnvGVkHnAU+eg+VV7B3pJUyPhPnNebldK2engWtqi1cBxGR1BYgMY1OhO23PWrk21c5v5AAQonkYBPWugYQfRrqT3RuZO3M1To52mjuvxadMiv8WX3fI0Jh10JqXtFjFtm3nnXQQJ1JAHOk/FuJCwoMSSYAmJrs3+oxumdYE373G9xoZSYIHXnTYD6MfCq12Y7RW7rF3hPZA5wTIAIJUz0Oo8xT7C8SS8rBdCpEgxsZykRyMH0NXxtaaMvUS1NUhfduiGUxrOp+G0DwjfnSL9Mrxhj/ABezHxDZh6gN6VZsXjhYwl+7kV3QMwUgGdBvzgb/AANU3s9j3x6e2xEOVuMB3RAHdygDYAGT11pJyUYbjOSkkkuB1x3EAJcjmjbDwNVvjTxw5x/Db+234D89d6YdpOGEWQ9vQj3oG4J1+Om/jVf4tiM3D2jaLfKPrW/AfZ671ixyt/n9i82mtvl9yt4X9kP52/wz+P52pl2okXU0+pbgx0XXXISN+o39U9n9kv8A1T/c8jR3adgbyHT9kvTpP5/JogDOHjv4TyY//O6eRgbdIofhQP6viDv3v4tu6eRmNOUbUXw+PaYX/pseX/5OuvPkaV8JYHBXttWQ8tzPl0qceB3ya3tcMRtNxfkh8CedNrjE3MZOsBhG+3spGmpHePTc0qVV/VwCBLXmUT4KpHhz+dHYltcaeU3BtPOz+FE4HwfvWI/57n/C86e9mRmIJYLLHUmAIa5Gvkw3pNw9gHwy6SbjMNNodAfjpT3sVfylSZAOaIYKfdtt9YZTudD60+PzL6iZPKxJx/Eu1xSXBAy9CYNxNCeWqkx0Io7gxlQP4v8AMKH7V2suIdYYKPZ5ZKn67E95RB225TTXsdwq5etlkZAEYDvA6nVtx4R61aK+NkpbxQ94ZbAYHnNNAZ18qVYrD3bBUvkIIcjIxJ7qzsVH21vwpw6Agt3pjMNtTHOteLm/fYyZtlRBxPg727qYg3QVu3pCAtIUS0nlEAetJ7WNzG2uZiWuCRr1jXw1q0dq7SlbIDH6O0x0/iTL66CuaLx24WX6pJnSPPTpT5J6OwsIa0WPtzc1w4H1bNxvjCkf3TXn6M7f0N89b7D4BEH2zSXjmJZgpdiT7PnyDHKB6MKsH6O/+BRv3nun/uMv+Ws+V6tz2K0dJjj839/3LJdoW61T3DQtyopGVsgmsrbSvaagHQGKqDLET10+06Uv4ji8P7Ns12YBMLcXMdNgOtQJwbD+2dSggKje4pMlrkyXB/dFIf0j4hMJhQbYC57ltdFQf0ltz7qj6iOPjXatq1fgYMUYymot8+/mVbtRdxN5TkJCckXaBt3t2NQdlr99bhe9bchpBzDVRAggHXeZ86Nv8TyhmOihsq+MAT/mPkKUPxwwGJAkSBUcnxbM+6wf4Zii9UVW1c+90WLjlnFYjuYS3LR3rhcKEHgJGvjrTXshiVtWyqYnEXWQ5H9owIDDeFIMLJ0Mk79KoI7X3LSstp1lyAZJmBPTXnUHBBffEvYsqju5LaQpdRJ3J33ME0sIuK+A83q8MIZ9M5LT83tx3Oot2kw925kbV7aq2pEw4B9RpPSR1qm9reP2bwb2bqHs7BzoSTDBYIn3QaKfgmKVjdxzrYwvdYpKG42QCLaFdBm8519Kd2ovnEC5iXPfa7AXkEC7TziUUD+FidxVUsl/EzzszxRl4eOn872CeCcZWb2ZiFZdSBMFWXIcsGYJnpT3g/asrcd1kuHIJyyHDBGICiDq8kAbSaqHZG2HdrcqGuDKsiRqQdR8J8po7C2msHEWijHNaYFyO73oZnnaTlygTsD8Fb+J7kq2OhHtDfuWmUYe4bbTmIwzbRB1L+FKez+PFqyRh7N9reYyVUMc3Malj8qh7Nds0tZreUsjOzEgyRIAiB723UUT2c4pbsB1W57zOwBtusTqo7415CaOX4sd27XYEUk+A9uN3jZZjYuqigS1wqNJ07pUE/CqQcUDg7qg6ZljSNMy8vhVi7XcXdrBVYJYax9nrVLtNGGZefd/vDrUMUdNjNtmuHupkhpJBYgDL72WF97l86m4viw7oVMgWlVtY1iGAn4dRS+AbgQECWgazp1kbitMQrB2VUZgDowUww6jw+6q0LbQ3wfEst2y7e6ltlMATqrgDTxYVDaxYXDvaEjM1sgTmACzmkkc56UsxCXFmLbkdSpHr0rS0Lh1ORRE6sB1G5Mb1yiqOc2Mbd8wgJ0W6XMc5yzy6LzneiruODLfEEe2M+UkE+ZJFJbzkDS5ZG/9ID0j3Z8fWtbLHRmugDXZZGhA841ptCQNbG+HxOW4jyTkzQsaaknSSY1j0qSxilW2qFCcrZgc5WDlVdI12XrzpBexKgAC68wNRb8TrJb7uQrfKCMoLM7BT72oOsgeoplFWK5uhjjsUpYPBkCN5neJJE8+tM+Ecev2bOdRft2yYLhR7MtoIzEQTEc+VVazcRpIWCB+8fwo+9cBtBV1AMNCxrmU+9HTSDOxI0ru51lrxnaMvlz4i43d0+gB0YCRPtF3EUTw3tYiNbw5S5LRlZlW2gUz3m77GNzPhVa4u8YewuUgyWzRoQLdtYB5xz86V8Pus90F9SFYyegVzHQDnEU8W09hJ/EtzqfFL3cYWrmHuSIHs76sZgald+tUzDcEulgihc/QmD10nfQ8qfYns7nshAVmF1y66AaTy23oW1wy4HFnuyEBMbQTlPLSY2FWyptpksTpNbf9/uL+1iNadkcBTkSBMwBEf4Zq2dkITAYeSBNsN/alv81cxt2TcxAQe6Wyx/CJmPgTXRsOttYUKIUACCdAB4Ggoa2zf1GXTixxa7fsPGuUNcuClGD4kz3nUe4ugnrudee6+tG3blTap0Z07VkvtRWVD+rv+439k1lDYFnULFlQ5YJGZFBPIgEmP/ka57+nThr3MFbe2ndt3c1yBGhVlB8dSB8a6BYu9xT/AAj7KVdpntXMLftO4hrbjQgkGCQYHQgGtrUaMlO9jgOKvXLoQZzBWSNIgL3t/Tx1pBfVyfeJjTerM692440EZV8hSJ96yVR6GbqcuaTlJvfsnt+Qty1ev0RY72XE8Ofq3PaWj4ZkJUjxzKB8TVbW2uUzvA/Gm/YdguOw3/XtH0cfcTXQyWwZullijFt+ZWdw7e8Lu37KLZXPcDEhZAkFSp1YgaBp+Fc07Qfo8v4fDC/cdBJCtYJY5SdAwcNBY5QTpHpXZb/EbQdO+CQToveOxGyzSP8ASDiDcwT/AEbhQQczADYHlM/KqzUXcjLFtJI53a/Rri8MwuXWtC3tms3YZWJCj3kEzJ21pBxG2VVs6XQRtcZ2YMJOsSABHInnXZe1l5ItjEiHYzZKKxGYEd1n8ZGhAGlc6NgMD+zuaGUuAkATuMqk+tRywSf/AIVxybECWUGEdyzvlulZ2EAIfczRznU0BxBFt2FYZfaCc0qpJDEZZWdIBg6D5VaMTYtLYcfQ5Pa7LJUHKogjKTm02g8qT4/D2SqqE7r5dQIaMwAn9zrly6xUY1e/vYpK+xpjlNs2SgJZ00WSZYkaxsekeNRcQuuDdX6gYQ0DTUbgDXWrFbtWBdtLeN0IFKLdtBSV1gSGUnXquoqs8UJl+8zLm0DOW0md9PWBStL39RuwmxV1s5Ekqd40nXflWt25cJgMwXkMxj0GlSPObQjlECft9K2VxJmYMzDQddzPKqE9wY4WTOubSN/iTOutS3LRMZjAIhQNNvX96T51PexubL3jlX3VLEgT70bRMCY6VGmJDAKqwo2VQYnrqSZogZ4mBGXNKkRoCwkzIkDc7HUbVu2EGVWOoJI1kRGux3FSZbrQDabnlkBR4xAFa3rF87gTE+8TAkjXXwrrOI8RZVNI1IkiB4GNDvPIjlQjkZiCIWSBrv46UX/su6zZQZIIDRpqQrGPIMPShMZw50c5lYKCYLKRoDodRz67U8UJJntrTMeQUfatboQoaNWJ170g7nSPtrx2kMTl0yrKrAP+ulF4TCwSTcDQlwlTBIISV8Ykx8PGg9rCuwc4Iukm2HAbUEkSAI95QSP9Ki9p9I7lBbTIwgTGoykgtuYJoXD3L7ASQ0+MHr5VLaw3eJuW2neDkYEdAcunzpUmhm7Oo8J4xYv21b2loORJQXFJXzEz8qUrN25iTaBb3UWDBIWC0AkNBk6gVVm4UpM+w+iI9/MA0+QMb76fGm3DVNuw+VC27LpIIGaAJ3OgGnSr+K5NInHHp3FOG4XctMTcRwygwOebMsHfkJNMlxF1driEnQZlKgc5MEnlHLUitcTjXF1VBbvFRGYgCZnzA7vTeh8XwW5fZnDZVJjb93QnSBvNK3pexady3l6DvgNh0zl2BJM6DQHUmJ12K0fiLhFL+zNtlw6hjOrQeozHKfSPlRl80q3FfAu9gP4vU17RWUVlNsLbL1nnfWq92svBMOVUwzkLvrBknT4V5gFuYg5faEMN0MqwHUppp47eNA9seF+wS33tWLSfICPtpY4pcseWRVSKnjgBbKj8/nWq8i08xTHby+ylF1MsnpNGYsUQZ9GPiY+wUZwE5cRZn99Dr4MD91LUuqBqfhzq28M4FGEtcQDmRfUezKiMuYAGZmc2nx9ZQi7bPZ62WLwYxvdUkv1O9W8Mts9xFXyAH2Ur7eNOBuyRt8djRD8UBjJLuwBCDkDqC52RfE78gTpSLtfhHOGuP7T6UDYpKAMQMqgwR/NMnnpAX0cnkdHzkPMrGnE7V1rJuZkDFRIOuS33SyoYiWAM9SRrCieXPxS1bK5xGXMc2e6sGY3tr4bExvVquY1rkK7XlZEUBRfJsuAqGW7gOaDOVhBP1uYpOK4ubZIyIchZdSWBBaZA0APL3qzZ2m/fyL4k0TYrjFtsNcuqMwF6NXusGJVYnNlYCSO6NPWt7mBV7KvbuIGcCMysozayPaCcgnz8YilmI4vOGcrkV/a91ZG0L3oDHx58qXDH98ZCdguQqOcDunQglpPjPxrJXv8AA0WOeNWwbYVmIfINVYb8+XeE9CKS4hz7MSRMjYARGgiPKiONYofQ+8pyAQwEEczpy6edAYlu5tz+FccSYThJujOxbLodAY94jUxA1B3p1iOx/sshuI2VpjMwnlr3WnntpW/CMUv6qFGpyoD4H9YvN9jJ60+7R8cF1Em3dt+zDa3UyZiQIAUEkDQanqKfanbF0t9gFOySrZtXgEAYxlyzsG1M/wAp9aNfgarZFzMdLhUAAADQ67T860xPErww6gi0bS+6EJNzMQw7+pC+8dI5jWgcXjWFszeeTByMAtqSAWYMBq3hI3OlHVD0O0SGmPwFtbWbLB9rEljoMuYiDpEnekuKyRdIMkmAF73dIJWAskzmbrMCgMTxOyEg6XCAC6ksYidiAIk75jMbUDxDj4ZAmTMo1E90zAEnLvtsa62+EdsuWGXHyXFOoNy/pHMAKp+EIRUS9ojde6+fKlu2TbW4VloyjJpEyMxjU7b0DieJ4i4Vgkjcd3bUghSdR0gGgTwS80kqQBMg6RHnTQltuLJf8QjtBbHIIMwVu5sR39T0OgMV6vD79oXGuI6A2iVn6wLINN9YbbxrOG2Et3bIYqyFlZtNI0JU6a7EVZe0HEPbG4yAlcgUKqmd5aBHhvyo7NWL3opb4xzHeiNoAB+XnT3sqjO8uS6qVBBIjKZk7SToOfOkgLXFJZdVBIgSQBEyBrHjTXssLjK4t5upyrJ2H53FFx7Cxk7suZ4xbDm2tpUVQDLQBqSBAA8DrND4fiA9oApDHYyJEeE6UowuGzXEBJJbJm8i7Ag+EKPWpuyFnNexROoS6yrqdBmYADwhaSGKuGVnkbqxwcIGz6xLRyI91VO46g0tv4a9aBAbuSYgnugknXw8fXrTzCzlnqzH1ZiPkax05natUkmQVoRYd7yIFBJAAAMgiOVRXcbf9Oo/Cmty3rKHL4DVfivXxEGh7lxh7y/Fdflv8BNKsSRzm2Lv9oX+i+h/Gsor269D/wDyf8Kyj4cRdTOonCpcEOoOU6E7qY3UjVTruCDVb/SBwl/1YOLj3FtsDlchiqnukhozHXL7xPnVlt3AOfyr28VuIyMO6wKnTkRBqraaBTs4RiMZOjCPEfhQnELwKGDM6b0w4vhTauMh1ysRrzgx86U3hm5AeAEVkkXW6Faiu9diuFm5w2xbuEmyySUUBZzMW7zkknXbLl2G9cJC8ulfRvZGUwGFEa+wt/NQfvquPe7Ea2G3DrK20CKoAXSIG/UxuTzNC9pxOFu77L/eWjL2IVdyBG2v5mkHanjSrYYBHdSNcgkiCDMHcaHUdKrJ1FoSKt2VDiNxLjqrxAW00MT3swW2RseQnXf4VWb9iyl9swSMzaNoBrpGhnbfxpn7XM1qWDwliSrAEOC2h0jQHUaH7xVcfrjqWI7xnKYbWefI+XKsWR/f9TTBfY84vi7fs7MCQQ8QCRoxmMuvMdKr1lov2zB1dAQRG7ATuSeusa1Ye0Fxe5Dad/ck8167/GkOGuTftmDAddSNBqNh5AegqMSkhlxS7biwLjOPo1Mry03OtLsU0pIiJ0jprRvGcAXW2xMRbTnrqJ2+Hzpdct5barI3GvLYnlRVVsB33DMFxFQqIQSyxGwE5i2p35kdNfCtsT2guOqrrlWcvtHz5Z5KYEDlFWHCdhv9ys41nSLh9zvSBmIECYbb4UOmFtiYVRzICgfGFAFPp3qhdW3Ijuvfb3QwB2IQISNveAGbpvyrVeGsSTcldN4JMePKfifnTW/xezb+us9FlvULt8aW4ntKG7oUleZaBA56Cc3kYo6HXILV7jY9mFFvPmtuRurXCnkACBr5Gl1yymqwqxOn1ioPMkZhPIa770qxnG3YghufSPVcx+2h8bjmdQxMjQZY008uVdPG3wdHJFcjPE8bFt/o2vW2ClTlaCQSCcp3X3Rz+NC4i6bgJt3NZ73fyknqxYjMDJ60qwmEuXCRbR3O5yqW9YGlF4Hhge2bj3ERQYAJ77GJ0XeNYmrRhSojKduzZr+WDMxO23IHUbiZpnhcUj2gi21tBriINM4LHMSzZiGOw1zGIEbUou3VkQsACIG09dZ33+NFXsc36usaAuVEbQoUxJ8WobINtssd3iJwhuWzaVsyBS85Ce4B3RqCoPLeBSvsrxv9WDd0NnjcxEHeemp0iq62YyfX/U0z4PgLt0j2QBII973ZBnWjv2FsuzWXW5axRVi1xmLIolhbgez7vVVUEj+I0B2e4ktlcRcKkh77kagaSSPeI1htqm/9RX7Vxf1u0AyhspQgI0jfMXidNtJqXgP/AA7kkZmu3HIBBjMZAMHpFPW7GTuhpwXiNu5bRQYYKBDCD3RBNS4oyfAbfj50qwd2CdF/sifUa0w/WOoqSyLuWliZGxqK41Sm4pMTr0qN1qimRcCKRWVrHhWUdQNJ0r41upHX5UsHEVK51MqSVnQagAkddiPWomxpO32/j91NqO0lJ/SHg4xLEDS4ocefut/dn41SHEGuidtULIlzmrQesEc/iB61zrFjU+G5+6pTV7jR2dAFwd4+NfQmAwOJNq2gR4VFXUZRoABqYnbrXIewXCP1niFgHVEIuv8Ay2yCAfNsq+RNfSP65VseO1ZKeStir2+B3Zhiq/GT8vxqfinZgrYcibxg90kKI57gz5aUe2Jm5Ta7jERCbjqgIiWYAfOqvGkhPEkzgV2yq/S6d0uMo5hGOUsPiAPLwoHFY12QlcOQ1xmbNm05QoPhrtG9OWvKhHdVtGzBlB19rcIEHqpXX0ilHFcaRhhcESLrHunqB021O1eZd0n74N1VuvfIDjbF97dvNlGrT1GY6kmdeWgrTiHD0W3AIDaSztEjSYB0M+FK7fHWCtNtS5KkPmYEAGSrCcrqekD7qj4lxq7eXKVRLczltpAnzMn51VQok5plhvG0LLsARkYJAJJBIJgyRrtSfEtNsEbEiPQ1tbuTgH3kXUBJJMwoj0ECOgqG7+wt/D7DSaafv0H1uqHHZbF3HuqhyhEVo3zGFZtyY0gnlVf4jcYuyu7MFZtCSQNTsDoPhROB4TiWOe0txQR74JQQRHvGJBE7US3BQn7W8ituQJLH11+Rqig7snqtUJR4CjsBw69cGdLTOg1JCnLA31ETTjDcWw2HXuWBeu6d+6e6sfupGuvMxUXE+2eMxBhrpA2yWhlAHTTWPM0yUe7Fbka3+CWCguG57CQSEc59RyAHfGvUGgsW+GFtFtLcL73GcjKTGoRRsJ5nWhf1d2MnSeupqRMCOcnz2pdSQdLbPMJxK5bDLadkDxmCEiYmJI8zUKsTuI8TRqWo02rY4cUrlY8YpcgKrBB3IphimFy2BkC8wZkzoCeU+7UdzCc63u90KOg+8mkb3ReMYvZAa4UwdRHM9J8Pwq9dk7Yt4YGd2OsETrGk+nwqnpiYnSZqy8M4p9GidI0q+Oe+5DLg22LBxDB2nzm4odRbmGE66kfGheE2suDtD+GfUk/fQXFscClw5oBAG9LsX2n+jW3aWAABmb7l/H0p5TjYI42kMTfVNWIA/O3Wl2L44TpbEDqd/gOVV69iixliSeprfDszGAs/nrWVpXZdyfYufZ9vosxMsxOp8NBr8KNd6WcKvKtpVJ1HpMk/fRT3N9fGnUkTaJfafmayhs35mso2Chxw/h2TvO73HI947AcwABA8dOWppmp/DeR8agLga9fnXrXZ56ecGqUKQ8WsZ7Lr1UkRtI1HlqK5Xjn/ABrrJufn8a5dx2zkuuo2DHL/ACnUfKg+APkbdiOPjB3M5924wt3PBdWVh5EtI6eQrsY4hIkGQdjXzrbeNJ0JHqJ/Gug9keNFUWy7T+4en8J+70quPLWzFePUrOhWsX36pP6V71q7dsMLoDWFOfKZZCSrISBqDMRtvTu3idaS9tLTXQptKmfLBYqCSAZCknkZIjxp8krgwRh8RztuNElCxZirZixJzNrrOvSRzpnxMRgXjY3gw8mVDS3CcMW6+nc1h0O6N4Tup5HcGAeRLbiGMFkLhnVXRCpOYHMRvliQKyuPf3yOpPgqGprZLTMYAJPQCfsqx8X48t1VRcPaRUnLA116kQD5EGlL40nSdOijT0GlM36CqPqNcMbKYb2dwvLOHZYEyFjedOVAYzEqwCoIUbTQuRj4ee/oKkFgaT/5qTaNEcUn2CP9o32UWwz5VEAL08cu/wAaHGGbmVHxk/LT50TawxIJVdBvtzo+9wqHRLTi+zqDltqxMndIGpI8KV5Sy6ZdxfbwK7mW/PSi0twNBA8KIxOI1yJaFrQBwZJLLu3f1UnmBFeIgI6RvJ+zrS6m+RJYtPBGbde+zqQiti1GiZEVHhWBYqREnapgvKubo5KwSKxUnQa1OzqN/lsPM7UDexsHubeg/E/Khqvgbw33JL+DUe8Y8iNPMbD7aG/Wsu2sc+VQXLpO5/D4DlURNFL1H1VsiW5fLGWMmtJJ2ojDcPZtToPmfIUwt2wghR5nnXOSQvILhuHc3P8AVH3mmNq3AgaDw5VJZSYJogAaipOVjpESIBUvtyIitGbWoG10rlYGFfrH50/CsoHN4D8/Cvae2JsXgP4fny5/6Vguxv6j8KEz66GK2RidtDzHX41sIE7XCdTy/Pl1qq9pMDnJcCYGp5/GrEzfjoPDrQl95U8/LT50Dmtii4TChnUOCB9U7a6eulMf2ZjaiOO8P7qugLEAEkaxtoRy/wBKBsTdSdcy6R+FTnsPie5b+D8UN5NT3138f4qYB6o2AvNbYMv58KtlrEh1zD06HpXQmXnArvHsFBNxNH2kGJG0elIsZde62ZxDZQDruQImrLxC5OnjR/Aexr4li97PatDbu95z/ADy6t8B4QWVrYrLDFpSZRBhxz1qVUjbQV0/BfoqMzdxAK9Lad4/FpC+hqwXf0b4E2vZqrq+4uZyWmCNZ7sc4AFFybAlCPBxYWe7m8YrCNKdcc4JcwjNZujUGQw2ZeTL4fYZFKiu1T1GhLYO4fhDcDQJhZgdBUvBsc1i4blu4bVxVORgobU6RqCBIJ1rzhF4rmIMSI06ULfTXQzQsNeo97U8Ss3shXDi3c1Nx8+Y3GMSzEiTz360ie+WEUVh+GXnAIR8pIAYqcs/zRFTLwzJfNq9oRvB09aDmkthVH1F9tjzNFWADt+fPpXnEHRfdpVcxPQfGmjKTJzxQ54Gd6+F6fd6/hQOI4iToPwH4n40C7k7ma1mqKPqStLym7uTufz5VoTW1u2WMASaZYbho3fXw5etFtITkAw2GZzpt1O1NcLgUXXdusbeQ5UTbTSBt0+yiVtRE/npvvU5TsKQOEJP5/PKpraDUxXpEnf4ela59DP58KUY9IrSfz/5rxngCfz60FgceLkxp4eHLr0oqLqxXJXQSx0/P31E7/ma9uvQ7HSmSFbJ8/jWULnrKahLLfYOaCefT8+FSAySP/PrWVlbGRRobhkjSI6dajc92diNdPKvaykGBXwwYSZnqDHWgcLhFUNA21166b1lZUpcjxNMZaCuQNBUmAuENHJt/QmsrKQ1R4Lh+jZB+uNIki0xB6HMlX3EHZjqZ51lZU/7TsnnCU2qndocbct2y6u2cvlmdhqe7yG0V7WUmd0kHp1cigX8U2IfJdJIJOsy0wTMmTypCxrysotFccm9VkttqbdlbYbF2QwDAuJBEg+YrKypyLdjtXbchMGcgAiIAGggjauEdpcc7XC5PePOsrKf/coyYtsViMsTqda1NZWVcmzU0RgLAdwpmD0rKyulwKx0qBRAAA1+zrW9gT4fk9fKsrKh2Cie3pEc6kRvs/D8aysoDEdszNaWWkmsrKYAr4piGXY+6JHnIAPwnTxpeq5LFu4ujTB6EEnesrK0x8qM0vMxpPPyoDFXiAYjesrKSPI0uAD9abqaysrK0UjPqfqf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5" name="AutoShape 7" descr="http://upload.wikimedia.org/wikipedia/commons/f/ff/Babbage_Difference_Engine_(Being_utilised)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7" name="AutoShape 9" descr="http://upload.wikimedia.org/wikipedia/commons/f/ff/Babbage_Difference_Engine_(Being_utilised)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8229600" cy="4525963"/>
          </a:xfrm>
        </p:spPr>
        <p:txBody>
          <a:bodyPr/>
          <a:lstStyle/>
          <a:p>
            <a:r>
              <a:rPr lang="en-US" dirty="0"/>
              <a:t>Babbage’s Differential Engine </a:t>
            </a:r>
          </a:p>
          <a:p>
            <a:r>
              <a:rPr lang="en-US" sz="2400" dirty="0"/>
              <a:t>This machine used the decimal number system and was powered by cranking a handle. To approximate logarithmic and trigonometric functions, by polynomials</a:t>
            </a:r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590800"/>
            <a:ext cx="5486400" cy="3976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IN" b="1" dirty="0"/>
              <a:t>George Boole (1847)</a:t>
            </a:r>
            <a:endParaRPr lang="en-US" b="1" dirty="0"/>
          </a:p>
          <a:p>
            <a:r>
              <a:rPr lang="en-US" sz="2200" b="1" dirty="0"/>
              <a:t>Boolean algebra</a:t>
            </a:r>
            <a:r>
              <a:rPr lang="en-US" sz="2200" dirty="0"/>
              <a:t> is the subarea of algebra in which the values of the variables are the truth values </a:t>
            </a:r>
            <a:r>
              <a:rPr lang="en-US" sz="2200" i="1" dirty="0"/>
              <a:t>true</a:t>
            </a:r>
            <a:r>
              <a:rPr lang="en-US" sz="2200" dirty="0"/>
              <a:t> and </a:t>
            </a:r>
            <a:r>
              <a:rPr lang="en-US" sz="2200" i="1" dirty="0"/>
              <a:t>false</a:t>
            </a:r>
            <a:r>
              <a:rPr lang="en-US" sz="2200" dirty="0"/>
              <a:t>, usually denoted 1 and 0 respectively. </a:t>
            </a:r>
          </a:p>
          <a:p>
            <a:r>
              <a:rPr lang="en-US" sz="2200" dirty="0"/>
              <a:t> </a:t>
            </a:r>
            <a:r>
              <a:rPr lang="en-US" sz="2200" b="1" dirty="0"/>
              <a:t>elementary algebra</a:t>
            </a:r>
            <a:r>
              <a:rPr lang="en-US" sz="2200" dirty="0"/>
              <a:t> uses values of the variables are numbers &amp; operations are addition and multiplication, </a:t>
            </a:r>
          </a:p>
          <a:p>
            <a:r>
              <a:rPr lang="en-US" sz="2200" b="1" dirty="0"/>
              <a:t>Boolean algebra  </a:t>
            </a:r>
            <a:r>
              <a:rPr lang="en-US" sz="2200" dirty="0"/>
              <a:t>operations are the conjunction </a:t>
            </a:r>
            <a:r>
              <a:rPr lang="en-US" sz="2200" i="1" dirty="0"/>
              <a:t>and</a:t>
            </a:r>
            <a:r>
              <a:rPr lang="en-US" sz="2200" dirty="0"/>
              <a:t>(∧), the disjunction </a:t>
            </a:r>
            <a:r>
              <a:rPr lang="en-US" sz="2200" i="1" dirty="0"/>
              <a:t>or (</a:t>
            </a:r>
            <a:r>
              <a:rPr lang="en-US" sz="2200" dirty="0"/>
              <a:t> ∨), and the negation </a:t>
            </a:r>
            <a:r>
              <a:rPr lang="en-US" sz="2200" i="1" dirty="0"/>
              <a:t>not</a:t>
            </a:r>
            <a:r>
              <a:rPr lang="en-US" sz="2200" dirty="0"/>
              <a:t> (¬).</a:t>
            </a:r>
          </a:p>
        </p:txBody>
      </p:sp>
      <p:pic>
        <p:nvPicPr>
          <p:cNvPr id="1026" name="Picture 2" descr="http://upload.wikimedia.org/wikipedia/commons/thumb/a/ae/Vennandornot.svg/500px-Vennandornot.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4114800"/>
            <a:ext cx="3886200" cy="1336853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5486400"/>
            <a:ext cx="479969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Herman Hollerith (1880) – Punched Cards</a:t>
            </a:r>
          </a:p>
          <a:p>
            <a:endParaRPr 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438400"/>
            <a:ext cx="2905656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2819400"/>
            <a:ext cx="3831101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IN" dirty="0" err="1"/>
              <a:t>Konrad</a:t>
            </a:r>
            <a:r>
              <a:rPr lang="en-IN" dirty="0"/>
              <a:t> </a:t>
            </a:r>
            <a:r>
              <a:rPr lang="en-IN" dirty="0" err="1"/>
              <a:t>Zuse</a:t>
            </a:r>
            <a:r>
              <a:rPr lang="en-IN" dirty="0"/>
              <a:t> (1938):Automatic Calculating Machine based on Electromagnetic mechanism</a:t>
            </a:r>
          </a:p>
          <a:p>
            <a:endParaRPr lang="en-US" dirty="0"/>
          </a:p>
        </p:txBody>
      </p:sp>
      <p:pic>
        <p:nvPicPr>
          <p:cNvPr id="50178" name="Picture 2" descr="http://www.edwardbosworth.com/My5155Textbook_HTM/MyText5155_Ch01A_V06_files/image05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590800"/>
            <a:ext cx="4657725" cy="31146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56792"/>
            <a:ext cx="8178800" cy="4386808"/>
          </a:xfrm>
        </p:spPr>
        <p:txBody>
          <a:bodyPr>
            <a:normAutofit/>
          </a:bodyPr>
          <a:lstStyle/>
          <a:p>
            <a:r>
              <a:rPr lang="en-US" dirty="0"/>
              <a:t>Late 1940s and 1950s</a:t>
            </a:r>
          </a:p>
          <a:p>
            <a:r>
              <a:rPr lang="en-US" dirty="0"/>
              <a:t>Stored-program computers</a:t>
            </a:r>
          </a:p>
          <a:p>
            <a:r>
              <a:rPr lang="en-US" dirty="0"/>
              <a:t>Programmed in assembly language</a:t>
            </a:r>
          </a:p>
          <a:p>
            <a:r>
              <a:rPr lang="en-US" dirty="0"/>
              <a:t>Used magnetic devices and earlier forms of memories</a:t>
            </a:r>
          </a:p>
          <a:p>
            <a:r>
              <a:rPr lang="en-US" dirty="0"/>
              <a:t>Examples: IAS, ENIAC, EDVAC, UNIVAC, Mark I, IBM 701</a:t>
            </a:r>
          </a:p>
          <a:p>
            <a:pPr algn="just">
              <a:lnSpc>
                <a:spcPct val="90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153400" cy="936104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First Generation (1946-1957): Vacuum Tubes</a:t>
            </a: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90000"/>
              </a:lnSpc>
            </a:pPr>
            <a:r>
              <a:rPr lang="en-US" dirty="0"/>
              <a:t>1943-44: John </a:t>
            </a:r>
            <a:r>
              <a:rPr lang="en-US" dirty="0" err="1"/>
              <a:t>Mauchly</a:t>
            </a:r>
            <a:r>
              <a:rPr lang="en-US" dirty="0"/>
              <a:t> (professor) and J. </a:t>
            </a:r>
            <a:r>
              <a:rPr lang="en-US" dirty="0" err="1"/>
              <a:t>Presper</a:t>
            </a:r>
            <a:r>
              <a:rPr lang="en-US" dirty="0"/>
              <a:t> Eckert (graduate student) built ENIAC (Electronic Numerical Integrator and Computer) at U. Penn.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1944: Howard Aiken used “</a:t>
            </a:r>
            <a:r>
              <a:rPr lang="en-US" dirty="0">
                <a:solidFill>
                  <a:srgbClr val="FF0000"/>
                </a:solidFill>
              </a:rPr>
              <a:t>separate data and program memories</a:t>
            </a:r>
            <a:r>
              <a:rPr lang="en-US" dirty="0"/>
              <a:t>” in MARK I computer – </a:t>
            </a:r>
            <a:r>
              <a:rPr lang="en-US" i="1" dirty="0">
                <a:solidFill>
                  <a:schemeClr val="tx2"/>
                </a:solidFill>
              </a:rPr>
              <a:t>Harvard Architecture</a:t>
            </a:r>
            <a:r>
              <a:rPr lang="en-US" dirty="0"/>
              <a:t>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1945-52: John von Neumann proposed a </a:t>
            </a:r>
            <a:r>
              <a:rPr lang="en-US" dirty="0">
                <a:solidFill>
                  <a:schemeClr val="tx2"/>
                </a:solidFill>
              </a:rPr>
              <a:t>“</a:t>
            </a:r>
            <a:r>
              <a:rPr lang="en-US" i="1" dirty="0">
                <a:solidFill>
                  <a:schemeClr val="tx2"/>
                </a:solidFill>
              </a:rPr>
              <a:t>stored program computer</a:t>
            </a:r>
            <a:r>
              <a:rPr lang="en-US" dirty="0">
                <a:solidFill>
                  <a:schemeClr val="tx2"/>
                </a:solidFill>
              </a:rPr>
              <a:t>”</a:t>
            </a:r>
            <a:r>
              <a:rPr lang="en-US" dirty="0"/>
              <a:t> EDVAC (Electronic Discrete Variable Computer) – </a:t>
            </a:r>
            <a:r>
              <a:rPr lang="en-US" i="1" dirty="0">
                <a:solidFill>
                  <a:schemeClr val="tx2"/>
                </a:solidFill>
              </a:rPr>
              <a:t>Von Neumann Architecture – </a:t>
            </a:r>
            <a:r>
              <a:rPr lang="en-US" dirty="0">
                <a:solidFill>
                  <a:srgbClr val="FF0000"/>
                </a:solidFill>
              </a:rPr>
              <a:t>use the same memory for program and 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Electronic Numerical Integrator And Computer</a:t>
            </a:r>
          </a:p>
          <a:p>
            <a:r>
              <a:rPr lang="en-US" dirty="0"/>
              <a:t>Eckert and Mauchly</a:t>
            </a:r>
            <a:endParaRPr lang="en-GB" dirty="0"/>
          </a:p>
          <a:p>
            <a:r>
              <a:rPr lang="en-GB" dirty="0"/>
              <a:t>University of Pennsylvania</a:t>
            </a:r>
          </a:p>
          <a:p>
            <a:r>
              <a:rPr lang="en-GB" dirty="0"/>
              <a:t>Trajectory tables for weapons </a:t>
            </a:r>
          </a:p>
          <a:p>
            <a:r>
              <a:rPr lang="en-GB" dirty="0"/>
              <a:t>Started 1943</a:t>
            </a:r>
          </a:p>
          <a:p>
            <a:r>
              <a:rPr lang="en-GB" dirty="0"/>
              <a:t>Finished 1946</a:t>
            </a:r>
          </a:p>
          <a:p>
            <a:pPr lvl="1"/>
            <a:r>
              <a:rPr lang="en-GB" dirty="0"/>
              <a:t>Too late for war effort</a:t>
            </a:r>
          </a:p>
          <a:p>
            <a:r>
              <a:rPr lang="en-GB" dirty="0"/>
              <a:t>Used until 1955</a:t>
            </a:r>
          </a:p>
          <a:p>
            <a:endParaRPr lang="en-GB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548680"/>
            <a:ext cx="7866456" cy="1080120"/>
          </a:xfrm>
        </p:spPr>
        <p:txBody>
          <a:bodyPr>
            <a:noAutofit/>
          </a:bodyPr>
          <a:lstStyle/>
          <a:p>
            <a:r>
              <a:rPr lang="en-GB" sz="3600" dirty="0"/>
              <a:t>ENIAC – background</a:t>
            </a:r>
            <a:endParaRPr lang="en-GB" dirty="0"/>
          </a:p>
        </p:txBody>
      </p:sp>
      <p:pic>
        <p:nvPicPr>
          <p:cNvPr id="7172" name="Picture 4" descr="ENIAC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2320" y="3657600"/>
            <a:ext cx="360068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7239000" cy="4649688"/>
          </a:xfrm>
        </p:spPr>
        <p:txBody>
          <a:bodyPr>
            <a:noAutofit/>
          </a:bodyPr>
          <a:lstStyle/>
          <a:p>
            <a:r>
              <a:rPr lang="en-GB" sz="2400" dirty="0"/>
              <a:t>Decimal number system used (not binary)</a:t>
            </a:r>
          </a:p>
          <a:p>
            <a:r>
              <a:rPr lang="en-GB" sz="2400" dirty="0"/>
              <a:t>20 accumulators of 10 digits</a:t>
            </a:r>
          </a:p>
          <a:p>
            <a:r>
              <a:rPr lang="en-GB" sz="2400" dirty="0"/>
              <a:t>Programmed manually by switches : </a:t>
            </a:r>
            <a:r>
              <a:rPr lang="en-US" sz="2400" dirty="0"/>
              <a:t>programming by Plugging and Unplugging of switches ,Results were punched on cards or printed on type writer</a:t>
            </a:r>
          </a:p>
          <a:p>
            <a:pPr lvl="0">
              <a:defRPr/>
            </a:pPr>
            <a:r>
              <a:rPr lang="en-US" sz="2400" dirty="0"/>
              <a:t>18,000 vacuum tubes</a:t>
            </a:r>
          </a:p>
          <a:p>
            <a:pPr lvl="0">
              <a:defRPr/>
            </a:pPr>
            <a:r>
              <a:rPr lang="en-US" sz="2400" dirty="0"/>
              <a:t>30 tons</a:t>
            </a:r>
          </a:p>
          <a:p>
            <a:pPr lvl="0">
              <a:defRPr/>
            </a:pPr>
            <a:r>
              <a:rPr lang="en-US" sz="2400" dirty="0"/>
              <a:t>15,000 square feet</a:t>
            </a:r>
          </a:p>
          <a:p>
            <a:pPr lvl="0">
              <a:defRPr/>
            </a:pPr>
            <a:r>
              <a:rPr lang="en-US" sz="2400" dirty="0"/>
              <a:t>140 kW power consumption</a:t>
            </a:r>
          </a:p>
          <a:p>
            <a:pPr lvl="0">
              <a:defRPr/>
            </a:pPr>
            <a:r>
              <a:rPr lang="en-US" sz="2400" dirty="0"/>
              <a:t>5,000 additions per second</a:t>
            </a:r>
          </a:p>
          <a:p>
            <a:pPr lvl="2" eaLnBrk="1" hangingPunct="1"/>
            <a:endParaRPr lang="en-US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ENIAC - details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16386" name="AutoShape 2" descr="data:image/jpeg;base64,/9j/4AAQSkZJRgABAQAAAQABAAD/2wCEAAkGBhQSERUUEhQUFBUVFBQUFRUUFRQUFRUUFBQXFRQVFBQXHCYeFxkkGRUVHy8gJCcpLCwsFx4xNTAqNSYsLCkBCQoKDgwOGg8PFywkHB0sKSkpKSkqLCkpKSksKSwpLCwsKSwpKSwsKSkpKSksKSwpLCksLCkpKSkpLCkpLCksKf/AABEIAL0BCgMBIgACEQEDEQH/xAAcAAABBQEBAQAAAAAAAAAAAAAGAQIEBQcDAAj/xABHEAABAwIEAwQHBAYIBQUAAAABAAIRAyEEBRIxBkFREyJhcQcjMoGRobEUQsHRUmJyssLwJDNzdIKSouElNFNk8RVUk6PD/8QAGQEAAwEBAQAAAAAAAAAAAAAAAAEDAgQF/8QAKREBAQACAgIBAwEJAAAAAAAAAAECESExAxJBBCJRBRMyQmFxgZGh8P/aAAwDAQACEQMRAD8A1mEqWF5YQJC9CVeQZsJITikKCMheSleAQRISEJxXoTBhC9CdCUNQDYXoT9KXSgOcL0J+lLpQDQE9rUkJ4QZ7QntTWhPCAcE4JAnBAKAlhIE6EGbC9CdC8gGwkT0kIBpCbCekKA5kJpauiaQkHItTdC6lJCA4ry8kcUApKr8TndNnMu/Zgj3uJDR8VD4ozY0KJcGl3LYlrf1ngbj5LL8bm5c8ydZBs46nh0AmADAaP2QB5qWWerp3/TfQ5+fG5TpoGJ9ILGiW0i7w7RgPwAPTqozvSQGgGphazQQLztO0y0QfBBOWZ+KdRj3AxIkN0nuz3omDtqtZFuY8eYfGEiqatOk0ghrG998bEuu1lyfHoW3J3jZfl15/p1w7wtXGXcfYWqY1Opno9hi3iJRDSqhzQ5pDmnYtIIPkQsoz7NcFU/qaVSk4TFQVDJ8TNzPmufDOY1MPp7Oo4OJM0ng6HtBgOa7ZwmR1BG6XvNpeT9Ovr7Y7n8q15IVwwOOFVmoWOxHQxPwPJNxuK0Nnn/N1vbybLLo+vi2sHeIHTqfIC5VXieKWt9lhPi5wb8hJQ1mec6ibxPPmVQ4vMo5f5hvKxu3pqYjR/HYB9hn+Z35J9D0hUSYc2PFrgfkQEI4fMW1cFUoAU21KuIo02VHaAWsfeo6Xcg2mfjG5CtMfkOTswwDnvc5ontKZJquLvvOLLRaw2CpMb+W/2Y5wGa0q39W8E9Nj8OfuUvSvnk5w7C1ScNVfUpA2FTSHAebSfjZbLwbxSMXSaSbkWPPxB8UdMXHQhhKAnQvaUMHAJ4CaAnhBlCckCcEAoSpEoQZV5IvIN5IllIgiJEpTSUB5NSykSBISQlSICMkKVI47pEiOF/kqnG8IYWo7UaQa79KnNO/iG2PvCuTuUxz0rJe1cPLn47vDKz+l0D6/o2bfsqgm/wDWN1bgjcGP9PX3cz6OD3bsOmRckyIOgAOBjTPvRXXx4aDdUuO4ojb5eCxrGPRw+v8Aq8v4t/2U1fgKrILG0mluxGi4mB3TYmJuR05hcKPo5rw3U6kDLnOcXueZPk2/I73lXFDiokwVe4XMA8ImONay/UvqcZq6/wAOmQ4E0qYpufrLfvadNukSehVLxNiD2rgQS1gAAmBcSTbxKIsM/vkeCG+JqpD6onkD7iz/AMrWXTy/a5ZW3ugXO8VDZkc7cxEb+c8uhQJmFXXpdBuXCD3gYDbgRznxRJxHiyRFzAgeAvI+ZVPgD3f8BP8A9kfQJxTCJGT5Roq06jqjXCRIa0jlJBkBRamWEHdsciBJvB/FWuFeA1h6Ry3XGuLfDr06e5a2rpSnCS4hpAN9zGzdR3O8Cw3OwvZaD6JsfpaGzB1vAkm59ru+6bIJxwDYqS1ztUFhBMBsEap3B6Iq9HxBdQADf+Zqv5gwKL22i0SJ8yi3hjLHhvLTIB63SptH2R5D6JyHIVC2F4+D6tRgolraYJ1OqDUYkewBbl97mih5t+azHK8PVD6rjRaJploLqrxMOn7tJwv/ACUvlbx4y9tHyXNm4mi2q0FodIgxIIMG4U8If4FolmCptc3SQXyJDvvdQiAJp3ilShIlTDy8uONxjaVN1R5hrRJMTbyCi4LPqNVzWMdLn0zVAj7gcGmTsDJ2QeqnpCU5NQRCmlOKakCLy8kKCelNlKUiDRpTXusfJOXGq7dFJwe/vfD6KHmeM0iZi30Xau/vfD6If4kqS1wF+6RExyKxapjN1R43ifDucQ6riZBIIa2gGgixguaXRPVV1TiDBj/3J86tJv7rE1/DbT39nOMangVdRmS4sqAgm3TnumYjIHaCDVAtfRh8NT+BawEe4rOo9TDyWTWKNh83bUxDuz1ikWMgPf2hDw6CZgblw5ckZZLiiIBQ1hclYxwLJcRc63EmbgEEz48hyur/AAggp8TpHzX2nIlw+K9c3xB+hVFxhW01SeTmMnlsXA/Jdm4qKlM+J+hUTicanUz1a4fAgorhnbNs70kdHajcmxbA0gCPamed5261eBxAG4d/VwS0gbvceY6wFfYrKXVGvcBZjwJOwnqqbD4Ut1AiC2mB4/1hnz5pr49LAAaYbOloaRJvO8EDmF1qtbubA8hJHQbkmLrhg6ENMCxuJ8Sb+Oyk4hsibAGOljPVabUWMpXkw2SbmYkDVAIG8QPNw2RZwJidNTCtgAuNRxNpOvXyVRTympi3EUy3TSa919uRIEC52HSY6q+4dy/RjsIP1Wn3ljkM59NwZsPILjj8YKVNz3bNaXHxjYe82XUFUPGNQ/Zywbvc1vuB1H6D4ocU5ocbn76z5cedgNh5BFWTYrqJQhlOVEG6NsqwQhVjpLmONi4EHqLKRkua9s0g+02J8Qdj8lwzXBWsoHDDCys4Hmw/Ij/dKs5zgUpZSBVGd5n2YABDS6ACdhJ5/M+4rCUJxUw1MNUptDiXiJaC4ASCSVScNZL2NalUlzvUGmYZ7OpwMmCY2Q7nGZ665a+uG0m0HVCXwW9oaZLaffsZcYj9VPZxGaFCW0cHUcz2CWhlRzO10NLQ0d4gEO5WuURacTTUQ5ISqLLcyqaKbqzqcvY1xDWuHtCdpMC+8q6DpEoRs0WUhK9KQoJ6Ui8vIBEkpUiAhly5PKeVyeEqIh4r2ihvNKlyiHG+0UN465PmsVbC8qh+HLqoBMCATHPe3huutaiQO7bl5yNjNviphqF2kQbargdNJEnlzCsMPkZc4gOsC0uJ1SBMezzcXaQBK1Mbel/ZTYOlvO+56XJjTN+qmTC9VI7R7GzFN2kyWkyJHLlOo+9NqBZrFyebU77P24+MqRnrJZTPRxHxH+yhUz3m/tt+qss2bNLycD8/90fCN/eAjcwdSL2fcqFutvi24cOhH0JQ7muI0l+k3LWg2BENeRzHVXmZ04e7z+SHMcJc8cuu8Aum/Pf6pyL45fD2Ws1PYST7TfjMn8FyzFg1uA5yffJ5J2UtOpgcDJcW2662e7a3L2l0zSl6xwtIL7iTLQfZM7RDtufxVDWeT58aNKuWmKlRoY2LaS51N/aCOY7P93xRJwtixUzDDgctLf8AKwn6EIGp0ZjzHyH/AIRT6MqZdmVMnkKrvgwhLTHkv2tzL4CA894gD6pAPdaS0e7c+8/gjDHVYYY3g/GLLEKeMJd9UTtDxxo2W45tkW5bjmxcrLMtqmyI6GNDG6nua0bS5waJ5CTZVWG2OxjCFRtzEU6gd0N/EGx+So6mcNcDoqMd+zUa76HxVZXx5lKhrbagIkbESPIqmzRjC7U6SIjTMA+cXPkmZTjT9kpOO+j6EgfKFAzavs2bxf33U652ecWaTVrloABcIAAAtpaNkzW4OoOESxuoAgRLTIsQfopWYkEvP6979XoxwX2Z+DY0imamh0Du9oXSTPtTp25bKs6XnRnDWVONKnVlwc6Xulw0Fx1NkU2iBAJgAAc9wEZ0Gw0DwCpMgj7LSjbSY8tbleUvZHkpfKNu6ckUbMsxZQZ2lV2hgLQXEExqMbBPwmKbVptqMMte0OabiQdje6CdUi8U1AOKRIkQEMrm5dCmvalSVuM3Pkh3FHvFWXFGZnD0+0DdUnTHidvoUHsznEVDJFOmHbN0a3eM7RAjrusWrY428wR4OkA0k/eIA6925Vo3ENDCdTRLwTqMewe6YBknU6w8EN4elVeBNYwC72BTAvbctPTZTDlWoAOq1IBnemDNujPAJzOKSVHoka3wBLnGTzJBLv4iujikflEXbVqgzv6s/I0z0Cp89xdXD0y9tXVAs17KcG4/RDeqz7TbNxs5WrGd5v7TfqFa41k0yFScJY11emaj9Mh2kBkxsHSQdj3vHZEVVstWkbeWeZzS758/z/NC1bCkuPQXPkD+aN8fQl7p3uqKjhNVTQCGlxDdTtgx06nE9G3KeKmN5V+AwrRWp6gdIqNe+TLS0luougSGx0UvO6DDicQaTW6TXraCJgt1kgt/VMhOw1nS5jiBybJLh4wO602+O6iVsaWl+ppEOkwTZpAgaja63vhbVIzBw4NAEBtyHF0uIBJnYjbZFfo2wunGg9KNU/HSPxVNl1A2nbYe4Tb4os4HoacQ89KMf5nt/IpIeS7GWZYmGLFmCKrvMj4Fapn+JimfcspdPbnpM/Gf596Mey8QmywmyvMZln2ig6jq06wLxq2cDtI6KjyobIgZU9ZTZyc2pLb97u7GPJ29vPlVUGZjw02sazqdVr+0qBw9W7uhnslsOIe2CQCd+Q2XHAZU+lU7xZpa6q+GahPaj9HSAI0tEDZGGbYNsDSA27QdDWDu3se7sASPeqh1OazWgXquANz+k1o8B7SKGlMp6KFJn6LKYPwE/OULZ5jhqeSTueRPMdNv90UZ5W0tJ6EfVZfVz5tc1iQWaalQXIIJB6qFc85PfSpVKbia2l7nwG94CBB1aogHXqEH4qRRy6SfXgkNimXPptbADiTYc2gRfcqsw1YDU7U0AlwguH3jqbDZk90AoiweMp6SHOY4FnId4ghwdbrMn3p7q29Dbh7SMPTYHNcWsAs4G+7hY9SVJxefsoUajzfQ/QB+sWNdHldVnCpb9nZp0GKYBLQ0RpMAW2MSD5Kj4qwz6mCqim4NcKzq1+YJawCeRsjafyfj+OmEetqUo7SGtJiCw3eGNk2dEEm5BjZcM59JGGw7AcPXe9wFqXZ6WXNw5zrDnsDPvlZhTyao6NQM8yXDTOqdgDI3/JXeH9Hr65YdTWMc9lOdbi4F9g7RpuJjchOaV3jpsHCXEzcdhm1miJs4dD4X8D8Fcqh4J4aZgcP2THufeS50C9zYchcoglJGmpISkpEyRE1ycmOKRBTjt5GGkRIeDfl3XCUE5SHOcCXmdJHdYNjE3dqPLkjjjQTh4mO+LjycgXLcrBcBDojVIMgzbnMGw25KOXbo8fQiwVEUmAa6gHQ6QZPkBJ8VNotZqDtftNh3riD3ZLbB3i74qHh8tY2O6G8wSG28y7fdTPt9Kk3vVKc7e1TH1KUVnbpWdTN+1jyrvH8aGOKGMdTkVCb/APU1/CSeamZjjxWr0j9opsoMGtwbWY0ucD3Wuh0x/PNRuIKmHxFPR2tEmQ5p7RntNNiSD1R1WvJhJJz3/pK9Hz/UVLyO1sbDdvQeSL+yliCPR+fV1hAEVG2EWkHojnD+yrOC9g3Ow1jpkCSfa6jf6oZxzw54PcaOekx8iU30vCG0T+u8f6Qs2qJ447i2H5adhK4GnvAwZNmu38942hRc6eKjmNYzS0NAefZ1nxAFue8oDyt3rGx+k36q+9JDAzM8W0CAK7wBsAOgHRb9FZkOX5mynTA7jYaPZAJJIDtRcXF03v0uLbI14bywUaAP36gD3k73Etb5AH5lfNrXW96+juEj/wAPwv8Ad6X7gRcdIeVH4if3D/PMLO3t9cfNaDxEfVn3fVZjWzMjE6Rpg1GtvvBcGmL73mwO3SYzj2XjGmU0zZXuLwTixr2AF9Ih7ZbqJA9treYLmyLXvEhVOUO2RTRqANVVg1Xzqm4GSWkOLSCCYcLQCBDp5degUfIGmpjaBgx2jdMiDpZL3Eg3uW/IJmL+0ue4EEDtqsvc5r29nJNHs2BwLYaA0i0mJ1XVjw84fbafgKh+FJyVLLpe8ZZh2dFx6R9Vj9Svpq1gRIZXe6L/AHoIIggyNK0r0guBoPnaCspbxBSpV3GtTNRx7MnQ7QJDQZBJ3MjlG6lO0/H2t6dAw0tLNJjS5s1Wm8mYHcO4h0Gx81OxdJ4ZTs06qTXwGkkBznAagPZJ0i3ihuhxPhmPLmU67QZlssc2OntC23wRDjOMsMAxwZWbLBAIFQRyDS58jbqVX46Wq74a4qZTq0qQouY+p6t7u01a5PdLmESCCD8Vd4nFaqT4+9TkeXbiPks6yziHBCu2qH1Q5ri5ofT7kwd9EmOa0fGUWilDDqb9mYWuuNQLqRDoNxMz71Go+ScqPKDSDWCrSe95frloBLmtcJptBcC5unUbDdFGW4imyA5uktdS1S1rIeHatRa1xDC1pB3+6Ss4xVYU8VTcWahorMc3u+zUpGnI1Ag3fsQR1RZwvo7F4DTAxTXCSB7dSgHAhoAI8IA5Qta421xppGAqTOxHh16KXKiYJsF3881KSSvbxSSvSkTJGK5VCnErnUKQCHHlQjCOIJBDmkEe8fisExuZ1STNWofAvdy2tK3bj5/9EqebfqsAxQ7xRhOarh0dSqSb387/AFVvhgI5fJU+EZdW+GV429WVfiDbzU/EN6KvxFIpG0z0SOH2er/at/dWlUtllvojf3Kzej6Z+IcPwWntdZTy7cuXbKPS8+WU/Cofm0/ks0abLRvSse4z+1/hcs3Tw6Xw6SsvdD2no5p+aIvSa+c0xh/7h/TlA5eSGsIbjzCs+LcV2mKrPJ9qoT8QqNqkG3vX0hwp/wAhhf7vR/cC+cGOEe/6hfR/CJnL8J/d6X7gWcukfKicRj1bvKfgVlWMzLs6zrxB5/X4LVOKD6p/l+IWIcUf807yZ+6FjHseMaZbxPSETWYD+zUP0arlvFrCwuFZsAxznwNpAn4+AWO80d4QD/0Csef/AKhSA91Ek/VUWWWYcZ/oaXmb+sa0R1BIkz5BX3o2xD6+KfUc0MFKkbaw4l1Q6RYeAcsVO60n0FM/pmIP/bf/ALU0qzn0NPSK2cLU/Z/FYdnpjEO8NP7jVvvGFEOpOBEgiD5LJ+JMnphpeG96QJN57p3t4BYnCWF5Bjd0T8UUw0YYAtP9EozpIMe17VzB8LeSqsywLWUqLw2DUY5x3iz3st/lVtl3DrauKqUHveRTOkOFjYgbEkDmqb4WvAfwzu9HwW/4inGHp/3KkPgyifwQpwV6J8LisOK1V9ZriGWpuaI10KVTdwPOoRtyRZxW/swGsMAU+zE7adMCTBj2ReFLKp5c3QFpNL3FzmMcGu0tdqdJDriwcBaG8pJcifJHvu0U2saW64a15BfTaHF2pxuJpgxPXoqZuFgMmk10nU7vCA6CLjyhTGZhW0ACmRAIbpc4G4ePpUPPkFja9xmmsZc1wnUZMdAOm6mFDvCOPr1Qe2plulo71++SdvZFwBeOqIStRzZcUi8vFJKbKESuFZ9l1K4VtkgAvSVmIZh9BBOo6jBg907D3lYriMa2TFP4uJ+kLV/S9X0so/rFzfG97D3LHa29vldPBbDpMw+ZgH+rZ7x+aIcuz2Y9TSA6gX6+CGcBV0OJczWCCIMj326K0y894EjSJnvA6ff4KsaTcfnFSbNZHkZ+qp8Rm1Q8wPAD813zHFtLiA5pk/d9m/TwXPB5LUrDugG5BktF42ubckrTFHo7xVZuMptc/uVaZcWgNE2OkGBuLH3rY3bLM+EeGsS3EUqtQUg1hdYVJcGOAhoDW3gjcnn4LTnCylLdfc5/Jr24ZP6V2+qZ/a/wuWZytl9IHDdTE0gGFo0v196biCItzusszHh+pREv0+4z/O61hVMLwh4bl5hSc4fqqvI5lcW0i2Cee0ecfgU+sNZmYnr5SqbimkSV9KcHD/h2E/u1L90LKeGfRZ9qpsqOxGhrxqgUtTok9XALZcqy8UMPTotJcKTG0wXRJDREmLLOVQ8llU/EdHVTcBzCxfifBtFTtHOLSTpjTN2ADefJbfnIsVifGf3f26h+TVidjx9h14E2M+6FbNzbEDB9hEYd1btPYF6obp9vfaLKo0GyKsPh3Oypx/6eLB5WFSlBjnu0Ky4boUgT3nafdO/vWwehnh4sNbE6pY5vYNEQS4OY9x8rD4+CyGjhiT4St/8ARQ2MA4dMTUA/+OkfxWck8+knioerKzDicepPn/A4D5kLWuIKGphQDi8JyIkeN1NKXVAuf6XUcK0btpPDvAmtUcPk4K54daTjcS4f9V4HO+tx/JPxfCrariQ9zJMw0CPGPBFnBfCbaEnU55c7VLgJnwha3xpXLOWCr0dOH2Fmm4hg97aFFh+bSPcoPFPt+5FOBoBrYaAAOQAA6mw8SqDiPCyQVip27uwHg6MADnBbEEXLqro8baT/AIldYMamNAEy6uwRzHZ1g38LKUMEb+ICIOHsJphS9OVb5RVlrvU0/wCzp/uBdymU9k4qqRCmrxKSUyRCuNQLs4rhUKRIGLotO7WnzAP1QRxuIpwABcbABHNcoC46d3B5rNax7Y6wFz3bmdf5orovL6TT+kwfNt0PYBnfd4Of+ARFlzfVM8BHwJCotnOIDKgui7hNmlzh/Zu95aZQvXZFSPNGXDdKap/s6f1IRs8p9taVlJ7oV+fZVBlzYaFesPdCVcinzcdx3ksv4qZ7Pk78FqeaDuO8is04lpWb/i/BJTDsIVKI7MHqAee+sBTMVhQKpsLVDA5RpkWXnU/Vt9w/1Kwx1D1rv2x82J7dN7n/AH4aX6Oz/RaP7H4lGg2Ql6P6UYOgf1P4nItGydcl7UudUpaQdis/zHI2h+pjnNI8nCCINiN4j4LRM3HdKDsc26yeN0FqGRik8uY/ffVTpvt07wMe6F0wmXvpt0tqkN169PZsc0kAhpc18gwCVaVKaSlTutbb9qn5DwPSqv7R76mtwk6BSpgOsZa0U9I22iLrScl4eo4cE0WuaXyXTUqOBJiToLtIPdFwBsh3hxhEI0pbBJj2t7qvzGhIKD8wy49EeV6cqqxGAlIgXhsrJdEc0X5Xg9MLrRy0AzCssPRhMJFFllAzLB6grRgSVKcoMNU8u8Fa4HDwpAw66sZCRO7E5NalJTMhTUpSINEcVwqLs4rjUSZQq6BuNKcs8ro7rhCuf4bUI6rNOMYotirUHRzvnP5Ihyxvqm/4v3irLGcMUzJuHEjvtgG1tjIO66UMtDGho2HXfxJW9q5ZSwA5lSiuf2vxKN+BaGuo89GMHvLnfkpFPLQ54JbJG2/8lFeR5Qyk31bGs1HUdIiT1KCyz+3S0o0oAVrTHdUWnTU9jLJVFWY2lIKB86ygviIsTutEr0rKgxeEukcugJheFLFtR0ie7olpgOnvTz5WVyeGG1iZJbqLTLQJBafHqLK8ZgLq3y/ARdaaudvKVlGAbSptYxulrQGtFzAHibnzVikpNsnkIZVeYMkITx+GMo0xTJVJicL4JAKuwx6KTgsvJIVyMF4KwwWCjkmNpWUYWIRJTFlX4OlCsmoDxC5OpLvC9CDcuyT2sT4SgII4BeITgEulBuRavAJ5akIQCL0ry8UgaSk1LxKagIpcub04ppQSPWVHmdKVf1AqzGMSAXr4SQo9TCWV8aQTKtAICBgMDzIV9TpQAmYWgFOLNkyOosUxrbLlRapLQmEeoxV9bCSVbuauRphI1cMHcKdRpJ+i66tamHmhKQnALyAj1WKDUw6s3BcyxIK+nhFMo0F2ZTXam1AdKDFIaExgXQIMoTkgSph4BPASJwQCwlXgvJA0pqcU0pgiaUpKaSgGkpspSmpB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10350" y="3048000"/>
            <a:ext cx="25336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9" name="Picture 5" descr="https://encrypted-tbn0.gstatic.com/images?q=tbn:ANd9GcRK7e0I-7_5FRNidA1cyPH8ytV_Px0CmSpoN18FHrgSimdq9q1rhQ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05400" y="4914899"/>
            <a:ext cx="2352675" cy="19431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143000"/>
            <a:ext cx="7926172" cy="298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IAS </a:t>
            </a:r>
          </a:p>
          <a:p>
            <a:pPr>
              <a:buNone/>
            </a:pPr>
            <a:r>
              <a:rPr lang="en-US" sz="2400" dirty="0"/>
              <a:t>von Neumann and his colleagues  , designed in 1952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524000"/>
            <a:ext cx="658177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12775" y="260648"/>
            <a:ext cx="8153400" cy="958552"/>
          </a:xfrm>
        </p:spPr>
        <p:txBody>
          <a:bodyPr/>
          <a:lstStyle/>
          <a:p>
            <a:pPr eaLnBrk="1" hangingPunct="1"/>
            <a:r>
              <a:rPr lang="en-US" dirty="0"/>
              <a:t>Commercial Computers</a:t>
            </a:r>
            <a:endParaRPr lang="en-IN" dirty="0"/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Autofit/>
          </a:bodyPr>
          <a:lstStyle/>
          <a:p>
            <a:r>
              <a:rPr lang="en-US" sz="2400" dirty="0"/>
              <a:t>1947 - Eckert-Mauchly Computer Corporation</a:t>
            </a:r>
          </a:p>
          <a:p>
            <a:r>
              <a:rPr lang="en-US" sz="2400" b="1" dirty="0"/>
              <a:t>UNIVAC I</a:t>
            </a:r>
            <a:r>
              <a:rPr lang="en-US" sz="2400" dirty="0"/>
              <a:t> (Universal Automatic Computer)</a:t>
            </a:r>
          </a:p>
          <a:p>
            <a:r>
              <a:rPr lang="en-US" sz="2400" dirty="0"/>
              <a:t>US Bureau of Census 1950 calculations</a:t>
            </a:r>
          </a:p>
          <a:p>
            <a:r>
              <a:rPr lang="en-US" sz="2400" dirty="0"/>
              <a:t>Became part of Sperry-Rand Corporation</a:t>
            </a:r>
          </a:p>
          <a:p>
            <a:pPr eaLnBrk="1" hangingPunct="1">
              <a:buClr>
                <a:srgbClr val="DD8047"/>
              </a:buClr>
            </a:pPr>
            <a:r>
              <a:rPr lang="en-US" sz="2400" dirty="0">
                <a:solidFill>
                  <a:srgbClr val="000000"/>
                </a:solidFill>
              </a:rPr>
              <a:t>Birth of IBM and Sperry in 1950s.</a:t>
            </a:r>
          </a:p>
          <a:p>
            <a:pPr lvl="1" eaLnBrk="1" hangingPunct="1">
              <a:buClr>
                <a:srgbClr val="DD8047"/>
              </a:buClr>
            </a:pPr>
            <a:r>
              <a:rPr lang="en-US" sz="2400" dirty="0">
                <a:solidFill>
                  <a:srgbClr val="000000"/>
                </a:solidFill>
              </a:rPr>
              <a:t>1953-IBM 701 for scientific calculations</a:t>
            </a:r>
          </a:p>
          <a:p>
            <a:pPr lvl="1" eaLnBrk="1" hangingPunct="1">
              <a:buClr>
                <a:srgbClr val="DD8047"/>
              </a:buClr>
            </a:pPr>
            <a:r>
              <a:rPr lang="en-US" sz="2400" dirty="0">
                <a:solidFill>
                  <a:srgbClr val="000000"/>
                </a:solidFill>
              </a:rPr>
              <a:t>1955-IBM 702 for Business Application</a:t>
            </a:r>
          </a:p>
          <a:p>
            <a:pPr lvl="1" eaLnBrk="1" hangingPunct="1">
              <a:buClr>
                <a:srgbClr val="DD8047"/>
              </a:buClr>
            </a:pPr>
            <a:endParaRPr lang="en-US" sz="2400" dirty="0">
              <a:solidFill>
                <a:srgbClr val="000000"/>
              </a:solidFill>
            </a:endParaRPr>
          </a:p>
          <a:p>
            <a:pPr lvl="1" eaLnBrk="1" hangingPunct="1">
              <a:buClr>
                <a:srgbClr val="DD8047"/>
              </a:buClr>
            </a:pPr>
            <a:endParaRPr lang="en-US" sz="2400" dirty="0">
              <a:solidFill>
                <a:srgbClr val="000000"/>
              </a:solidFill>
            </a:endParaRPr>
          </a:p>
          <a:p>
            <a:pPr lvl="1" eaLnBrk="1" hangingPunct="1"/>
            <a:endParaRPr lang="en-IN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543800" cy="4525963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Replaced vacuum tubes</a:t>
            </a:r>
          </a:p>
          <a:p>
            <a:pPr algn="just"/>
            <a:r>
              <a:rPr lang="en-US" dirty="0"/>
              <a:t>Smaller, Cheaper</a:t>
            </a:r>
          </a:p>
          <a:p>
            <a:pPr algn="just"/>
            <a:r>
              <a:rPr lang="en-US" dirty="0"/>
              <a:t>Less heat dissipation</a:t>
            </a:r>
          </a:p>
          <a:p>
            <a:pPr algn="just"/>
            <a:r>
              <a:rPr lang="en-US" dirty="0"/>
              <a:t>Solid State device</a:t>
            </a:r>
          </a:p>
          <a:p>
            <a:pPr algn="just"/>
            <a:r>
              <a:rPr lang="en-US" dirty="0"/>
              <a:t>Made from Silicon (Sand)</a:t>
            </a:r>
          </a:p>
          <a:p>
            <a:pPr algn="just"/>
            <a:r>
              <a:rPr lang="en-US" dirty="0"/>
              <a:t>Invented 1947 at Bell Labs</a:t>
            </a:r>
          </a:p>
          <a:p>
            <a:pPr lvl="1" algn="just" eaLnBrk="1" hangingPunct="1">
              <a:buClr>
                <a:srgbClr val="DD8047"/>
              </a:buClr>
            </a:pPr>
            <a:r>
              <a:rPr lang="en-US" dirty="0">
                <a:solidFill>
                  <a:srgbClr val="000000"/>
                </a:solidFill>
              </a:rPr>
              <a:t>Multiplexer, Data Channel</a:t>
            </a:r>
          </a:p>
          <a:p>
            <a:pPr lvl="1" algn="just" eaLnBrk="1" hangingPunct="1">
              <a:buClr>
                <a:srgbClr val="DD8047"/>
              </a:buClr>
            </a:pPr>
            <a:r>
              <a:rPr lang="en-US" dirty="0">
                <a:solidFill>
                  <a:srgbClr val="000000"/>
                </a:solidFill>
              </a:rPr>
              <a:t>Concept of System Software</a:t>
            </a:r>
          </a:p>
          <a:p>
            <a:pPr lvl="1" algn="just" eaLnBrk="1" hangingPunct="1">
              <a:buClr>
                <a:srgbClr val="DD8047"/>
              </a:buClr>
            </a:pPr>
            <a:endParaRPr lang="en-US" dirty="0">
              <a:solidFill>
                <a:srgbClr val="000000"/>
              </a:solidFill>
            </a:endParaRPr>
          </a:p>
          <a:p>
            <a:pPr algn="just"/>
            <a:endParaRPr 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prstClr val="black"/>
                </a:solidFill>
              </a:rPr>
              <a:t>Second Generation (1955-1965) :Transistors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1781752"/>
            <a:ext cx="3224736" cy="2333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28800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Magnetic core memories</a:t>
            </a:r>
          </a:p>
          <a:p>
            <a:pPr>
              <a:lnSpc>
                <a:spcPct val="90000"/>
              </a:lnSpc>
            </a:pPr>
            <a:r>
              <a:rPr lang="en-US" dirty="0"/>
              <a:t>Floating-point arithmetic</a:t>
            </a:r>
          </a:p>
          <a:p>
            <a:pPr>
              <a:lnSpc>
                <a:spcPct val="90000"/>
              </a:lnSpc>
            </a:pPr>
            <a:r>
              <a:rPr lang="en-US" dirty="0"/>
              <a:t>High-level languages used: ALGOL, COBOL and FORTRAN</a:t>
            </a:r>
          </a:p>
          <a:p>
            <a:pPr>
              <a:lnSpc>
                <a:spcPct val="90000"/>
              </a:lnSpc>
            </a:pPr>
            <a:r>
              <a:rPr lang="en-US" dirty="0"/>
              <a:t>System software: compilers, subroutine libraries, batch processing</a:t>
            </a:r>
          </a:p>
          <a:p>
            <a:r>
              <a:rPr lang="en-US" dirty="0"/>
              <a:t>Examples: </a:t>
            </a:r>
          </a:p>
          <a:p>
            <a:r>
              <a:rPr lang="en-US" dirty="0"/>
              <a:t>IBM 7000, IBM 7094, DEC – 1957, </a:t>
            </a:r>
            <a:r>
              <a:rPr lang="en-US" dirty="0">
                <a:solidFill>
                  <a:srgbClr val="000000"/>
                </a:solidFill>
              </a:rPr>
              <a:t>PDP-1</a:t>
            </a:r>
            <a:endParaRPr lang="en-US" dirty="0"/>
          </a:p>
          <a:p>
            <a:pPr lvl="0">
              <a:defRPr/>
            </a:pPr>
            <a:endParaRPr lang="en-US" dirty="0"/>
          </a:p>
          <a:p>
            <a:pPr lvl="1">
              <a:buClr>
                <a:srgbClr val="DD8047"/>
              </a:buClr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875" y="838200"/>
            <a:ext cx="21431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1371600"/>
            <a:ext cx="1524000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6" name="AutoShape 2" descr="IBM 1400 Series Second Generation Comput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IBM 1400 Series Second Generation Comput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057400"/>
            <a:ext cx="7415213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0" y="1371600"/>
            <a:ext cx="9144000" cy="4953000"/>
          </a:xfrm>
        </p:spPr>
        <p:txBody>
          <a:bodyPr>
            <a:noAutofit/>
          </a:bodyPr>
          <a:lstStyle/>
          <a:p>
            <a:r>
              <a:rPr lang="en-US" sz="2400" dirty="0"/>
              <a:t>Literally - “small electronics”</a:t>
            </a:r>
          </a:p>
          <a:p>
            <a:r>
              <a:rPr lang="en-US" sz="2400" dirty="0"/>
              <a:t>A computer is made up of gates, memory cells and interconnections</a:t>
            </a:r>
          </a:p>
          <a:p>
            <a:r>
              <a:rPr lang="en-US" sz="2400" dirty="0"/>
              <a:t>Integrated circuit (IC) technology</a:t>
            </a:r>
          </a:p>
          <a:p>
            <a:r>
              <a:rPr lang="en-US" sz="2400" dirty="0"/>
              <a:t>Semiconductor memories</a:t>
            </a:r>
          </a:p>
          <a:p>
            <a:r>
              <a:rPr lang="en-US" sz="2400" dirty="0"/>
              <a:t>Memory hierarchy, virtual memories and caches</a:t>
            </a:r>
          </a:p>
          <a:p>
            <a:r>
              <a:rPr lang="en-US" sz="2400" dirty="0"/>
              <a:t>Time-sharing OS</a:t>
            </a:r>
          </a:p>
          <a:p>
            <a:r>
              <a:rPr lang="en-US" sz="2400" dirty="0"/>
              <a:t>Parallel processing and pipelining</a:t>
            </a:r>
          </a:p>
          <a:p>
            <a:r>
              <a:rPr lang="en-US" sz="2400" dirty="0"/>
              <a:t>Microprogramming</a:t>
            </a:r>
          </a:p>
          <a:p>
            <a:r>
              <a:rPr lang="en-US" sz="2400" dirty="0"/>
              <a:t>Examples: </a:t>
            </a:r>
          </a:p>
          <a:p>
            <a:r>
              <a:rPr lang="en-US" sz="2400" dirty="0"/>
              <a:t>IBM 360 &amp; 370, ILLIAC IV, DEC PDP8 and VAX, Amdahl 470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543800" cy="1219200"/>
          </a:xfrm>
        </p:spPr>
        <p:txBody>
          <a:bodyPr>
            <a:noAutofit/>
          </a:bodyPr>
          <a:lstStyle/>
          <a:p>
            <a:r>
              <a:rPr lang="en-US" sz="2800" b="1" dirty="0"/>
              <a:t>Third Generation (1965-1971) : Integrated Circuit</a:t>
            </a: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2590800"/>
            <a:ext cx="196215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Vacuum tube - 1946-1957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Transistor - 1958-1964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Small scale integration - 1965 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Up to 100 devices on a chip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Medium scale integration - to 1971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100-3,000 devices on a chip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Large scale integration - 1971-1977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3,000 - 100,000 devices on a chip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Very large scale integration - 1978 to date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100,000 - 100,000,000 devices on a chip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Ultra large scale integration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Over 100,000,000 devices on a chip</a:t>
            </a:r>
          </a:p>
        </p:txBody>
      </p:sp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Generations of Computer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Intel</a:t>
            </a:r>
          </a:p>
          <a:p>
            <a:r>
              <a:rPr lang="en-GB" dirty="0"/>
              <a:t>1971 - 4004 </a:t>
            </a:r>
          </a:p>
          <a:p>
            <a:pPr lvl="1"/>
            <a:r>
              <a:rPr lang="en-GB" dirty="0"/>
              <a:t>First microprocessor</a:t>
            </a:r>
          </a:p>
          <a:p>
            <a:pPr lvl="1"/>
            <a:r>
              <a:rPr lang="en-GB" dirty="0"/>
              <a:t>All CPU components on a single chip</a:t>
            </a:r>
          </a:p>
          <a:p>
            <a:pPr lvl="1"/>
            <a:r>
              <a:rPr lang="en-GB" dirty="0"/>
              <a:t>4 bit</a:t>
            </a:r>
          </a:p>
          <a:p>
            <a:r>
              <a:rPr lang="en-GB" dirty="0"/>
              <a:t>Followed in 1972 by 8008</a:t>
            </a:r>
          </a:p>
          <a:p>
            <a:pPr lvl="1"/>
            <a:r>
              <a:rPr lang="en-GB" dirty="0"/>
              <a:t>8 bit</a:t>
            </a:r>
          </a:p>
          <a:p>
            <a:pPr lvl="1"/>
            <a:r>
              <a:rPr lang="en-GB" dirty="0"/>
              <a:t>Both designed for specific applications</a:t>
            </a:r>
          </a:p>
          <a:p>
            <a:r>
              <a:rPr lang="en-GB" dirty="0"/>
              <a:t>1974 - 8080</a:t>
            </a:r>
          </a:p>
          <a:p>
            <a:pPr lvl="1"/>
            <a:r>
              <a:rPr lang="en-GB" dirty="0"/>
              <a:t>Intel’s first general purpose microprocessor</a:t>
            </a:r>
          </a:p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00" y="38100"/>
            <a:ext cx="6983413" cy="678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generation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8130" name="Picture 2" descr="http://www.abc.net.au/reslib/201002/r519357_286605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286000"/>
            <a:ext cx="3733800" cy="2791460"/>
          </a:xfrm>
          <a:prstGeom prst="rect">
            <a:avLst/>
          </a:prstGeom>
          <a:noFill/>
        </p:spPr>
      </p:pic>
      <p:pic>
        <p:nvPicPr>
          <p:cNvPr id="48132" name="Picture 4" descr="http://media.economist.com/images/images-magazine/2010/20/st/201020stp0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2438400"/>
            <a:ext cx="3762375" cy="21183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Intel</a:t>
            </a:r>
          </a:p>
          <a:p>
            <a:r>
              <a:rPr lang="en-GB" dirty="0"/>
              <a:t>1971 - 4004 </a:t>
            </a:r>
          </a:p>
          <a:p>
            <a:pPr lvl="1"/>
            <a:r>
              <a:rPr lang="en-GB" dirty="0"/>
              <a:t>First microprocessor</a:t>
            </a:r>
          </a:p>
          <a:p>
            <a:pPr lvl="1"/>
            <a:r>
              <a:rPr lang="en-GB" dirty="0"/>
              <a:t>All CPU components on a single chip</a:t>
            </a:r>
          </a:p>
          <a:p>
            <a:pPr lvl="1"/>
            <a:r>
              <a:rPr lang="en-GB" dirty="0"/>
              <a:t>4 bit</a:t>
            </a:r>
          </a:p>
          <a:p>
            <a:r>
              <a:rPr lang="en-GB" dirty="0"/>
              <a:t>Followed in 1972 by 8008</a:t>
            </a:r>
          </a:p>
          <a:p>
            <a:pPr lvl="1"/>
            <a:r>
              <a:rPr lang="en-GB" dirty="0"/>
              <a:t>8 bit</a:t>
            </a:r>
          </a:p>
          <a:p>
            <a:pPr lvl="1"/>
            <a:r>
              <a:rPr lang="en-GB" dirty="0"/>
              <a:t>Both designed for specific applications</a:t>
            </a:r>
          </a:p>
          <a:p>
            <a:r>
              <a:rPr lang="en-GB" dirty="0"/>
              <a:t>1974 - 8080</a:t>
            </a:r>
          </a:p>
          <a:p>
            <a:pPr lvl="1"/>
            <a:r>
              <a:rPr lang="en-GB" dirty="0"/>
              <a:t>Intel’s first general purpose microprocessor</a:t>
            </a:r>
          </a:p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8080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first general purpose microprocessor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8 bit data path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Used in first personal computer – Altair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8086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much more powerful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16 bit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instruction cache, </a:t>
            </a:r>
            <a:r>
              <a:rPr lang="en-GB" sz="2400" dirty="0" err="1"/>
              <a:t>prefetch</a:t>
            </a:r>
            <a:r>
              <a:rPr lang="en-GB" sz="2400" dirty="0"/>
              <a:t> few instructions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8088 (8 bit external bus) used in first IBM PC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80286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16 </a:t>
            </a:r>
            <a:r>
              <a:rPr lang="en-GB" sz="2400" dirty="0" err="1"/>
              <a:t>Mbyte</a:t>
            </a:r>
            <a:r>
              <a:rPr lang="en-GB" sz="2400" dirty="0"/>
              <a:t> memory addressable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up from 1Mb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Pentium Evolution (1)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80386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32 bit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Support for multitasking</a:t>
            </a:r>
          </a:p>
          <a:p>
            <a:pPr>
              <a:lnSpc>
                <a:spcPct val="90000"/>
              </a:lnSpc>
            </a:pPr>
            <a:r>
              <a:rPr lang="en-GB" dirty="0"/>
              <a:t>80486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sophisticated powerful cache and instruction pipelining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built in maths co-processor</a:t>
            </a:r>
          </a:p>
          <a:p>
            <a:pPr>
              <a:lnSpc>
                <a:spcPct val="90000"/>
              </a:lnSpc>
            </a:pPr>
            <a:r>
              <a:rPr lang="en-GB" dirty="0"/>
              <a:t>Pentium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Superscalar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Multiple instructions executed in parallel</a:t>
            </a:r>
          </a:p>
          <a:p>
            <a:pPr lvl="1">
              <a:lnSpc>
                <a:spcPct val="90000"/>
              </a:lnSpc>
            </a:pPr>
            <a:endParaRPr lang="en-GB" dirty="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Pentium Evolution (2)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Pentium Evolution (3)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Pentium Pro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Increased superscalar organization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Aggressive register renaming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branch prediction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data flow analysis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speculative execution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Autofit/>
          </a:bodyPr>
          <a:lstStyle/>
          <a:p>
            <a:r>
              <a:rPr lang="en-US" sz="2000" dirty="0">
                <a:hlinkClick r:id="rId2"/>
              </a:rPr>
              <a:t> </a:t>
            </a:r>
            <a:r>
              <a:rPr lang="en-US" sz="2000" dirty="0"/>
              <a:t>32-bit processors: P5 </a:t>
            </a:r>
            <a:r>
              <a:rPr lang="en-US" sz="2000" dirty="0" err="1"/>
              <a:t>microarchitecture</a:t>
            </a:r>
            <a:r>
              <a:rPr lang="en-US" sz="2000" dirty="0"/>
              <a:t> , Pentium with MMX Technology</a:t>
            </a:r>
          </a:p>
          <a:p>
            <a:pPr lvl="0"/>
            <a:r>
              <a:rPr lang="en-US" sz="2000" dirty="0"/>
              <a:t> 32-bit processors: P6/Pentium M </a:t>
            </a:r>
            <a:r>
              <a:rPr lang="en-US" sz="2000" dirty="0" err="1"/>
              <a:t>microarchitecture</a:t>
            </a:r>
            <a:endParaRPr lang="en-US" sz="2000" dirty="0"/>
          </a:p>
          <a:p>
            <a:pPr lvl="1"/>
            <a:r>
              <a:rPr lang="en-US" sz="2000" dirty="0"/>
              <a:t> Pentium Pro ,II, </a:t>
            </a:r>
            <a:r>
              <a:rPr lang="en-US" sz="2000" dirty="0" err="1"/>
              <a:t>Celeron,III,M</a:t>
            </a:r>
            <a:r>
              <a:rPr lang="en-US" sz="2000" dirty="0"/>
              <a:t>, Intel Core, Dual-Core Xeon LV</a:t>
            </a:r>
          </a:p>
          <a:p>
            <a:pPr lvl="0"/>
            <a:r>
              <a:rPr lang="en-US" sz="2000" dirty="0"/>
              <a:t>32-bit processors: </a:t>
            </a:r>
            <a:r>
              <a:rPr lang="en-US" sz="2000" dirty="0" err="1"/>
              <a:t>NetBurst</a:t>
            </a:r>
            <a:r>
              <a:rPr lang="en-US" sz="2000" dirty="0"/>
              <a:t> </a:t>
            </a:r>
            <a:r>
              <a:rPr lang="en-US" sz="2000" dirty="0" err="1"/>
              <a:t>microarchitecture</a:t>
            </a:r>
            <a:endParaRPr lang="en-US" sz="2000" dirty="0"/>
          </a:p>
          <a:p>
            <a:pPr lvl="1"/>
            <a:r>
              <a:rPr lang="en-US" sz="2000" dirty="0"/>
              <a:t> Pentium 4, Xeon, 4F</a:t>
            </a:r>
          </a:p>
          <a:p>
            <a:pPr lvl="0"/>
            <a:r>
              <a:rPr lang="en-US" sz="2000" dirty="0"/>
              <a:t>64-bit processors: IA-64</a:t>
            </a:r>
          </a:p>
          <a:p>
            <a:pPr lvl="1"/>
            <a:r>
              <a:rPr lang="en-US" sz="2000" dirty="0"/>
              <a:t> Itanium 1,2</a:t>
            </a:r>
          </a:p>
          <a:p>
            <a:pPr lvl="0"/>
            <a:r>
              <a:rPr lang="en-US" sz="2000" dirty="0"/>
              <a:t>64-bit processors: Intel 64 – </a:t>
            </a:r>
            <a:r>
              <a:rPr lang="en-US" sz="2000" dirty="0" err="1"/>
              <a:t>NetBurst</a:t>
            </a:r>
            <a:r>
              <a:rPr lang="en-US" sz="2000" dirty="0"/>
              <a:t> </a:t>
            </a:r>
            <a:r>
              <a:rPr lang="en-US" sz="2000" dirty="0" err="1"/>
              <a:t>microarchitecture</a:t>
            </a:r>
            <a:endParaRPr lang="en-US" sz="2000" dirty="0"/>
          </a:p>
          <a:p>
            <a:pPr lvl="1"/>
            <a:r>
              <a:rPr lang="en-US" sz="2000" dirty="0"/>
              <a:t> Pentium 4F,D, Xeon</a:t>
            </a:r>
          </a:p>
          <a:p>
            <a:pPr lvl="0"/>
            <a:r>
              <a:rPr lang="en-US" sz="2000" dirty="0"/>
              <a:t>64-bit processors: Intel 64 – Core </a:t>
            </a:r>
            <a:r>
              <a:rPr lang="en-US" sz="2000" dirty="0" err="1"/>
              <a:t>microarchitecture</a:t>
            </a:r>
            <a:endParaRPr lang="en-US" sz="2000" dirty="0"/>
          </a:p>
          <a:p>
            <a:pPr lvl="1"/>
            <a:r>
              <a:rPr lang="en-US" sz="2000" dirty="0"/>
              <a:t> Xeon , Intel Core 2 , Dual-Core</a:t>
            </a:r>
          </a:p>
          <a:p>
            <a:pPr lvl="0"/>
            <a:r>
              <a:rPr lang="en-US" sz="2000" dirty="0"/>
              <a:t> 64-bit processors: Intel 64 – Nehalem </a:t>
            </a:r>
            <a:r>
              <a:rPr lang="en-US" sz="2000" dirty="0" err="1"/>
              <a:t>microarchitecture</a:t>
            </a:r>
            <a:endParaRPr lang="en-US" sz="2000" dirty="0"/>
          </a:p>
          <a:p>
            <a:pPr lvl="1"/>
            <a:r>
              <a:rPr lang="en-US" sz="2000" dirty="0"/>
              <a:t> Intel Pentium ,i3,i5,i7, Xeon</a:t>
            </a:r>
          </a:p>
          <a:p>
            <a:pPr lvl="0"/>
            <a:r>
              <a:rPr lang="en-US" sz="2000" dirty="0"/>
              <a:t> 64-bit processors: Intel 64 – Sandy Bridge / Ivy Bridge </a:t>
            </a:r>
            <a:r>
              <a:rPr lang="en-US" sz="2000" dirty="0" err="1"/>
              <a:t>microarchitecture</a:t>
            </a:r>
            <a:endParaRPr lang="en-US" sz="2000" dirty="0"/>
          </a:p>
          <a:p>
            <a:pPr lvl="1"/>
            <a:r>
              <a:rPr lang="en-US" sz="2000" dirty="0"/>
              <a:t> Celeron , Pentium ,  Core i3 ,i5</a:t>
            </a:r>
            <a:r>
              <a:rPr lang="en-US" sz="2000" b="1" dirty="0"/>
              <a:t>, i7(3.50 GHz  price Rs 23K,)</a:t>
            </a:r>
          </a:p>
          <a:p>
            <a:pPr lvl="0"/>
            <a:r>
              <a:rPr lang="en-US" sz="2000" dirty="0"/>
              <a:t> 64-bit processors: Intel 64 – </a:t>
            </a:r>
            <a:r>
              <a:rPr lang="en-US" sz="2000" dirty="0" err="1"/>
              <a:t>Haswell</a:t>
            </a:r>
            <a:r>
              <a:rPr lang="en-US" sz="2000" dirty="0"/>
              <a:t> </a:t>
            </a:r>
            <a:r>
              <a:rPr lang="en-US" sz="2000" dirty="0" err="1"/>
              <a:t>microarchitecture</a:t>
            </a: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Microprocessor manufacturers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814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AMD</a:t>
            </a:r>
          </a:p>
          <a:p>
            <a:r>
              <a:rPr lang="en-US" sz="2400" dirty="0"/>
              <a:t>ARM Holdings</a:t>
            </a:r>
          </a:p>
          <a:p>
            <a:r>
              <a:rPr lang="en-US" sz="2400" dirty="0"/>
              <a:t>Cyrix</a:t>
            </a:r>
          </a:p>
          <a:p>
            <a:r>
              <a:rPr lang="en-US" sz="2400" dirty="0" err="1"/>
              <a:t>Freescale</a:t>
            </a:r>
            <a:endParaRPr lang="en-US" sz="2400" dirty="0"/>
          </a:p>
          <a:p>
            <a:r>
              <a:rPr lang="en-US" sz="2400" dirty="0"/>
              <a:t>Intel</a:t>
            </a:r>
          </a:p>
          <a:p>
            <a:r>
              <a:rPr lang="en-US" sz="2400" dirty="0"/>
              <a:t>IBM</a:t>
            </a:r>
          </a:p>
          <a:p>
            <a:r>
              <a:rPr lang="en-US" sz="2400" dirty="0"/>
              <a:t>Marvell</a:t>
            </a:r>
          </a:p>
          <a:p>
            <a:r>
              <a:rPr lang="en-US" sz="2400" dirty="0" err="1"/>
              <a:t>NexGen</a:t>
            </a:r>
            <a:endParaRPr lang="en-US" sz="2400" dirty="0"/>
          </a:p>
          <a:p>
            <a:r>
              <a:rPr lang="en-US" sz="2400" dirty="0" err="1"/>
              <a:t>Nvidia</a:t>
            </a:r>
            <a:r>
              <a:rPr lang="en-US" sz="2400" dirty="0"/>
              <a:t> </a:t>
            </a:r>
            <a:r>
              <a:rPr lang="en-US" sz="2400" dirty="0" err="1"/>
              <a:t>Tegra</a:t>
            </a:r>
            <a:endParaRPr lang="en-US" sz="2400" dirty="0"/>
          </a:p>
          <a:p>
            <a:r>
              <a:rPr lang="en-US" sz="2400" dirty="0"/>
              <a:t>Oracle (previously Sun)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8600" y="1600200"/>
            <a:ext cx="457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OWC</a:t>
            </a:r>
          </a:p>
          <a:p>
            <a:r>
              <a:rPr lang="en-US" sz="2400" dirty="0"/>
              <a:t>Qualcomm</a:t>
            </a:r>
          </a:p>
          <a:p>
            <a:r>
              <a:rPr lang="en-US" sz="2400" dirty="0"/>
              <a:t>Rise Technology</a:t>
            </a:r>
          </a:p>
          <a:p>
            <a:r>
              <a:rPr lang="en-US" sz="2400" dirty="0"/>
              <a:t>Samsung</a:t>
            </a:r>
          </a:p>
          <a:p>
            <a:r>
              <a:rPr lang="en-US" sz="2400" dirty="0" err="1"/>
              <a:t>SigmaTel</a:t>
            </a:r>
            <a:endParaRPr lang="en-US" sz="2400" dirty="0"/>
          </a:p>
          <a:p>
            <a:r>
              <a:rPr lang="en-US" sz="2400" dirty="0"/>
              <a:t>Sonnet</a:t>
            </a:r>
          </a:p>
          <a:p>
            <a:r>
              <a:rPr lang="en-US" sz="2400" dirty="0"/>
              <a:t>Texas Instruments</a:t>
            </a:r>
          </a:p>
          <a:p>
            <a:r>
              <a:rPr lang="en-US" sz="2400" dirty="0" err="1"/>
              <a:t>Transmeta</a:t>
            </a:r>
            <a:endParaRPr lang="en-US" sz="2400" dirty="0"/>
          </a:p>
          <a:p>
            <a:r>
              <a:rPr lang="en-US" sz="2400" dirty="0" err="1"/>
              <a:t>tilera</a:t>
            </a:r>
            <a:endParaRPr lang="en-US" sz="2400" dirty="0"/>
          </a:p>
          <a:p>
            <a:r>
              <a:rPr lang="en-US" sz="2400" dirty="0"/>
              <a:t>Via (Centaur Technology division)</a:t>
            </a:r>
          </a:p>
          <a:p>
            <a:r>
              <a:rPr lang="en-US" sz="2400" dirty="0" err="1"/>
              <a:t>winchip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Generations of Computer</a:t>
            </a:r>
            <a:br>
              <a:rPr lang="en-US" dirty="0"/>
            </a:br>
            <a:r>
              <a:rPr lang="en-US" dirty="0"/>
              <a:t>           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F1F452F-53EA-474C-8660-89ABF4E34506}" type="datetime1">
              <a:rPr lang="en-US" smtClean="0"/>
              <a:pPr/>
              <a:t>12/29/2025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03BCBEF-7FBC-4F25-9831-C02FB7275C3D}" type="slidenum">
              <a:rPr lang="en-IN" smtClean="0"/>
              <a:pPr/>
              <a:t>30</a:t>
            </a:fld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228600" y="1219200"/>
          <a:ext cx="8534400" cy="4876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Generation</a:t>
                      </a:r>
                      <a:endParaRPr lang="en-IN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Basic  element used</a:t>
                      </a:r>
                      <a:endParaRPr lang="en-IN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IN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8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Till 1946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Mechanical counter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Mechanical counter with carry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1946-57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Vacuum Tubes 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ENIAC, EDVAC,  UNIVAC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30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1958-64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Transistor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IBM 7000, IBM 7094, DEC- 1957, PDP-1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30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1965-71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Integrated Circuit</a:t>
                      </a:r>
                    </a:p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(SSI,MSI)</a:t>
                      </a:r>
                      <a:endParaRPr lang="en-IN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IBM 360 and 370,  DEC PDP8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30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1972-77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Microprocessors</a:t>
                      </a:r>
                    </a:p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(LSI)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4004,8085,8086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1978-91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Microprocessors</a:t>
                      </a:r>
                    </a:p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(VLSI,ULSI)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Pentium,….  i7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Ref: Stallings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209800"/>
            <a:ext cx="8731486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1171</Words>
  <Application>Microsoft Office PowerPoint</Application>
  <PresentationFormat>On-screen Show (4:3)</PresentationFormat>
  <Paragraphs>241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 Unit I   Computer Evolution and Arithmetic </vt:lpstr>
      <vt:lpstr>Ancient era</vt:lpstr>
      <vt:lpstr>Zero Generation : Mechanical Era (1600-1940)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 Generation (1946-1957): Vacuum Tubes</vt:lpstr>
      <vt:lpstr>PowerPoint Presentation</vt:lpstr>
      <vt:lpstr>ENIAC – background</vt:lpstr>
      <vt:lpstr>ENIAC - details</vt:lpstr>
      <vt:lpstr>PowerPoint Presentation</vt:lpstr>
      <vt:lpstr>PowerPoint Presentation</vt:lpstr>
      <vt:lpstr>Commercial Computers</vt:lpstr>
      <vt:lpstr>Second Generation (1955-1965) :Transistors  </vt:lpstr>
      <vt:lpstr> </vt:lpstr>
      <vt:lpstr>PowerPoint Presentation</vt:lpstr>
      <vt:lpstr>Third Generation (1965-1971) : Integrated Circuit</vt:lpstr>
      <vt:lpstr>All Generations of Computer</vt:lpstr>
      <vt:lpstr>PowerPoint Presentation</vt:lpstr>
      <vt:lpstr>PowerPoint Presentation</vt:lpstr>
      <vt:lpstr>5th generation </vt:lpstr>
      <vt:lpstr>PowerPoint Presentation</vt:lpstr>
      <vt:lpstr>Pentium Evolution (1)</vt:lpstr>
      <vt:lpstr>Pentium Evolution (2)</vt:lpstr>
      <vt:lpstr>Pentium Evolution (3)</vt:lpstr>
      <vt:lpstr>PowerPoint Presentation</vt:lpstr>
      <vt:lpstr>Microprocessor manufacturers</vt:lpstr>
      <vt:lpstr>Generations of Computer       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ANA</cp:lastModifiedBy>
  <cp:revision>31</cp:revision>
  <dcterms:created xsi:type="dcterms:W3CDTF">2006-08-16T00:00:00Z</dcterms:created>
  <dcterms:modified xsi:type="dcterms:W3CDTF">2025-12-29T09:24:23Z</dcterms:modified>
</cp:coreProperties>
</file>
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9" r:id="rId2"/>
    <p:sldId id="330" r:id="rId3"/>
    <p:sldId id="331" r:id="rId4"/>
    <p:sldId id="332" r:id="rId5"/>
    <p:sldId id="333" r:id="rId6"/>
    <p:sldId id="336" r:id="rId7"/>
    <p:sldId id="337" r:id="rId8"/>
    <p:sldId id="339" r:id="rId9"/>
    <p:sldId id="344" r:id="rId10"/>
    <p:sldId id="361" r:id="rId11"/>
    <p:sldId id="348" r:id="rId12"/>
    <p:sldId id="277" r:id="rId13"/>
    <p:sldId id="256" r:id="rId14"/>
    <p:sldId id="270" r:id="rId15"/>
    <p:sldId id="356" r:id="rId16"/>
    <p:sldId id="357" r:id="rId17"/>
    <p:sldId id="358" r:id="rId18"/>
    <p:sldId id="359" r:id="rId19"/>
    <p:sldId id="260" r:id="rId20"/>
    <p:sldId id="362" r:id="rId21"/>
    <p:sldId id="363" r:id="rId22"/>
    <p:sldId id="360" r:id="rId23"/>
    <p:sldId id="272" r:id="rId24"/>
    <p:sldId id="315" r:id="rId25"/>
    <p:sldId id="316" r:id="rId26"/>
    <p:sldId id="317" r:id="rId27"/>
    <p:sldId id="318" r:id="rId28"/>
    <p:sldId id="319" r:id="rId29"/>
    <p:sldId id="320" r:id="rId30"/>
    <p:sldId id="322" r:id="rId31"/>
    <p:sldId id="323" r:id="rId32"/>
    <p:sldId id="324" r:id="rId33"/>
    <p:sldId id="326" r:id="rId34"/>
    <p:sldId id="327" r:id="rId35"/>
    <p:sldId id="286"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158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hyperlink" Target="http://www.webopedia.com/TERM/P/program.html" TargetMode="External"/><Relationship Id="rId2" Type="http://schemas.openxmlformats.org/officeDocument/2006/relationships/hyperlink" Target="http://www.webopedia.com/TERM/I/instruction.html"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computer?</a:t>
            </a:r>
          </a:p>
        </p:txBody>
      </p:sp>
      <p:sp>
        <p:nvSpPr>
          <p:cNvPr id="3" name="Content Placeholder 2"/>
          <p:cNvSpPr>
            <a:spLocks noGrp="1"/>
          </p:cNvSpPr>
          <p:nvPr>
            <p:ph idx="1"/>
          </p:nvPr>
        </p:nvSpPr>
        <p:spPr/>
        <p:txBody>
          <a:bodyPr/>
          <a:lstStyle/>
          <a:p>
            <a:endParaRPr lang="en-US" dirty="0"/>
          </a:p>
        </p:txBody>
      </p:sp>
      <p:sp>
        <p:nvSpPr>
          <p:cNvPr id="1028" name="AutoShape 4" descr="data:image/jpeg;base64,/9j/4AAQSkZJRgABAQAAAQABAAD/2wCEAAkGBxQSEBQUERQWFRUVFBcUFBUUFxcXFRQUFBQWFxQUFRUYHCggGB0lHBUUITEhJSkrLi4uFx8zODMsNygtLisBCgoKDg0NFA8PGiwcFBwsLCwsLCwsLCwsLCwsLCwsLCwsLCwsLCwsLCwsLCwsLCwsLCwsLCwsLCssLCw3LCw3LP/AABEIAL8BCAMBIgACEQEDEQH/xAAcAAABBAMBAAAAAAAAAAAAAAAAAQMEBwIFCAb/xABVEAABAwIDAgYMBg4IBgMAAAABAAIDBBESITEFQQYHEyJRcTJCYXSBkaGxsrPB0RQ1UnJzkiMkJTRDU4KTosLS0+HwFTNUYqPD4uMWY4OEtPEXRKT/xAAXAQEBAQEAAAAAAAAAAAAAAAAAAQID/8QAHhEBAAIBBQEBAAAAAAAAAAAAAAEREiEiMUFCAjL/2gAMAwEAAhEDEQA/ALtQhCAQhCAQhCAQhCAQhCAQhCAQhCAQhCAQhCAQhCAQhCAQhCAQi6LoBCEqBEJbIsgRCWyRAIQhAIQhAIQhAIQhBWnGnw4qtn1EMdNyWF8Re7lGFxvjLRbnCwsF41vG/tHopj1xP9kim8fX39T97f5r1VtVMWgWtrvW4iKcpmcqhZLeOHaHyKX81J+9TreOSu3xUv1Jf3qqkV7ugeI+9L8Pd0DyqaFfS2Bxy1n4mm+rL+8WQ45av8RT+KT9tVMNoHoHlQNoH5I8qaFfa3W8ctVvp4PHJ+0nW8clRvpofrvVPjaJ+SPGs27SPyR4/wCCu1d64m8ck2+lj8Ejv2U63jjk30jPBM79hU63aJ+QPrfwTzNon5H6X+lTQ3Lhbxwu30bfz5/dJ1nG/wBNH/j/AO0qebXH5A+t/pTza0/I/S/gpou5b7eNwf2T/H/21mONof2Q/nv9tVE2qJ7X9L+CfZUH5P6X8E0XVbI41h/ZT+dH7tZO41mBpJpnWGZtICfBdoVWwSEmxFsr630t71Ie24t0lo8bgELld3GO4jZNaQSDyD8wbHxhUDsqDHCTiN24baWOLFe9wejyq/eMn4prfoHqhNhD7Gc+18pOR8Fj41GiNgeTYEeEj9hZ/BpBvZ4QD+qlZs+78LZHl2Xyb842Ha9xLUbPfG/DI6VpIJBIZYgEA2Nu6EQNZL/y/qj3J1ol38l9QJgUZ/GP/R9yyFIfxjv0fcgktjk38l9X+KxhGM5PGoHNDhqQN+uqwNMQCeUdYZnJugGe5ZUdM1jxhfc4hldljY33fzkgi7QqZIaqJscsgs+PNr3NzLhc2B7g8S6fK5Z2sD8MjB/Gs8slx511MUUiEIQCEIQCEIQCEIQUbx9n7fp+9v8ANeqrr+xHX7FaXH0fuhB3qPWyKrK/sR1+xb8uXtCQhCw6hCEoCBQE41qGtTrGoFY1SGMSMYpDGopWNUiNiSNikxsUCxsUuJixijUyKNBjEznD5p84Um2bO7LEPHMwe1Yltnfk+1OxNvJCOmpph46mJajhieVzcY/xTXd7yeZc87OeQwAG1xnpmuhuMf4pru9pPRK53oOwHUospwz18w9ykQxD+bKMxSoSqiYylZ0KRFRR9CZicpMbkQjqVg0Cizm2nmCmyOWuqiitBtB5NVCTrykfphdVlco1v3zD9JH6wLq4qNEQhCAQhCAQhCAQhCCiePg/dGHvVvrZVV20NG9Z8ys/j1+M4+9I/WzqsNoaN6yt+XL2hIQlAWHUAJxoSNCeY1ArGp+NqSNikMagVjVIY1IxikxsUUsbFKjYkjYpcUaDKKNTYY1jDGp0MSKhVDbP/JHncs6IfZ6UdNZS/wDlRJdoNtJ+Q30np/YjL1dJ33TnxTMPsWunOeVt8YvxTXd6y+iVzrs8cwLorjE+Ka7vWX0CuddndgEhpNYwfzdS4Yx/JKisUqEqsp0cTf5JUmOFvR5T71FicpMblEZvibbf4z71rqqMd3xn3rYSOWvqiivO133zB9JF6wLq4rlCs++YPpYvWBdXlRoiEIQCEIQCEIQCEIQULx5/GjO9IvWzqs9o6N6z7FZfHh8at70i9ZMq12mMm9Z9i35cvSCFm0JGhOtasOpWtT8bUjGqQxqBWMUhjEkbFIjYorKNikxxpImKXFGgyijUyGNJDGp0MSKWGJT4IkkMSnwRIPP7Xbaa3/LZ6Uik8HGfbtJ3zF5Df2JNsx/bB+jZ53+9S+DjPt6j75b5I5D7FuOHOeVmcYfxTXd6zegVzrswXaB0ldF8YPxTXd6Tercucdn9gFmGkupJjdhIucuxItn12Wbapw7Q/WZ71i0n+Sn475e/X9FVDjNout/Vu8bVn/ShGsbvG32pk0UZJJYLk3POdv8AApWz4Y4nh4ia7paXus4XBIJGY03IGX7VyJMbss9Y/esIZ+VPNaB863sutzXVjXkFkEcVhazHyOv3Tjv5FqahxPR4z7kRp6j76p/pYvWhdXFcoyffdP8ATQ+taurio0RCEIBCEIBCEIBCEIKD47PjX/tovTlVcbSHY+H2KxuOk/dY97xed6ruvHY+H2LfTnH6RGtTzGpGNUhjFh0KxqkMYkY1SI2IpY2KVGxJGxSoo1BlFGpkMaxijU6GNFZQxqfDEsYIlPgiQZQRLYwQrGniWwgiQeV21H9sO+azzH3qTwdj+36Hvh3kpagrPbEf2w/uYR+g0+1SeDcX3Qo+5LIf/wAs49q3059vc8P/AIqr+9J/VOXOGzzzPCukeHYvsqu70n9U5c2bP7DwrMNJrSnmOTDSnGrTKSHrNr0wAs2hBIxpiUrNMyuQat/35TfTQ+tauriuUmi9bTfTw+uaurSstEQhCAQhCAQhCAQhCCguOXPazu5BEPSPtVfVgzb4fYrA44fjaT6KL0V4gxg6rfTnx9IjGKQxqfZTN7qebTDpPk9yzjLeUGo2KTExK2n7vkT0cZyAIPgPvTGTKDkUamRRpgMkBsW52vYtcDbpss21Th2o8ZHsUqVyhsYY1PhiWoi2mR2g+v8A6VMi20B+DPgcEqVyhuoIlsYIlooNvM3xv8GA/rLZU+34t7ZB4G+xyVJcN3BEthBEtNBt6H+/9QnzLZU+3af5Th1xyexqVKXDS7UZ9sy9ws9TGpXBpn2/Tdcp/wAB4/WTFXIJJ5XtzaXNwkgi4ETG3sRfUHxKZwab90Kf5k58TWD9Zb6Y9PWcNx9zK3vSf1TlzTs88zwrpjhkPubW96z+qcuYdmvyI8Kw22IKcaUwCswVpD3KAalOMf3V6ni72bSPbLJVxiV2LA1jzZrW2BvbeTc5noy3rT8L6OCCueylvyRa1waTfk3O1Zc59Bz3OCIhYkxI5GJNvKKiw/ftL3xB65q6tK5Qo3Xr6UdFTAP8ZnvXV5WVIhCEAhCEAhCEAhCEFK8afB6ql2i+WKnlkYY4wHRsc8GzbEc2+9eHfwdqwc6WoHXBMPOxdPy6LWVFU5qts4ucRsyYdlFIOtjx5wsSQ3J2R6DkugZNtuamXcKbdkL9auRioljx0hOYuhXd/wAR0zuzjYetrT7Fl8N2fJ2cEB+dFGfOEyMVI3nbe+PldzTcOGemeeWZ8axkkkGV3FzspHE5234unMeRXqaLZjucYYARniDWtIA33FrKo+MTbNPYf0dG+A8o5skgcbTxuadWknInp3E36EyKan4XJ/V3PJ6kbiT0eROiue77G481ugwtyAADTitc6nLuFeY/pmowYOVdgviwkNw4um1tc08Nvz4Wtc4Frb2GFotfXMC58KWU9TEp8AU3Z7dnyMjdjmaXNaTpk4gXHYHevYU3AaE/hZR14D7ArlCYy8c19lJZNp7l6ybgPGPwzj1sH7SgzcHo2fhL2/ukfrplBjLWUsl3a6Ld8FBfaUXcpqg+N9OPata2CKMkhwB36qVsfakMFTyzpAbRPiwj+++N17/9PypMxRETb2/CsXoKvvWf1TlynRyWcujNt8MaeSkqGB2boJWjrMbgFza1YbbxpWQKj03Obdvhb7QnGyDfkeg5Ko2NJtDBuN7WxNcWnSwv02Ud8lzfp6TcnrO9NIuqHQ5M1EwaCSkMw3Z+bxrXVb7nNQP7AN6+kvvqoPLOxdalclcGvjCj77p/XsXWpUUiEIQCEIQCELCedrGl73NY1ou5ziGtaOkk5BBmhQYttUzuxqIXdUrD5ipLKph0ew9TgfagdUOto8QyUtrgdDfqWVkHhdq07mXuF5mtkVr1dE2QWIXhOEfBxzblgyRXiap/QtdIXfKA8K1VbtVxcc7ZkW6LFQX1pO9EtvXzmxBkJB3LR7bcC2w6bph1UVHmkuiIGFSKSkLza9kmFSaeTCrRb0VGwgxtd2DS3EW2JwgjNrSRcjWxI3K8Nl7apqr72lBdrybgWSW38x1ifBdc9srj0pwbRORBLSDcOabEEaEEaHuqDoKtkc3Vec2jVL0vAyodWbNp5Z83vYbu+Xhc5rX5fKADvCoe3ODJIJYjSvdoz6rzVbN3VvtuUMkROIFeSrJVBDqqg55rVKVUPUZVDkMxabhThXB3ZBa1KERshIxLyzBoFrgsgFRKmqr6ZKI4rKywcg2HBb4xou/Kb17F1muT+CIvtOi77p/XMXWCihCEIBCEIEe8NBLiAACSSbAAZkk7gqP4xeGZrHGOF4bTxHEAb3mLczIQM8I7UeE52w7LjI4ZGoc6lpcRgYbTyRi/KuHaNI7QWOfbEdAz8BUVRaxwY6Q2FsDmAdzI3yNzfxoko0k5IZNI4AYbYRvJcbEgDLq15t09O8xuaHNBx5NaLF+6/NI1zHjHSoZJFHzS4lxAcQLgONzdzvA+6zrnc2GNumK9w0XFrXGPU5YOjqVGNnNBjc0GYgkHmkA5ndoNczpa+gWQrHgBsckjXNIxkOcDhN76OtfTLLVLVOvO1rT2LLFzW2JGgLrC5AzvrpfVYRSE1EliBmC4YSQ5/ZEOt3Rbwoh2fblTlyVTUYcw600wsR+Wdff3FIfwgqmxNc2sqSSQDinnLbZYsi62VxfrutVSuBie245MF2EEHQ25wN9cs/8A0sC8GDnYcrWtqLFxDbdBve+nhRUmqaC9vOBxkl7i7fre+HtiT0rFlODKWXFg3FiBB6che2ls0lTJ/Vv+xl2IHCDcEkgEuFrAC2h6b5hLKQJmnCLlrgRiyBwl2MEgYciCDnp02REa3PLLZh2EZix7t9Lb04+jdygYN7S6+VrA23E79107ExvLObhJBbcDEOaAQMJPSdLHpHWm4Q0MkBBxCxxAtw84HC2+hzzy1seiyBttFIXvYBcstewcddLW6RmsIad7mucAbNJByd2vZbt3dSlzeTsC7lBcH5JItnfXTzJZqjCAGPeDe5BuAb3Ljk453RWVFTmU2aQMiecQBYd09a2WxaWAyuFQ18jGHntiexpdY5jG4gAdWfQQoVMRHCX3LXEWbZzRpfCCAcVj1Dcl+FOjjLg9wkfziMQ5xyGYw626Sgueh42aQQgspZ2xRgNGHkcLQ0AAC8g0FgpMPG9Qu1ZUN62MPoyFUpWl0MTYwbYhz2G1rPLrkDAMtN6j00YMZJNiL4Rcc7D1lQtd1dw82TO20j3tJ6YZD6IK8Dt6CglJNNUi/Q6OVnpMC8fa0YeW6txAXFyL6gE3I1OiclIY0OItcNyBFxi0uL30sfCi2jV1A4HLnDpGaiPYQcxbrW5kuwDELYjYZHzr1XAzi/8A6UifIZjCI5MA+x48bi0OOrhkBg+sUFdKXSclnyrXHTDgcG9N73ab7l7naXE7XxuPJcnO3cWODHHrZJYD6xWg/wCFMD3Mqp/gsjRctlgfJfuB0Dnjx2RGiDG4Cb86+TbajpxaD+fA7EyIPs4ucy2reab5dIPd3LebN4ItlpzOayKJgdgPKRvJBOhPJl1h3St9s3illqGY6euo5WaYoy9wB6DbQ9xB4CbDiOC+G+Vzc27psL+JNuCtD/4Uq/7TT/Vk9yVvEjVHWrgHVHIfaFR4Hgb8Z0XfcHrWrq9VTwW4nPg1VFUTVXKGKRsjWMjwguYbtu4uOV7btytZRQhCEAqs41OHgZioqZ/O7Gokb2gIziaR21uyO69tb4bPqJC1jnAFxDSQ0auIFwB1rmWo4P1hJdJTVJe4lzz8Hmzc43c42ZvJJQa+qmBb9jNjdo7I6HIuAJ3ZZdazq5mck7CcT7fLFi11mkBlr351733J12x5R2UMzfnRSN87U06kt2XN68vOqhZ4miDDfFhZchrhY4c7jK40PSsxHjjYHX5tjZpsL9FlHEUfy2fWCzFC06Fp8IRD1RTOeWnM4RhAvlbTp6MlgYpRJymd8suaRcWNyDcHMXzQ3Z53HxJz4G/c531j70EaKKRpdzXYXX5oaCMJBBGbSL2OuSbYHiNzHtJBBABZkM7tt0ZgKd8HlGj3eMowzjtj4gfYg1r3l7MBcMbcJAdZoLhftyRbI3z1ySVFQDgcMOJpBthwgg9kTnY2t5SVsYzM1znA85wAccLcw3Ibkl5OUDy1pcGlmbcsJN9L6oI9XAWTMu0AuHYvY+MBhucZBAy1zF+xToiwEOYXB0lsIcHsa5pyBY7m3B8SJGuLmOMUfMLjYNsDiFjiF89Lpa1xkDQ6EDC5pGG4ybqzTQ3QMvxHmkR66Yxe991331WqcQ5xIFgRp0ZZ+VbuvmEjC3kcJtZpD3HBmDk0i1srWUfZzWMvyrXuJ0wnQWzvc6m6KwbVyygRk4hzTbCCAGkWPNF7aJaracjnNEliY3BwBbaxsdR4fIFnRshGPlBJm52GwYbRnJoN755nPxJKOnh5M8o94eScw3KwyZuJ0A0QR6yrMpaS1oIuBgbYkuI1G/8AipFa8lrIGnUtjwEWcDfsr9Nz5U1sdjeVaZXYA0Yr2vztw0I37+hbL4LGXB3wq5bfCXg3F9QC5yI19ZZ7mMBYQXNFxcYQ0ADMgXFgekZdSy2hIJZGNbgw3JDrYOaNA/TPTNSKaEmoe4TsBY0COS7ecXC+WZ7oPRdYU9I+SaRzjG4tOAlxyfvxDDa+Vujx3RUedtngZWti5pBHRqF0bxZ7O5DZdOLZyNMx/wCqcTb9TMA8C552Ps509UIdC+URZbruDbjuXPkXVkUYa0NaLBoDQOgAWAUVp+GrpBs6qMRIeIXEEagAXcRbfhxLmx+1p7kF1rZEABdWOaCCCLgixHSDqFzPw74PuoKx8YvgFnROPbROvgud5FnNPSWk70HnJszisLqTsXaU1NO2ameWSNtn2rgO0eO2ad4KSniD77j/ADkmJmlhzFkHV2xdotqaaKdgsJY2vtvaXC5ae6DceBTV5biuBGyKXFqWvPgMryPIQvUoBCEIBCEIBKkQgW6RCEDb4GnVrT1gFRZti0z+zp4XfOiYfOFOQg0snBCgdrRU35mMeYKNJwD2cf8A6sY+bib6LgvRoQeSl4ttnH8C8fNnnH+Yo0nFdQnsTUN6pnH0wV7ZCCvpeKanPYVNU38qF3niUZ/FMO1rZfy4o3ejhVlIQpVkvFTP2lbGfn0x84lUZ3FfWjSalf1tlZ5sStxCWlKYm4udojRlI/qmkafLEo0nAbaA1o2u+ZPGfSIV4IVsqFAzcEq0dls+f8l0D/RkUObYEzeyoqsf9u93oAropCWU5rfQNb2cUzPn087fKWKJLFTA5yMb3HEt9JdQXWLmg6gHrF0spzA2jgd2MjD1PafasTsYHQ+YrpafZFO/s4IXfOjYfOFBl4IUDuyoqU9cEX7KFKd4sNl4drU+IEgNlcMtC2M2J7lyPDZX4tZsvg9S0zi+np4onEYSY2Bpw3BtluuB4ls1FC8zw54HR7SiaHO5OWO/JSWvbFa7Xt7ZpsO6LZb7+mQg5+l4rtpQyXjjjktoWStt+nhPkU2l4r9oVcrfhfJ00Y7Jwc18hF8w1rSRfuki3d0V6IQMUFGyGKOKMWZGxrGDoa0ADzJ9CEAhCEAhCEH/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data:image/jpeg;base64,/9j/4AAQSkZJRgABAQAAAQABAAD/2wCEAAkGBxQSEBQUERQWFRUVFBcUFBUUFxcXFRQUFBQWFxQUFRUYHCggGB0lHBUUITEhJSkrLi4uFx8zODMsNygtLisBCgoKDg0NFA8PGiwcFBwsLCwsLCwsLCwsLCwsLCwsLCwsLCwsLCwsLCwsLCwsLCwsLCwsLCwsLCssLCw3LCw3LP/AABEIAL8BCAMBIgACEQEDEQH/xAAcAAABBAMBAAAAAAAAAAAAAAAAAQMEBwIFCAb/xABVEAABAwIDAgYMBg4IBgMAAAABAAIDBBESITEFQQYHEyJRcTJCYXSBkaGxsrPB0RQ1UnJzkiMkJTRDU4KTosLS0+HwFTNUYqPD4uMWY4OEtPEXRKT/xAAXAQEBAQEAAAAAAAAAAAAAAAAAAQID/8QAHhEBAAIBBQEBAAAAAAAAAAAAAAEREiEiMUFCAjL/2gAMAwEAAhEDEQA/ALtQhCAQhCAQhCAQhCAQhCAQhCAQhCAQhCAQhCAQhCAQhCAQhCAQi6LoBCEqBEJbIsgRCWyRAIQhAIQhAIQhAIQhBWnGnw4qtn1EMdNyWF8Re7lGFxvjLRbnCwsF41vG/tHopj1xP9kim8fX39T97f5r1VtVMWgWtrvW4iKcpmcqhZLeOHaHyKX81J+9TreOSu3xUv1Jf3qqkV7ugeI+9L8Pd0DyqaFfS2Bxy1n4mm+rL+8WQ45av8RT+KT9tVMNoHoHlQNoH5I8qaFfa3W8ctVvp4PHJ+0nW8clRvpofrvVPjaJ+SPGs27SPyR4/wCCu1d64m8ck2+lj8Ejv2U63jjk30jPBM79hU63aJ+QPrfwTzNon5H6X+lTQ3Lhbxwu30bfz5/dJ1nG/wBNH/j/AO0qebXH5A+t/pTza0/I/S/gpou5b7eNwf2T/H/21mONof2Q/nv9tVE2qJ7X9L+CfZUH5P6X8E0XVbI41h/ZT+dH7tZO41mBpJpnWGZtICfBdoVWwSEmxFsr630t71Ie24t0lo8bgELld3GO4jZNaQSDyD8wbHxhUDsqDHCTiN24baWOLFe9wejyq/eMn4prfoHqhNhD7Gc+18pOR8Fj41GiNgeTYEeEj9hZ/BpBvZ4QD+qlZs+78LZHl2Xyb842Ha9xLUbPfG/DI6VpIJBIZYgEA2Nu6EQNZL/y/qj3J1ol38l9QJgUZ/GP/R9yyFIfxjv0fcgktjk38l9X+KxhGM5PGoHNDhqQN+uqwNMQCeUdYZnJugGe5ZUdM1jxhfc4hldljY33fzkgi7QqZIaqJscsgs+PNr3NzLhc2B7g8S6fK5Z2sD8MjB/Gs8slx511MUUiEIQCEIQCEIQCEIQUbx9n7fp+9v8ANeqrr+xHX7FaXH0fuhB3qPWyKrK/sR1+xb8uXtCQhCw6hCEoCBQE41qGtTrGoFY1SGMSMYpDGopWNUiNiSNikxsUCxsUuJixijUyKNBjEznD5p84Um2bO7LEPHMwe1Yltnfk+1OxNvJCOmpph46mJajhieVzcY/xTXd7yeZc87OeQwAG1xnpmuhuMf4pru9pPRK53oOwHUospwz18w9ykQxD+bKMxSoSqiYylZ0KRFRR9CZicpMbkQjqVg0Cizm2nmCmyOWuqiitBtB5NVCTrykfphdVlco1v3zD9JH6wLq4qNEQhCAQhCAQhCAQhCCiePg/dGHvVvrZVV20NG9Z8ys/j1+M4+9I/WzqsNoaN6yt+XL2hIQlAWHUAJxoSNCeY1ArGp+NqSNikMagVjVIY1IxikxsUUsbFKjYkjYpcUaDKKNTYY1jDGp0MSKhVDbP/JHncs6IfZ6UdNZS/wDlRJdoNtJ+Q30np/YjL1dJ33TnxTMPsWunOeVt8YvxTXd6y+iVzrs8cwLorjE+Ka7vWX0CuddndgEhpNYwfzdS4Yx/JKisUqEqsp0cTf5JUmOFvR5T71FicpMblEZvibbf4z71rqqMd3xn3rYSOWvqiivO133zB9JF6wLq4rlCs++YPpYvWBdXlRoiEIQCEIQCEIQCEIQULx5/GjO9IvWzqs9o6N6z7FZfHh8at70i9ZMq12mMm9Z9i35cvSCFm0JGhOtasOpWtT8bUjGqQxqBWMUhjEkbFIjYorKNikxxpImKXFGgyijUyGNJDGp0MSKWGJT4IkkMSnwRIPP7Xbaa3/LZ6Uik8HGfbtJ3zF5Df2JNsx/bB+jZ53+9S+DjPt6j75b5I5D7FuOHOeVmcYfxTXd6zegVzrswXaB0ldF8YPxTXd6Tercucdn9gFmGkupJjdhIucuxItn12Wbapw7Q/WZ71i0n+Sn475e/X9FVDjNout/Vu8bVn/ShGsbvG32pk0UZJJYLk3POdv8AApWz4Y4nh4ia7paXus4XBIJGY03IGX7VyJMbss9Y/esIZ+VPNaB863sutzXVjXkFkEcVhazHyOv3Tjv5FqahxPR4z7kRp6j76p/pYvWhdXFcoyffdP8ATQ+taurio0RCEIBCEIBCEIBCEIKD47PjX/tovTlVcbSHY+H2KxuOk/dY97xed6ruvHY+H2LfTnH6RGtTzGpGNUhjFh0KxqkMYkY1SI2IpY2KVGxJGxSoo1BlFGpkMaxijU6GNFZQxqfDEsYIlPgiQZQRLYwQrGniWwgiQeV21H9sO+azzH3qTwdj+36Hvh3kpagrPbEf2w/uYR+g0+1SeDcX3Qo+5LIf/wAs49q3059vc8P/AIqr+9J/VOXOGzzzPCukeHYvsqu70n9U5c2bP7DwrMNJrSnmOTDSnGrTKSHrNr0wAs2hBIxpiUrNMyuQat/35TfTQ+tauriuUmi9bTfTw+uaurSstEQhCAQhCAQhCAQhCCguOXPazu5BEPSPtVfVgzb4fYrA44fjaT6KL0V4gxg6rfTnx9IjGKQxqfZTN7qebTDpPk9yzjLeUGo2KTExK2n7vkT0cZyAIPgPvTGTKDkUamRRpgMkBsW52vYtcDbpss21Th2o8ZHsUqVyhsYY1PhiWoi2mR2g+v8A6VMi20B+DPgcEqVyhuoIlsYIlooNvM3xv8GA/rLZU+34t7ZB4G+xyVJcN3BEthBEtNBt6H+/9QnzLZU+3af5Th1xyexqVKXDS7UZ9sy9ws9TGpXBpn2/Tdcp/wAB4/WTFXIJJ5XtzaXNwkgi4ETG3sRfUHxKZwab90Kf5k58TWD9Zb6Y9PWcNx9zK3vSf1TlzTs88zwrpjhkPubW96z+qcuYdmvyI8Kw22IKcaUwCswVpD3KAalOMf3V6ni72bSPbLJVxiV2LA1jzZrW2BvbeTc5noy3rT8L6OCCueylvyRa1waTfk3O1Zc59Bz3OCIhYkxI5GJNvKKiw/ftL3xB65q6tK5Qo3Xr6UdFTAP8ZnvXV5WVIhCEAhCEAhCEAhCEFK8afB6ql2i+WKnlkYY4wHRsc8GzbEc2+9eHfwdqwc6WoHXBMPOxdPy6LWVFU5qts4ucRsyYdlFIOtjx5wsSQ3J2R6DkugZNtuamXcKbdkL9auRioljx0hOYuhXd/wAR0zuzjYetrT7Fl8N2fJ2cEB+dFGfOEyMVI3nbe+PldzTcOGemeeWZ8axkkkGV3FzspHE5234unMeRXqaLZjucYYARniDWtIA33FrKo+MTbNPYf0dG+A8o5skgcbTxuadWknInp3E36EyKan4XJ/V3PJ6kbiT0eROiue77G481ugwtyAADTitc6nLuFeY/pmowYOVdgviwkNw4um1tc08Nvz4Wtc4Frb2GFotfXMC58KWU9TEp8AU3Z7dnyMjdjmaXNaTpk4gXHYHevYU3AaE/hZR14D7ArlCYy8c19lJZNp7l6ybgPGPwzj1sH7SgzcHo2fhL2/ukfrplBjLWUsl3a6Ld8FBfaUXcpqg+N9OPata2CKMkhwB36qVsfakMFTyzpAbRPiwj+++N17/9PypMxRETb2/CsXoKvvWf1TlynRyWcujNt8MaeSkqGB2boJWjrMbgFza1YbbxpWQKj03Obdvhb7QnGyDfkeg5Ko2NJtDBuN7WxNcWnSwv02Ud8lzfp6TcnrO9NIuqHQ5M1EwaCSkMw3Z+bxrXVb7nNQP7AN6+kvvqoPLOxdalclcGvjCj77p/XsXWpUUiEIQCEIQCELCedrGl73NY1ou5ziGtaOkk5BBmhQYttUzuxqIXdUrD5ipLKph0ew9TgfagdUOto8QyUtrgdDfqWVkHhdq07mXuF5mtkVr1dE2QWIXhOEfBxzblgyRXiap/QtdIXfKA8K1VbtVxcc7ZkW6LFQX1pO9EtvXzmxBkJB3LR7bcC2w6bph1UVHmkuiIGFSKSkLza9kmFSaeTCrRb0VGwgxtd2DS3EW2JwgjNrSRcjWxI3K8Nl7apqr72lBdrybgWSW38x1ifBdc9srj0pwbRORBLSDcOabEEaEEaHuqDoKtkc3Vec2jVL0vAyodWbNp5Z83vYbu+Xhc5rX5fKADvCoe3ODJIJYjSvdoz6rzVbN3VvtuUMkROIFeSrJVBDqqg55rVKVUPUZVDkMxabhThXB3ZBa1KERshIxLyzBoFrgsgFRKmqr6ZKI4rKywcg2HBb4xou/Kb17F1muT+CIvtOi77p/XMXWCihCEIBCEIEe8NBLiAACSSbAAZkk7gqP4xeGZrHGOF4bTxHEAb3mLczIQM8I7UeE52w7LjI4ZGoc6lpcRgYbTyRi/KuHaNI7QWOfbEdAz8BUVRaxwY6Q2FsDmAdzI3yNzfxoko0k5IZNI4AYbYRvJcbEgDLq15t09O8xuaHNBx5NaLF+6/NI1zHjHSoZJFHzS4lxAcQLgONzdzvA+6zrnc2GNumK9w0XFrXGPU5YOjqVGNnNBjc0GYgkHmkA5ndoNczpa+gWQrHgBsckjXNIxkOcDhN76OtfTLLVLVOvO1rT2LLFzW2JGgLrC5AzvrpfVYRSE1EliBmC4YSQ5/ZEOt3Rbwoh2fblTlyVTUYcw600wsR+Wdff3FIfwgqmxNc2sqSSQDinnLbZYsi62VxfrutVSuBie245MF2EEHQ25wN9cs/8A0sC8GDnYcrWtqLFxDbdBve+nhRUmqaC9vOBxkl7i7fre+HtiT0rFlODKWXFg3FiBB6che2ls0lTJ/Vv+xl2IHCDcEkgEuFrAC2h6b5hLKQJmnCLlrgRiyBwl2MEgYciCDnp02REa3PLLZh2EZix7t9Lb04+jdygYN7S6+VrA23E79107ExvLObhJBbcDEOaAQMJPSdLHpHWm4Q0MkBBxCxxAtw84HC2+hzzy1seiyBttFIXvYBcstewcddLW6RmsIad7mucAbNJByd2vZbt3dSlzeTsC7lBcH5JItnfXTzJZqjCAGPeDe5BuAb3Ljk453RWVFTmU2aQMiecQBYd09a2WxaWAyuFQ18jGHntiexpdY5jG4gAdWfQQoVMRHCX3LXEWbZzRpfCCAcVj1Dcl+FOjjLg9wkfziMQ5xyGYw626Sgueh42aQQgspZ2xRgNGHkcLQ0AAC8g0FgpMPG9Qu1ZUN62MPoyFUpWl0MTYwbYhz2G1rPLrkDAMtN6j00YMZJNiL4Rcc7D1lQtd1dw82TO20j3tJ6YZD6IK8Dt6CglJNNUi/Q6OVnpMC8fa0YeW6txAXFyL6gE3I1OiclIY0OItcNyBFxi0uL30sfCi2jV1A4HLnDpGaiPYQcxbrW5kuwDELYjYZHzr1XAzi/8A6UifIZjCI5MA+x48bi0OOrhkBg+sUFdKXSclnyrXHTDgcG9N73ab7l7naXE7XxuPJcnO3cWODHHrZJYD6xWg/wCFMD3Mqp/gsjRctlgfJfuB0Dnjx2RGiDG4Cb86+TbajpxaD+fA7EyIPs4ucy2reab5dIPd3LebN4ItlpzOayKJgdgPKRvJBOhPJl1h3St9s3illqGY6euo5WaYoy9wB6DbQ9xB4CbDiOC+G+Vzc27psL+JNuCtD/4Uq/7TT/Vk9yVvEjVHWrgHVHIfaFR4Hgb8Z0XfcHrWrq9VTwW4nPg1VFUTVXKGKRsjWMjwguYbtu4uOV7btytZRQhCEAqs41OHgZioqZ/O7Gokb2gIziaR21uyO69tb4bPqJC1jnAFxDSQ0auIFwB1rmWo4P1hJdJTVJe4lzz8Hmzc43c42ZvJJQa+qmBb9jNjdo7I6HIuAJ3ZZdazq5mck7CcT7fLFi11mkBlr351733J12x5R2UMzfnRSN87U06kt2XN68vOqhZ4miDDfFhZchrhY4c7jK40PSsxHjjYHX5tjZpsL9FlHEUfy2fWCzFC06Fp8IRD1RTOeWnM4RhAvlbTp6MlgYpRJymd8suaRcWNyDcHMXzQ3Z53HxJz4G/c531j70EaKKRpdzXYXX5oaCMJBBGbSL2OuSbYHiNzHtJBBABZkM7tt0ZgKd8HlGj3eMowzjtj4gfYg1r3l7MBcMbcJAdZoLhftyRbI3z1ySVFQDgcMOJpBthwgg9kTnY2t5SVsYzM1znA85wAccLcw3Ibkl5OUDy1pcGlmbcsJN9L6oI9XAWTMu0AuHYvY+MBhucZBAy1zF+xToiwEOYXB0lsIcHsa5pyBY7m3B8SJGuLmOMUfMLjYNsDiFjiF89Lpa1xkDQ6EDC5pGG4ybqzTQ3QMvxHmkR66Yxe991331WqcQ5xIFgRp0ZZ+VbuvmEjC3kcJtZpD3HBmDk0i1srWUfZzWMvyrXuJ0wnQWzvc6m6KwbVyygRk4hzTbCCAGkWPNF7aJaracjnNEliY3BwBbaxsdR4fIFnRshGPlBJm52GwYbRnJoN755nPxJKOnh5M8o94eScw3KwyZuJ0A0QR6yrMpaS1oIuBgbYkuI1G/8AipFa8lrIGnUtjwEWcDfsr9Nz5U1sdjeVaZXYA0Yr2vztw0I37+hbL4LGXB3wq5bfCXg3F9QC5yI19ZZ7mMBYQXNFxcYQ0ADMgXFgekZdSy2hIJZGNbgw3JDrYOaNA/TPTNSKaEmoe4TsBY0COS7ecXC+WZ7oPRdYU9I+SaRzjG4tOAlxyfvxDDa+Vujx3RUedtngZWti5pBHRqF0bxZ7O5DZdOLZyNMx/wCqcTb9TMA8C552Ps509UIdC+URZbruDbjuXPkXVkUYa0NaLBoDQOgAWAUVp+GrpBs6qMRIeIXEEagAXcRbfhxLmx+1p7kF1rZEABdWOaCCCLgixHSDqFzPw74PuoKx8YvgFnROPbROvgud5FnNPSWk70HnJszisLqTsXaU1NO2ameWSNtn2rgO0eO2ad4KSniD77j/ADkmJmlhzFkHV2xdotqaaKdgsJY2vtvaXC5ae6DceBTV5biuBGyKXFqWvPgMryPIQvUoBCEIBCEIBKkQgW6RCEDb4GnVrT1gFRZti0z+zp4XfOiYfOFOQg0snBCgdrRU35mMeYKNJwD2cf8A6sY+bib6LgvRoQeSl4ttnH8C8fNnnH+Yo0nFdQnsTUN6pnH0wV7ZCCvpeKanPYVNU38qF3niUZ/FMO1rZfy4o3ejhVlIQpVkvFTP2lbGfn0x84lUZ3FfWjSalf1tlZ5sStxCWlKYm4udojRlI/qmkafLEo0nAbaA1o2u+ZPGfSIV4IVsqFAzcEq0dls+f8l0D/RkUObYEzeyoqsf9u93oAropCWU5rfQNb2cUzPn087fKWKJLFTA5yMb3HEt9JdQXWLmg6gHrF0spzA2jgd2MjD1PafasTsYHQ+YrpafZFO/s4IXfOjYfOFBl4IUDuyoqU9cEX7KFKd4sNl4drU+IEgNlcMtC2M2J7lyPDZX4tZsvg9S0zi+np4onEYSY2Bpw3BtluuB4ls1FC8zw54HR7SiaHO5OWO/JSWvbFa7Xt7ZpsO6LZb7+mQg5+l4rtpQyXjjjktoWStt+nhPkU2l4r9oVcrfhfJ00Y7Jwc18hF8w1rSRfuki3d0V6IQMUFGyGKOKMWZGxrGDoa0ADzJ9CEAhCEAhCEH/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data:image/jpeg;base64,/9j/4AAQSkZJRgABAQAAAQABAAD/2wCEAAkGBxQSEBQUERQWFRUVFBcUFBUUFxcXFRQUFBQWFxQUFRUYHCggGB0lHBUUITEhJSkrLi4uFx8zODMsNygtLisBCgoKDg0NFA8PGiwcFBwsLCwsLCwsLCwsLCwsLCwsLCwsLCwsLCwsLCwsLCwsLCwsLCwsLCwsLCssLCw3LCw3LP/AABEIAL8BCAMBIgACEQEDEQH/xAAcAAABBAMBAAAAAAAAAAAAAAAAAQMEBwIFCAb/xABVEAABAwIDAgYMBg4IBgMAAAABAAIDBBESITEFQQYHEyJRcTJCYXSBkaGxsrPB0RQ1UnJzkiMkJTRDU4KTosLS0+HwFTNUYqPD4uMWY4OEtPEXRKT/xAAXAQEBAQEAAAAAAAAAAAAAAAAAAQID/8QAHhEBAAIBBQEBAAAAAAAAAAAAAAEREiEiMUFCAjL/2gAMAwEAAhEDEQA/ALtQhCAQhCAQhCAQhCAQhCAQhCAQhCAQhCAQhCAQhCAQhCAQhCAQi6LoBCEqBEJbIsgRCWyRAIQhAIQhAIQhAIQhBWnGnw4qtn1EMdNyWF8Re7lGFxvjLRbnCwsF41vG/tHopj1xP9kim8fX39T97f5r1VtVMWgWtrvW4iKcpmcqhZLeOHaHyKX81J+9TreOSu3xUv1Jf3qqkV7ugeI+9L8Pd0DyqaFfS2Bxy1n4mm+rL+8WQ45av8RT+KT9tVMNoHoHlQNoH5I8qaFfa3W8ctVvp4PHJ+0nW8clRvpofrvVPjaJ+SPGs27SPyR4/wCCu1d64m8ck2+lj8Ejv2U63jjk30jPBM79hU63aJ+QPrfwTzNon5H6X+lTQ3Lhbxwu30bfz5/dJ1nG/wBNH/j/AO0qebXH5A+t/pTza0/I/S/gpou5b7eNwf2T/H/21mONof2Q/nv9tVE2qJ7X9L+CfZUH5P6X8E0XVbI41h/ZT+dH7tZO41mBpJpnWGZtICfBdoVWwSEmxFsr630t71Ie24t0lo8bgELld3GO4jZNaQSDyD8wbHxhUDsqDHCTiN24baWOLFe9wejyq/eMn4prfoHqhNhD7Gc+18pOR8Fj41GiNgeTYEeEj9hZ/BpBvZ4QD+qlZs+78LZHl2Xyb842Ha9xLUbPfG/DI6VpIJBIZYgEA2Nu6EQNZL/y/qj3J1ol38l9QJgUZ/GP/R9yyFIfxjv0fcgktjk38l9X+KxhGM5PGoHNDhqQN+uqwNMQCeUdYZnJugGe5ZUdM1jxhfc4hldljY33fzkgi7QqZIaqJscsgs+PNr3NzLhc2B7g8S6fK5Z2sD8MjB/Gs8slx511MUUiEIQCEIQCEIQCEIQUbx9n7fp+9v8ANeqrr+xHX7FaXH0fuhB3qPWyKrK/sR1+xb8uXtCQhCw6hCEoCBQE41qGtTrGoFY1SGMSMYpDGopWNUiNiSNikxsUCxsUuJixijUyKNBjEznD5p84Um2bO7LEPHMwe1Yltnfk+1OxNvJCOmpph46mJajhieVzcY/xTXd7yeZc87OeQwAG1xnpmuhuMf4pru9pPRK53oOwHUospwz18w9ykQxD+bKMxSoSqiYylZ0KRFRR9CZicpMbkQjqVg0Cizm2nmCmyOWuqiitBtB5NVCTrykfphdVlco1v3zD9JH6wLq4qNEQhCAQhCAQhCAQhCCiePg/dGHvVvrZVV20NG9Z8ys/j1+M4+9I/WzqsNoaN6yt+XL2hIQlAWHUAJxoSNCeY1ArGp+NqSNikMagVjVIY1IxikxsUUsbFKjYkjYpcUaDKKNTYY1jDGp0MSKhVDbP/JHncs6IfZ6UdNZS/wDlRJdoNtJ+Q30np/YjL1dJ33TnxTMPsWunOeVt8YvxTXd6y+iVzrs8cwLorjE+Ka7vWX0CuddndgEhpNYwfzdS4Yx/JKisUqEqsp0cTf5JUmOFvR5T71FicpMblEZvibbf4z71rqqMd3xn3rYSOWvqiivO133zB9JF6wLq4rlCs++YPpYvWBdXlRoiEIQCEIQCEIQCEIQULx5/GjO9IvWzqs9o6N6z7FZfHh8at70i9ZMq12mMm9Z9i35cvSCFm0JGhOtasOpWtT8bUjGqQxqBWMUhjEkbFIjYorKNikxxpImKXFGgyijUyGNJDGp0MSKWGJT4IkkMSnwRIPP7Xbaa3/LZ6Uik8HGfbtJ3zF5Df2JNsx/bB+jZ53+9S+DjPt6j75b5I5D7FuOHOeVmcYfxTXd6zegVzrswXaB0ldF8YPxTXd6Tercucdn9gFmGkupJjdhIucuxItn12Wbapw7Q/WZ71i0n+Sn475e/X9FVDjNout/Vu8bVn/ShGsbvG32pk0UZJJYLk3POdv8AApWz4Y4nh4ia7paXus4XBIJGY03IGX7VyJMbss9Y/esIZ+VPNaB863sutzXVjXkFkEcVhazHyOv3Tjv5FqahxPR4z7kRp6j76p/pYvWhdXFcoyffdP8ATQ+taurio0RCEIBCEIBCEIBCEIKD47PjX/tovTlVcbSHY+H2KxuOk/dY97xed6ruvHY+H2LfTnH6RGtTzGpGNUhjFh0KxqkMYkY1SI2IpY2KVGxJGxSoo1BlFGpkMaxijU6GNFZQxqfDEsYIlPgiQZQRLYwQrGniWwgiQeV21H9sO+azzH3qTwdj+36Hvh3kpagrPbEf2w/uYR+g0+1SeDcX3Qo+5LIf/wAs49q3059vc8P/AIqr+9J/VOXOGzzzPCukeHYvsqu70n9U5c2bP7DwrMNJrSnmOTDSnGrTKSHrNr0wAs2hBIxpiUrNMyuQat/35TfTQ+tauriuUmi9bTfTw+uaurSstEQhCAQhCAQhCAQhCCguOXPazu5BEPSPtVfVgzb4fYrA44fjaT6KL0V4gxg6rfTnx9IjGKQxqfZTN7qebTDpPk9yzjLeUGo2KTExK2n7vkT0cZyAIPgPvTGTKDkUamRRpgMkBsW52vYtcDbpss21Th2o8ZHsUqVyhsYY1PhiWoi2mR2g+v8A6VMi20B+DPgcEqVyhuoIlsYIlooNvM3xv8GA/rLZU+34t7ZB4G+xyVJcN3BEthBEtNBt6H+/9QnzLZU+3af5Th1xyexqVKXDS7UZ9sy9ws9TGpXBpn2/Tdcp/wAB4/WTFXIJJ5XtzaXNwkgi4ETG3sRfUHxKZwab90Kf5k58TWD9Zb6Y9PWcNx9zK3vSf1TlzTs88zwrpjhkPubW96z+qcuYdmvyI8Kw22IKcaUwCswVpD3KAalOMf3V6ni72bSPbLJVxiV2LA1jzZrW2BvbeTc5noy3rT8L6OCCueylvyRa1waTfk3O1Zc59Bz3OCIhYkxI5GJNvKKiw/ftL3xB65q6tK5Qo3Xr6UdFTAP8ZnvXV5WVIhCEAhCEAhCEAhCEFK8afB6ql2i+WKnlkYY4wHRsc8GzbEc2+9eHfwdqwc6WoHXBMPOxdPy6LWVFU5qts4ucRsyYdlFIOtjx5wsSQ3J2R6DkugZNtuamXcKbdkL9auRioljx0hOYuhXd/wAR0zuzjYetrT7Fl8N2fJ2cEB+dFGfOEyMVI3nbe+PldzTcOGemeeWZ8axkkkGV3FzspHE5234unMeRXqaLZjucYYARniDWtIA33FrKo+MTbNPYf0dG+A8o5skgcbTxuadWknInp3E36EyKan4XJ/V3PJ6kbiT0eROiue77G481ugwtyAADTitc6nLuFeY/pmowYOVdgviwkNw4um1tc08Nvz4Wtc4Frb2GFotfXMC58KWU9TEp8AU3Z7dnyMjdjmaXNaTpk4gXHYHevYU3AaE/hZR14D7ArlCYy8c19lJZNp7l6ybgPGPwzj1sH7SgzcHo2fhL2/ukfrplBjLWUsl3a6Ld8FBfaUXcpqg+N9OPata2CKMkhwB36qVsfakMFTyzpAbRPiwj+++N17/9PypMxRETb2/CsXoKvvWf1TlynRyWcujNt8MaeSkqGB2boJWjrMbgFza1YbbxpWQKj03Obdvhb7QnGyDfkeg5Ko2NJtDBuN7WxNcWnSwv02Ud8lzfp6TcnrO9NIuqHQ5M1EwaCSkMw3Z+bxrXVb7nNQP7AN6+kvvqoPLOxdalclcGvjCj77p/XsXWpUUiEIQCEIQCELCedrGl73NY1ou5ziGtaOkk5BBmhQYttUzuxqIXdUrD5ipLKph0ew9TgfagdUOto8QyUtrgdDfqWVkHhdq07mXuF5mtkVr1dE2QWIXhOEfBxzblgyRXiap/QtdIXfKA8K1VbtVxcc7ZkW6LFQX1pO9EtvXzmxBkJB3LR7bcC2w6bph1UVHmkuiIGFSKSkLza9kmFSaeTCrRb0VGwgxtd2DS3EW2JwgjNrSRcjWxI3K8Nl7apqr72lBdrybgWSW38x1ifBdc9srj0pwbRORBLSDcOabEEaEEaHuqDoKtkc3Vec2jVL0vAyodWbNp5Z83vYbu+Xhc5rX5fKADvCoe3ODJIJYjSvdoz6rzVbN3VvtuUMkROIFeSrJVBDqqg55rVKVUPUZVDkMxabhThXB3ZBa1KERshIxLyzBoFrgsgFRKmqr6ZKI4rKywcg2HBb4xou/Kb17F1muT+CIvtOi77p/XMXWCihCEIBCEIEe8NBLiAACSSbAAZkk7gqP4xeGZrHGOF4bTxHEAb3mLczIQM8I7UeE52w7LjI4ZGoc6lpcRgYbTyRi/KuHaNI7QWOfbEdAz8BUVRaxwY6Q2FsDmAdzI3yNzfxoko0k5IZNI4AYbYRvJcbEgDLq15t09O8xuaHNBx5NaLF+6/NI1zHjHSoZJFHzS4lxAcQLgONzdzvA+6zrnc2GNumK9w0XFrXGPU5YOjqVGNnNBjc0GYgkHmkA5ndoNczpa+gWQrHgBsckjXNIxkOcDhN76OtfTLLVLVOvO1rT2LLFzW2JGgLrC5AzvrpfVYRSE1EliBmC4YSQ5/ZEOt3Rbwoh2fblTlyVTUYcw600wsR+Wdff3FIfwgqmxNc2sqSSQDinnLbZYsi62VxfrutVSuBie245MF2EEHQ25wN9cs/8A0sC8GDnYcrWtqLFxDbdBve+nhRUmqaC9vOBxkl7i7fre+HtiT0rFlODKWXFg3FiBB6che2ls0lTJ/Vv+xl2IHCDcEkgEuFrAC2h6b5hLKQJmnCLlrgRiyBwl2MEgYciCDnp02REa3PLLZh2EZix7t9Lb04+jdygYN7S6+VrA23E79107ExvLObhJBbcDEOaAQMJPSdLHpHWm4Q0MkBBxCxxAtw84HC2+hzzy1seiyBttFIXvYBcstewcddLW6RmsIad7mucAbNJByd2vZbt3dSlzeTsC7lBcH5JItnfXTzJZqjCAGPeDe5BuAb3Ljk453RWVFTmU2aQMiecQBYd09a2WxaWAyuFQ18jGHntiexpdY5jG4gAdWfQQoVMRHCX3LXEWbZzRpfCCAcVj1Dcl+FOjjLg9wkfziMQ5xyGYw626Sgueh42aQQgspZ2xRgNGHkcLQ0AAC8g0FgpMPG9Qu1ZUN62MPoyFUpWl0MTYwbYhz2G1rPLrkDAMtN6j00YMZJNiL4Rcc7D1lQtd1dw82TO20j3tJ6YZD6IK8Dt6CglJNNUi/Q6OVnpMC8fa0YeW6txAXFyL6gE3I1OiclIY0OItcNyBFxi0uL30sfCi2jV1A4HLnDpGaiPYQcxbrW5kuwDELYjYZHzr1XAzi/8A6UifIZjCI5MA+x48bi0OOrhkBg+sUFdKXSclnyrXHTDgcG9N73ab7l7naXE7XxuPJcnO3cWODHHrZJYD6xWg/wCFMD3Mqp/gsjRctlgfJfuB0Dnjx2RGiDG4Cb86+TbajpxaD+fA7EyIPs4ucy2reab5dIPd3LebN4ItlpzOayKJgdgPKRvJBOhPJl1h3St9s3illqGY6euo5WaYoy9wB6DbQ9xB4CbDiOC+G+Vzc27psL+JNuCtD/4Uq/7TT/Vk9yVvEjVHWrgHVHIfaFR4Hgb8Z0XfcHrWrq9VTwW4nPg1VFUTVXKGKRsjWMjwguYbtu4uOV7btytZRQhCEAqs41OHgZioqZ/O7Gokb2gIziaR21uyO69tb4bPqJC1jnAFxDSQ0auIFwB1rmWo4P1hJdJTVJe4lzz8Hmzc43c42ZvJJQa+qmBb9jNjdo7I6HIuAJ3ZZdazq5mck7CcT7fLFi11mkBlr351733J12x5R2UMzfnRSN87U06kt2XN68vOqhZ4miDDfFhZchrhY4c7jK40PSsxHjjYHX5tjZpsL9FlHEUfy2fWCzFC06Fp8IRD1RTOeWnM4RhAvlbTp6MlgYpRJymd8suaRcWNyDcHMXzQ3Z53HxJz4G/c531j70EaKKRpdzXYXX5oaCMJBBGbSL2OuSbYHiNzHtJBBABZkM7tt0ZgKd8HlGj3eMowzjtj4gfYg1r3l7MBcMbcJAdZoLhftyRbI3z1ySVFQDgcMOJpBthwgg9kTnY2t5SVsYzM1znA85wAccLcw3Ibkl5OUDy1pcGlmbcsJN9L6oI9XAWTMu0AuHYvY+MBhucZBAy1zF+xToiwEOYXB0lsIcHsa5pyBY7m3B8SJGuLmOMUfMLjYNsDiFjiF89Lpa1xkDQ6EDC5pGG4ybqzTQ3QMvxHmkR66Yxe991331WqcQ5xIFgRp0ZZ+VbuvmEjC3kcJtZpD3HBmDk0i1srWUfZzWMvyrXuJ0wnQWzvc6m6KwbVyygRk4hzTbCCAGkWPNF7aJaracjnNEliY3BwBbaxsdR4fIFnRshGPlBJm52GwYbRnJoN755nPxJKOnh5M8o94eScw3KwyZuJ0A0QR6yrMpaS1oIuBgbYkuI1G/8AipFa8lrIGnUtjwEWcDfsr9Nz5U1sdjeVaZXYA0Yr2vztw0I37+hbL4LGXB3wq5bfCXg3F9QC5yI19ZZ7mMBYQXNFxcYQ0ADMgXFgekZdSy2hIJZGNbgw3JDrYOaNA/TPTNSKaEmoe4TsBY0COS7ecXC+WZ7oPRdYU9I+SaRzjG4tOAlxyfvxDDa+Vujx3RUedtngZWti5pBHRqF0bxZ7O5DZdOLZyNMx/wCqcTb9TMA8C552Ps509UIdC+URZbruDbjuXPkXVkUYa0NaLBoDQOgAWAUVp+GrpBs6qMRIeIXEEagAXcRbfhxLmx+1p7kF1rZEABdWOaCCCLgixHSDqFzPw74PuoKx8YvgFnROPbROvgud5FnNPSWk70HnJszisLqTsXaU1NO2ameWSNtn2rgO0eO2ad4KSniD77j/ADkmJmlhzFkHV2xdotqaaKdgsJY2vtvaXC5ae6DceBTV5biuBGyKXFqWvPgMryPIQvUoBCEIBCEIBKkQgW6RCEDb4GnVrT1gFRZti0z+zp4XfOiYfOFOQg0snBCgdrRU35mMeYKNJwD2cf8A6sY+bib6LgvRoQeSl4ttnH8C8fNnnH+Yo0nFdQnsTUN6pnH0wV7ZCCvpeKanPYVNU38qF3niUZ/FMO1rZfy4o3ejhVlIQpVkvFTP2lbGfn0x84lUZ3FfWjSalf1tlZ5sStxCWlKYm4udojRlI/qmkafLEo0nAbaA1o2u+ZPGfSIV4IVsqFAzcEq0dls+f8l0D/RkUObYEzeyoqsf9u93oAropCWU5rfQNb2cUzPn087fKWKJLFTA5yMb3HEt9JdQXWLmg6gHrF0spzA2jgd2MjD1PafasTsYHQ+YrpafZFO/s4IXfOjYfOFBl4IUDuyoqU9cEX7KFKd4sNl4drU+IEgNlcMtC2M2J7lyPDZX4tZsvg9S0zi+np4onEYSY2Bpw3BtluuB4ls1FC8zw54HR7SiaHO5OWO/JSWvbFa7Xt7ZpsO6LZb7+mQg5+l4rtpQyXjjjktoWStt+nhPkU2l4r9oVcrfhfJ00Y7Jwc18hF8w1rSRfuki3d0V6IQMUFGyGKOKMWZGxrGDoa0ADzJ9CEAhCEAhCEH/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3" name="Picture 9"/>
          <p:cNvPicPr>
            <a:picLocks noChangeAspect="1" noChangeArrowheads="1"/>
          </p:cNvPicPr>
          <p:nvPr/>
        </p:nvPicPr>
        <p:blipFill>
          <a:blip r:embed="rId2"/>
          <a:srcRect/>
          <a:stretch>
            <a:fillRect/>
          </a:stretch>
        </p:blipFill>
        <p:spPr bwMode="auto">
          <a:xfrm>
            <a:off x="609600" y="1828800"/>
            <a:ext cx="2514600" cy="1819275"/>
          </a:xfrm>
          <a:prstGeom prst="rect">
            <a:avLst/>
          </a:prstGeom>
          <a:noFill/>
          <a:ln w="9525">
            <a:noFill/>
            <a:miter lim="800000"/>
            <a:headEnd/>
            <a:tailEnd/>
          </a:ln>
          <a:effectLst/>
        </p:spPr>
      </p:pic>
      <p:pic>
        <p:nvPicPr>
          <p:cNvPr id="1034" name="Picture 10"/>
          <p:cNvPicPr>
            <a:picLocks noChangeAspect="1" noChangeArrowheads="1"/>
          </p:cNvPicPr>
          <p:nvPr/>
        </p:nvPicPr>
        <p:blipFill>
          <a:blip r:embed="rId3"/>
          <a:srcRect/>
          <a:stretch>
            <a:fillRect/>
          </a:stretch>
        </p:blipFill>
        <p:spPr bwMode="auto">
          <a:xfrm>
            <a:off x="3657600" y="1752600"/>
            <a:ext cx="2143125" cy="2143125"/>
          </a:xfrm>
          <a:prstGeom prst="rect">
            <a:avLst/>
          </a:prstGeom>
          <a:noFill/>
          <a:ln w="9525">
            <a:noFill/>
            <a:miter lim="800000"/>
            <a:headEnd/>
            <a:tailEnd/>
          </a:ln>
          <a:effectLst/>
        </p:spPr>
      </p:pic>
      <p:pic>
        <p:nvPicPr>
          <p:cNvPr id="1035" name="Picture 11"/>
          <p:cNvPicPr>
            <a:picLocks noChangeAspect="1" noChangeArrowheads="1"/>
          </p:cNvPicPr>
          <p:nvPr/>
        </p:nvPicPr>
        <p:blipFill>
          <a:blip r:embed="rId4"/>
          <a:srcRect/>
          <a:stretch>
            <a:fillRect/>
          </a:stretch>
        </p:blipFill>
        <p:spPr bwMode="auto">
          <a:xfrm>
            <a:off x="6248400" y="1752600"/>
            <a:ext cx="2133600" cy="1885950"/>
          </a:xfrm>
          <a:prstGeom prst="rect">
            <a:avLst/>
          </a:prstGeom>
          <a:noFill/>
          <a:ln w="9525">
            <a:noFill/>
            <a:miter lim="800000"/>
            <a:headEnd/>
            <a:tailEnd/>
          </a:ln>
          <a:effectLst/>
        </p:spPr>
      </p:pic>
      <p:pic>
        <p:nvPicPr>
          <p:cNvPr id="1036" name="Picture 12"/>
          <p:cNvPicPr>
            <a:picLocks noChangeAspect="1" noChangeArrowheads="1"/>
          </p:cNvPicPr>
          <p:nvPr/>
        </p:nvPicPr>
        <p:blipFill>
          <a:blip r:embed="rId5"/>
          <a:srcRect/>
          <a:stretch>
            <a:fillRect/>
          </a:stretch>
        </p:blipFill>
        <p:spPr bwMode="auto">
          <a:xfrm>
            <a:off x="457200" y="4038600"/>
            <a:ext cx="2476500" cy="1847850"/>
          </a:xfrm>
          <a:prstGeom prst="rect">
            <a:avLst/>
          </a:prstGeom>
          <a:noFill/>
          <a:ln w="9525">
            <a:noFill/>
            <a:miter lim="800000"/>
            <a:headEnd/>
            <a:tailEnd/>
          </a:ln>
          <a:effectLst/>
        </p:spPr>
      </p:pic>
      <p:pic>
        <p:nvPicPr>
          <p:cNvPr id="1037" name="Picture 13"/>
          <p:cNvPicPr>
            <a:picLocks noChangeAspect="1" noChangeArrowheads="1"/>
          </p:cNvPicPr>
          <p:nvPr/>
        </p:nvPicPr>
        <p:blipFill>
          <a:blip r:embed="rId6"/>
          <a:srcRect/>
          <a:stretch>
            <a:fillRect/>
          </a:stretch>
        </p:blipFill>
        <p:spPr bwMode="auto">
          <a:xfrm>
            <a:off x="3505200" y="4038600"/>
            <a:ext cx="2143125" cy="2143125"/>
          </a:xfrm>
          <a:prstGeom prst="rect">
            <a:avLst/>
          </a:prstGeom>
          <a:noFill/>
          <a:ln w="9525">
            <a:noFill/>
            <a:miter lim="800000"/>
            <a:headEnd/>
            <a:tailEnd/>
          </a:ln>
          <a:effectLst/>
        </p:spPr>
      </p:pic>
      <p:pic>
        <p:nvPicPr>
          <p:cNvPr id="1039" name="Picture 15"/>
          <p:cNvPicPr>
            <a:picLocks noChangeAspect="1" noChangeArrowheads="1"/>
          </p:cNvPicPr>
          <p:nvPr/>
        </p:nvPicPr>
        <p:blipFill>
          <a:blip r:embed="rId7"/>
          <a:srcRect/>
          <a:stretch>
            <a:fillRect/>
          </a:stretch>
        </p:blipFill>
        <p:spPr bwMode="auto">
          <a:xfrm>
            <a:off x="6324600" y="3886200"/>
            <a:ext cx="2019300" cy="2266950"/>
          </a:xfrm>
          <a:prstGeom prst="rect">
            <a:avLst/>
          </a:prstGeom>
          <a:noFill/>
          <a:ln w="9525">
            <a:noFill/>
            <a:miter lim="800000"/>
            <a:headEnd/>
            <a:tailEnd/>
          </a:ln>
          <a:effectLst/>
        </p:spPr>
      </p:pic>
      <p:sp>
        <p:nvSpPr>
          <p:cNvPr id="13" name="TextBox 12"/>
          <p:cNvSpPr txBox="1"/>
          <p:nvPr/>
        </p:nvSpPr>
        <p:spPr>
          <a:xfrm>
            <a:off x="914400" y="6172200"/>
            <a:ext cx="4563109" cy="523220"/>
          </a:xfrm>
          <a:prstGeom prst="rect">
            <a:avLst/>
          </a:prstGeom>
          <a:noFill/>
        </p:spPr>
        <p:txBody>
          <a:bodyPr wrap="none" rtlCol="0">
            <a:spAutoFit/>
          </a:bodyPr>
          <a:lstStyle/>
          <a:p>
            <a:r>
              <a:rPr lang="en-US" sz="2800" dirty="0"/>
              <a:t>How many of you have these?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about these?</a:t>
            </a:r>
          </a:p>
        </p:txBody>
      </p:sp>
      <p:sp>
        <p:nvSpPr>
          <p:cNvPr id="3" name="Content Placeholder 2"/>
          <p:cNvSpPr>
            <a:spLocks noGrp="1"/>
          </p:cNvSpPr>
          <p:nvPr>
            <p:ph idx="1"/>
          </p:nvPr>
        </p:nvSpPr>
        <p:spPr/>
        <p:txBody>
          <a:bodyPr/>
          <a:lstStyle/>
          <a:p>
            <a:endParaRPr lang="en-US" dirty="0"/>
          </a:p>
        </p:txBody>
      </p:sp>
      <p:pic>
        <p:nvPicPr>
          <p:cNvPr id="18434" name="Picture 2"/>
          <p:cNvPicPr>
            <a:picLocks noChangeAspect="1" noChangeArrowheads="1"/>
          </p:cNvPicPr>
          <p:nvPr/>
        </p:nvPicPr>
        <p:blipFill>
          <a:blip r:embed="rId2"/>
          <a:srcRect/>
          <a:stretch>
            <a:fillRect/>
          </a:stretch>
        </p:blipFill>
        <p:spPr bwMode="auto">
          <a:xfrm>
            <a:off x="304800" y="3429000"/>
            <a:ext cx="1838325" cy="1838325"/>
          </a:xfrm>
          <a:prstGeom prst="rect">
            <a:avLst/>
          </a:prstGeom>
          <a:noFill/>
          <a:ln w="9525">
            <a:noFill/>
            <a:miter lim="800000"/>
            <a:headEnd/>
            <a:tailEnd/>
          </a:ln>
          <a:effectLst/>
        </p:spPr>
      </p:pic>
      <p:pic>
        <p:nvPicPr>
          <p:cNvPr id="18435" name="Picture 3"/>
          <p:cNvPicPr>
            <a:picLocks noChangeAspect="1" noChangeArrowheads="1"/>
          </p:cNvPicPr>
          <p:nvPr/>
        </p:nvPicPr>
        <p:blipFill>
          <a:blip r:embed="rId3"/>
          <a:srcRect/>
          <a:stretch>
            <a:fillRect/>
          </a:stretch>
        </p:blipFill>
        <p:spPr bwMode="auto">
          <a:xfrm>
            <a:off x="2590800" y="3048000"/>
            <a:ext cx="2143125" cy="2143125"/>
          </a:xfrm>
          <a:prstGeom prst="rect">
            <a:avLst/>
          </a:prstGeom>
          <a:noFill/>
          <a:ln w="9525">
            <a:noFill/>
            <a:miter lim="800000"/>
            <a:headEnd/>
            <a:tailEnd/>
          </a:ln>
          <a:effectLst/>
        </p:spPr>
      </p:pic>
      <p:sp>
        <p:nvSpPr>
          <p:cNvPr id="18437" name="AutoShape 5" descr="data:image/jpeg;base64,/9j/4AAQSkZJRgABAQAAAQABAAD/2wCEAAkGBxQSEhUUExQUFhUVFxkYFxgYGBcYGhcVGBgXGBgYGBgbHCggGBwlHBcVITEhJSkrLi4uFx8zODMsNygtLisBCgoKDg0OGxAQGywkHyQvLywsLCwsLywsLCwsLCwsLCwsLDQsLCwsLCwsLCwsLCwsLCwsLCwsLCwsLCwsLCwsLP/AABEIALcBEwMBIgACEQEDEQH/xAAbAAABBQEBAAAAAAAAAAAAAAAEAAIDBQYHAf/EAEsQAAIBAgQCBwUDCgUBBQkAAAECEQADBBIhMQVBBhMiUWFxgTJCkaGxFMHRByMzUmJygrLh8BVDkqLxwiRjc4PSFhdTVKOzw9Pi/8QAGQEAAgMBAAAAAAAAAAAAAAAAAgMAAQQF/8QALhEAAgIBBAECBAUFAQAAAAAAAAECEQMEEiExQSJRExQyYXGhsdHwBYGRweHx/9oADAMBAAIRAxEAPwChUclHryH4+lehAp5s3z/BRXi3s37C+k/gv97URaYAdkQO8zr6bnzNCCM6jm+3JRt6/reW3hVlg0neFXnMbfRR8fKgVuD3RJ/WP4/hTsJitQfbI9FH9+pq0yFzxPgWFuDs4dZJnMqsgk7y85mA+feKy+L6NIBFp3Lc9AVB7i39SfCtXieLdbbVXLPlnsjRRJnU8/U+lBdevvHb3U0A82/DLRKdFtJmRvcCvqYtuGPcCQfgRA9TUD3sTaMPbJ9J+ayK11zHFgRaSQOSCF9WOh+Z8agW2WJUncSQkjTnLnVvlQ/MOPRPgxZm7PSBPeVl8oI/GhsZiUdpVgZEdxnyOta8cFtuYKKwImCBIjx3M1Qcf6LNaJuWhNvdhzt+Xevjy+dEtXK6Benj2X/B7n5q3+6o+Aq4tZSK5thrJZh1d1rTHxORvQaA/I/W0GKx1n9S6vkJ+6ta1LXZlemT6Nji8CjKTptWF4Lwr7Tea0NyrEeasD9Jo4dLyBlu2XQ941Hzg0L0a4qlrELczCO0CdvaBjcUcs8ZAxwSiDcU6NXMO4FxCFJAzDbfv5GjLWHIOxCkQDqfPU78/jV50l46uItqgM9tTy76P4Fx7qLXVFM4JJggHUgDn5Vizd8GvD9yv4Hw+87HqwQoGpMR37nStvw3HWMKg66S52iGZj3DlzFVfE+NYVrKlka0Z1i5kVpVuzEGe+BG29ZTj/FUudSMJbZWtsSbjM5LN2Sp7QgajYChhjk+aGyyRjxZ1/hnGLl5A1qw6qRMsAN9u00D4VLiLjD9LfRPAS5+GgrkFrpTjnAm5Gms5nJJJM7gA69xoW+b1wfnLtxvDNlHqqQD61ox6dyXJnyahLo6XxLpJgbPts1xuQZ4/wBiwfkaor35RFVpw+HQHaRbVY7u00H5Gsph+GgDQAeQoi3gN/StKwRRneab8/z+fcm4p0qxmI9twByGrR5DRflQGCuP1gL3HbQ6EwNv1RA+VH/YwKiu24IpsUuhUrKrC4YKogAaDlUtzDSI76Nw6aCpCIFFXFEb8gFjBtm7RkDYbUclgCn223qUCgx41DhFzm58tj8NhZO1XmC4adIFCcKKhtTW3wmKtBdCoPlQZJMPGkVeH4TqCQIkVYW+GqRHf4cqmPEbYPtH5VHiMeIkSdNKT6h6or72GVuIQY1wyf8A3LtWGN4WmRtQDsPnWbTHn7Wz92HQf73/ABqTF8aYlt9NIq9kr/x+hW9UHLwa2NM1Ks5d4mxM60qvZIrejn9q83dP98hUn248wfWQP60Td4a6HVSPMEeHOhyjBtiRA8RtXO3GvaTLjZGpn5L8OdSWsUPP5D+tNSxmVsyjw2o3o9hBEgazVORe0dZt3H/ZHjp/t3q4wPBwYzS3nsP4aJtWN/75VdcE4e9xQIygbsQdd9R30tyYaiVOJsQvYnTSAOfgKteH9GnjMVFtdTmukKBMSBOvKtOi2cIJKMW720Ex+sRoPKsp0h6UW7h90kbdUoY+RuHf4+lClYdUSrawuH3Z77fsDKv+o6/Car+IcSLiEtpaXmdWaP3229AKrLl7GXQxs4chV3Ygsde5RufAA1m+kuCxCMq3CzsRmOYlAJ7rTBX07yoqKDbC3JK6B+NYeyDNu4C06qO16yNB5Gm4LHkdlzp391D4bDFfadCI2RSYMaDtDv0Mg7GJqd8IHH5tCoH6zAknxgBfgB5VtxJ1tkY8jV7kG30ldddPOqd8EpERpU1m+U7LT+FEjf0FbYwUlTMkpOLsqxgCvsswrT8LQ9WrHU66nz/CieH9GrlyNUWROpkxG8D761fBuiXZCFmYATKrzJOnOOW9ZM7xriL5NOLe+0Y7iCSEA3z+fusPvptrAuSOy0ztBrq+G6G2udqf3zPh7Pl4VcYfo8FGmRB3Kv8AxVQ1DgqUS54VJ22clwvR+6TAQz3HTTv15UXi+BPaQu8dncAzpMV1b/AbQOZmeYgmcoj0rMdNhhEswhVmzCVW4WbL/q74nwmi+Yzy6/IH4GFdnP7uIEDLzqPC3d6jtKT2VBPz+dFpw64pJIj+5rqbUo0+zm23K10RvdM+VQ3jqK8fGc8g+Z+kVC2LbeFHjAEVleqxrwzVHS5Hy2q/EmwwJGgnyqR7Zju8yB8jVTd4quzXl8s08u6oW43aGxY+Sn74oPnPaP8AkY9Il3K/wLtQBuw+Z+6KebqjXU/AfjWafjo92238RA+k1ZYe6WRWMDMJgcpoHqckn4QXy+KK4thdnimVgHGWR35gPMiru1iyQCDI7xqKyeMWY8vvNQ4XEva1U6bkcvhTIZn1IVPD5ib2ziZO1WHWHLWf4fiAwVv1gD8RVokxpJp8kKhIAmL899lfk7Uelkan1NVuJuRdX/wh/MfxohuIDlJ015Ve1k3LyPawPH4UqhbiI5T8aVDTLtG8LHbQ0HiOG239qzbP8I/CrFIqRIrj8HSMxd6NWj/kj0kfSszhOHNh7l0EMEVoUsCJ0BJk76zXUbd0URgxpr4/WgZaMlwTgedesu9i3vLbEd4nl41a3el2Cw6xbbrCP1Bm28dqj/KFbzYPEQSD+a1BI0kiNOW+njWc6OcIVsF1r6tLLJ5L1R09Sa1Y9NuW6+BU9Qo+muQ3GdLrWLtXOtudTbSCQ9prmYExplcbaa6b1UHpBhbTA4azcfTdotL/ALfzhHmxqp6Q4QJh3jmD8ih/GhsMnZHlWj5SCf7iFq5tfsW+I6V4q4CqFbKH3bQy+ubc+tZGzazNcnX84d/wq/RNarsIvbu/+IfoKbGCS4QuU2+2RfZhXti1l0o9bU1J9jMTVUrsq3RT3+HC47CYbswd+XPvFeYng5spKvnaQACunjzn51a2sMc9yB7KqfkaEOKDmPEUbpW/JUb4Xg23QTjmGSxOLfLdUwBkkFYGXKQpI0EbjatYOmmGiUzN3Tp9TNciuDSm8NxYVNZ3OnpWJ46i5fc2LJclE6niOnHtBEEgTrJ5geHfVPj+l+IKKwbLJYaAe7l8PGsYcWwRysTk5/vLNC3mvC0rNIGcxppBC7fCss8eWUvS+DRHU6fGtuRepmg4nxm45Msx33JMVUl84nvoa7dLCTudfWiOGsInfX4R312cMdsUn2cnNJSba6NLwLBIi53ieQNRHizMXUxlYsRtp3cu7SgftRPfQighteZNMULbbFudVQGlgZQTrMiOzyjlmnnzArB4Dh3XuQzRB1J196K3FlDmJnSNu7asx0fSblwSohzq22jGuRK9p1YR9VPn+dBOB4PaB1UmO8/dFarhPDMLEvbMzsANu/MTp5RVdhXA2+4fT8aPVjG2nmec+PhQhWC8fw9uG6q2VUKd8pMwdZCjwoPAfobf7g+lF472G0Gx7+6heGfobf7ooo9gy6CLVsE6933mh8RYAMDWoscSCIJ2+81J0YxXVYmzdPuXVY+WbX5U5PgU0XPCMNd6sfm7kAkTkbbfu8asLt9gIgjv7/Kuk8T41aa2Y1kaVzzH6mmxzvbVCngW67Ku8/bzcgmX1magbEeBoprcg1Dcw55A0Xxcj6K+FBdghumlU/2c9x+FKpuzff8AwTbi/jKC30pxq7Yq96kN/MDRGH6ZY5BpiCf3ktt88s10HH9EsJfQqbS2zye0AjA9+gg+RBFcy6S9H2wd3qzczgiVaCNOUiTr5VzjQ015O7cKuZ7VtjuyKx8yoP31YYd4X1P1qm6NEfZcPEx1Nvck+4OZq0tn61T7Glf0zcfY8QP2bR/+oRQnQm3n4fcHdr/sp3TMt9muhUBU2xmaYyhbikQOclqn/Jyn/Ym8QPoa6kONO391/o503edL8f8AZhel36A+JYf7Z+6q/Cnsjyq36dWwtuO9ifij0H0Z4Y2JhFIELmJOwA/qQPWmzaq2Lin0hiGq7D/pb37w/lFbux0OA9q6T5LH1JonC9B8OrMxN1ixkywA0AGkAd1Z3ngh6wzMdhVk1prWBU2Jkb7VpcF0XwwEi0PUs31NWdvh9u2OyqjuAAA+QpM8t8pDYYmuznvB8Jmv4sZSf+zpl097KdPPWsPwPozjSxuPh7qIBJNxer/niu/21qi6Z43Ki2huxzN+6PZ+La/wUt5XKVoZHGoqmc1v8IvqINm56KT9PSq5OC4jJP2e+B3m1c/CuncBwYgXGEn3fDXU+ciPSr77cRtFcnVf12GPJLDtuu3+y/6h+PRt1JHJuieCS9eS3ekI+dWM5YhSwknbVQPWtfxHgXDraC2qO8nN2blxtYI1ObKPKi+l2GW/aa4iKL9sZlOwfLrkY+MQDyPrWAw/Fcc4BRMIg/aa4x+UU7TaqGquUG+PBMmH4b9UUFYrgTF26tStuezmYTHjBNe4fgDqwOdADow117iNN+XiPKoGfHtvicKn7tst/M1B3cBjDvjbh/csoPoK6T1E6SvozLDC+jRf4Uo/zP8Ab/8A1UNzCWwfeJ8wPlBrNvwLEPviMa3kxQfAACnYXovldbj9echDS9ydVMrpOusUHzGRvthfBgvCJLO9Zbgtub10ftMd42c860eKvm2rOBJHKazL4RCzMb6CSScgv8zJH6MbVJcqgounZpbISfaQDmM2Y6fjyo3D3EMFmC+GUz56aVjkwNo/510+SOf5rgolOG2ufXt/5ajy3c0r4b9xvxVfCRecR4goRgp3BGuXnpQ/BxNlP3aAHD7fK1ePqimP9Bg1cdHMCSzKFZQToDqQPMAA+cDyFMhBRAnNyG3+G3LhARZJhRqB2maANT3kfGrjh3QHGArmRFA77in+Wa0HQ3hkX1ViGyBn7xpAHwLA+YroFxso0E/D76fBpUxMldoxmF6JX4Aa6g8s7fcKH4h0dxKXrVu2q3UeM9wkIUE9qFJJYhZPnFb0Pyyn5D7/ACqC9wuy1xL7W0N1BCXCO0oM6KeU5j8ac9TPxx/ZC1gj5KhOiltdy7+oH0E/OjcPwO0v+Un8Xa+pNWPX9qI/47/rUmWheoyPthLDBdIHGHUaZEHoKVTEeJpUG5hUjMItc5/Kin5+3+4Pqw+6uiI1YD8qK9u0f2Y+Bb8axsOXRu+iLzg8Mf8AubfyUCrC9xG1bW4zOsWxLgGSo03Ua8xXMMPxi59lsrbdl6u2AYZlEhnGselV/wBt6nNeKK8KVYH31YwytO4Mk+etV2wvBseIdN7WJt3VS2/V9VBdiFMswbRRI9wbnnRH5NOkBcXMLCqQuZGMmVBAKnUajMDPPXQRXORj1eyxS2loXH9hNFUCNB4aD40R0N4utnG2XzaK4D7iEfsMT5BifSmwyz+m+BEoLddcmr6bE5II9lwJn9lxt61ougGA6rCqzCHuwx8EHsj6t/FQnHuD9fdCTozgt4IJJ8jGnqK0wVQsEDLEERpliIjujlWvUzpKKF6eN3JlDf6QKWJ/OlG0t5SFEAe1Jdd9T8K94FivtWJCotwJZXO+a5nBYmFBIdu6QO5T31Z2cNgwYWzZkmBFkb7fq1ecPw6rOVQo8ABr6VznhhLs6UdXKqjXVcfhQaixpQ+MvhdTMDuBOp8BU7OAJqpfHSYCXJ/dNMySSVCYxbCcJjVcwobzKlR8TXPOkfGAz3L59ldVH7K6II8dDHexrYdIcb1WGbcNc7A7wCO1/tkeZFcf6Y4whFtjdu0fTRfnr/DV4+I2yp1dI1fRrpPir1rrV+yi2jMjA5lOgWCpAgDU6Hw1ox/yi4cHq7i2pGma1cVvkSs/OuJvadZhWyxBgGGGhgnY6gH0FWvCeCdapZ0uAEQuhAJIOoPODHnWGWh09Pjv+ebNMMmSTSR2NOKW7xHVXAZjRuydZjQ77HbuNczfpc+HZrf2dJUldSSAVJB9mO6ndGOEPbuiSSUY5QSCqhfeymdZq26VYE3hmYJmG7BYYjaDG9Z9Jpflsj2cxfv2q/X8hmonvit3DRQ3und/klkelw/9dDnpxiP11Hkp+8mqa7hspKncGKFNqunSMZvOCX+IYtest3B1YfKcwRcxEEgdk8jWjxOFNsa3XuFixghQqJmORRBOYgaEk8uXPA8F41ftWeqtnRcxCwN2Op211jfy0rX8OvXDYtm4SXKyZnmSQPgRVwjcrsqTpFFjMcEcqyvtsFJ38RpUQ4kvK3d/0f1roXB7OZWkEqqkkjLM8tDrG50B2HfRWGwoLKpEj3mzGRAJMgHs8uXOi3vklI5p/iLHaxiD/Cv/AKq9GLu//L3fWK6pjcFZ/NC2J6y4ACGc9ke1B/CrNOBYfmsz3m4fnHhVqcmC1FHG0vXzthrnx/pRuCx+KtyVwnLm/L/TXUMNwqyUBFuQdRDXdQT2SDGunOszxPF2RK21ZSHZSxYkMoMaSdNY5UPxG+Akkib8klq6xvNcEZAFXtFvb1I25ZF/1V0ZrXj47fSqH8n2Hy4Zmj27jEeQAX6g1ospzTy0pt+ARuSDvp6U4ONu6vbvfQrMTy1+gqyEiqJ+878/HanQaYrmdvlUq1ZAB7zSYpUWbIpVZDG3LwRSx2UEn0rmXSziTYg5mBAB7IMQB4a/GtT0s4mFAtA6t2m8uQ9Tr6Vi+Ky4yqpMCZ8Z2+VY5Pkj6KbD8RayzZQDmgQZ5aiirmMvX7bBbYK7EqGJB3p3CsCPtFtr6jqVYF51kDlA8YmeQNbvorxexYu4slgqXb3WW4HIqAezy22olRaUq5Oe4S6OrVeYmfOadZtAMYzEtpG8knYDvrrd3pHw26SLhR3AIE2Wc6o4gEofeKnfxqf8mQsWcMxuKi3pcqSozldxDRPp4U5Y1tbv+wlt7qp8ltgbDKq9Z+kyIH/eyjN85+FT320gc/pQ2Be40vcYQ2oAWCJJOpkzpHzrwXAxmT4af1pc5uTtj1BRVIsMJb50WKgsrAohaEsZiWgAATmMbkACCSSRqNB8Yp+HSANNhoTqe7vocW8z5+0MsqBJgidTAMHbn3U/HYsWLT3D7okDvY6KPUkUPbohkemOOz38gPZtDL/FoXPxyr/BXNuJYZrl0u8BZ0G5hdFGnLc7+9tVrxPGFiRJOup72OpPxJoDeurj0ycVuMzyO+D2xfZQBlBA1AiR8NxRf/tCDAiJ0IPLyodDUWJ4eH7SmGGu0j4Grz6KGRWlTG4dVPH90X3R+0Xc3DtEL4zvVtjLWkUzgsm2hOSY1CaKD3AcvKjcUulcVra6NMp73ZzLpJhcjhu/Q+Y2PqPpVVadQwJUMNCFOxIIkHw0IjStR0oAKPJiNROnaBO3fppWPS8ywwAOU8wCCCCCCD4T8acuhbOk8KvT2hoWtqrdo6AZtBry2kVNeMkCs30Rv3nY57bKmXMpae/KAogaaMfTxrQ5u0T3fd/WKbH0xbFy5lRoeF4i2ltjcV4LAAqOS7CQQy9oHmNKbbxiJdMJdKnaSwY94IB7azpB5DWaZiUsu1q2L1r2EW6S3dzW5qNtI02FeYbhCNfbsr1ILOuVswaNiCpLSd++l+KDpef0/wCheF4lY6wORcRlLBUHaUAg9rKSAm/sjuq6ucTV0OS3eaQQGVJGYiNDJis3wzg3aBY2ykkEBiD84jXedfDnV1wiyOrhOtysWaA4giYBAMakd4olSVAONvjoL+3IgUdtdIQNaaWgAAAZpO5rnXSQJbJRS0ZgJOjSQC0iNI8q6VisGDr2wye+zWswAEmJJiZ5Ca5hxS9nNy7rrJE7xGVfWAPnQpK+AvBZcE6b4mzZFtERghOUkGYJnWCO860Z/wC8PHb9XY9Uf/8AYKy2AWLdafjXA+pw4frsxBVSumU5hm7BmTpB1GoIOlPk0nQEbCcL0/xZ9u1hyPAOv/WfpRrdPr3KxaB/ff8ACsfb0A8q9L0aSBtmjv8ATzF+7bw49HP/AFigL/TziHL7Ov8A5Ln63aqc9Ma5V0irZap+UXHAa/Zie/qrg/8Ay0qpSa8qUSzI8exzXbpuEmX18hJgeggelQWcQ4G7a7QTQj3JiGLR3iI+dWD8PC2FvBpJIBWNpBMzPhFYvAbsn4Xae6SA+UiN5O8/361NjGvWWUM85u7MNJjnFUuTMwB5mnPbytl7jVEt0WWKxbhj2zoSNz+NWnQ7iNxMQzLLt1TBVzRmYskCTMVnr7ST5mtB+Tq2GxyZiAqo7GeYEAD/AFFT6GiSKjKTfZ2TBlzbXrBDFZYA5sraHKDAnmJipk0GxknUaRoCd420A9aVu6p2IolBVjSVah4liOrtsYYk6DLvrpI0MRvMcqnWplqURNXyVPCcZmtgi1dOp9pgTvqe0wMVS9P+JQqWh7o61x4wQin/AHH0FbFgoBLQABJPgN5rkPSTHG6Lt4/5jSAeSyAg9EA+dHgx+rkrLNVwqM4MRsCfak/f+NOa5FV5uwQe7+tLEOdPGuwpGSiS5izO+g+/b76IGLgSDVPcMa8uY7qZbvaxPlQ76L2mz6J8WIuFCwyMCdeRUTM8tAZ8h3Vc8Y47atrAuKWI0CspPoJrnVjGPadbiEgqQQRGhHnoa0nE+CWCReF29fa+GdWCqtsO05Tm3BVtWUjlsK5msit+73NWBOSpFViVa++ZueyjkO4ULca2v+XeUqZ0Np1kehlecQZrT4Lh3W3RbBCr77zORRObkAeQnxjvrzjljDqy28MyuSQCCsu3f+dz9kaE6L4Vk380N+G6b9iTo/dL2jda7cu5yYZySYXSB4TmokC4yTaPbKkroSNddY5bV7jyqoQii2DoqgkhcxgAE6mJ351vejPEMPZw9pUcKQACmYdY75RPZBkkk77ARsBWt0lVGdcuznK3rodOsWbehuZSc0AdoJOgadpkUUL1rnZvCbpJ0tGMMJjcgm9oO5daN6SMzXn7SBpXMygFSwjPA21Ob1JNVt5LqlhIBlcoZSMogSDrJnU8t6r4UfYJ5JMI64HO62yLYJALZAyLPZZhzmNQvfTOvMwCy94zEB+/KAwPPnUK8RuJcVFTssDnbMdTrBGvZ90EQZ8I1HwfFr4uPadITdSJ08JJhp1MQDtrUUI+xW5+4Xi+KBO3kUqYBz5mKzvmgncbCBUPGL6tbzKuQPl7I0idYjlU2I4ssH82wzgBQ6KTJYAnRYBETrBiq/Hr+jSeZPw0+81I44p2iObaoOwNjNkWCZOw39PnT8WBl98GYAJUgKRPIDvoPE2rhH5qSVAMd4BBg+eg9abhnchesENOoggDU6CdwNpOulW+yl0FsaYTTmFRtTQDwmm5qTGoy1Qg4vSqPPXlQhjcbcBiEVd9udeHHuUFsmUGwgaRrvE0F1WWnCsdBE9ww3z++vTckydTUj4Y5M8j3dJEwQQTvIAIA21nwocVEUFXBrU3BxcOIti0wV2LBSZiSrbwR/zFDufoPpU/BbuXFYc/96g+LAffVlLs33C72NyBnRlOxUgNBHiu4q1scevJow+o+tWdt6ktAMozKPLSpQ8iw/Ss+8D9atcN0nQ7keulZXieLw9u4yXLbKAJLr7I1UagGZ7XdyNe4bAWLpize1iYmTBAIMHlDL8RSo5ot0mG8bSto0HS7j6jB3IOjFEYjWLbMA3xGn8Vcz43xJLhVLZJEFjIA12A0J8fjWwvcCcAjRgQQQdQVOhDaRHhWI4vwRsK4P8AltOSTJU6SoPvLtB+NbMEvWkImuLKq6ND4H+tMW7Ohp90+15TUF+zMEHxFdF2JGXLkGgmUgz60a0x2gPSo/6UuSstElm5sa0nRnMGJGIaygEsqgHNJ3EmB8DWXV1UgAz3juqzQB9Acq8ydzWPUZoyhtXf6GnDGpbm+DQcW4mpU2MNIQ/pLm7N5nmaZwbDIpkSWjc7+ndTcDhkgBTpVrYsBdf7ismKHqSDy5LQPxKSOyCSnaAEb8vv+FA2sa6hnbOsqQqqWBdpO5QdiR5CKO4lhQ4BAYN3qSDHpVVewTHQ3Lmn60NHxFa5QbZnUvTX5+fw9vyLLg+JDgWcqAm5PXXLpQJbgxb17Ose2dZPlRV3EoesJN65da5+lZ865EhDM6sYTQgxBB86SzYuIIW4pB/WT7wRU6Yi6vu2m8iy/UGqUX5I2XzcDulssstx7PWKuUsVt7dbop0mP6TVTfxGQBvaMDtaCec6aUMmJKkkW7ikiCbdwA5d8uhBy67U+zxUIQerurl2lJHynSKj3U67Ci4qSbVosbF4XOsB0e2FaNCMjELvyaYMdxqtbtX/AAVQPXUn6ioLfE7VsMLSW7eYgsoBTMZ0kt3dwojhzZmZu8/KgwqdPe/5/wChZpRcrgqRLjTFt31kaA6ROg23pmAt7HwGniRU5w4GhYazAO55+tPs2InX+lGk7Ab4HE1G1SvUdMAIWNRGpWqJqhBhpUqVQo56lyW0ECiAKQsGJ10qTCoGcBmyqd27tPxrINl2NLGIn0r0CpHsgOQplZMHaRyNTdSKoEiY/QUyy8XEI0IdT5QwNOu1AxjXuq0CdVwXGXHtAMPgfw+VW2E4ipAksp57kTzg66fCsthLm+o/vuonOOcnzMV056fG+uDPHPNd8l/jOE2r7ZyAzaDMrEEZTIjcTqe7QkV5wrgq2Lxugt2gR2hMTl5gkAdnbTeqK3fI1XfvEg/GrCxxi6u5kfta/Ma1in/TFu3R779v+GmOu4p/uatrkiQQfWud9PbzF7IbQi2SQDIDFjMHnsK0o44pHaTXvBB+fKsv09uozWXQyIdTvO4ImdebUzFjnDInJEeSMo8MzTnUGmDYgctvL+9PhSZtPKoL7GJXetzYocLZ97WmRTFxBYRz50268KfAGgbVBURJYViSTqalXBN7j/X8ajs+zUF59a5lWaC7wl3E2tVKN4MP+Ksf8cukzeQIRoMswRrrqdDWVsY+4sw7aDnqNxyM1I/HbhEMEYeRH0MfKpG4uyPlGttcZ8aKt8WnurLYbCO6K4A7QB3pNYdeTD40/exe1GuGNQ7gU7rbZ5VjhfYczUi45xU3lbTXZUPvEV6MODs4+dZZeJnuqZOK+dXuRNrNG2DP7J9R99E4bh7qJyMB3hTHyrN2+L9zH40Va40RqGE+Qn471doqi7ZO8bfKmmg06R3P1yR3Elh8GJFSrx4H2ktt/CF/ky1CUSGozTzxW0f8qP3XYfzZq8+1WD/8RfVW/wDTUIQPUdEnqjtc/wBSkfyk1C9scmU+sfWKhCA0qebZryoUZe6JQ+VVyqO+jMPIWD3UNdsxtWIdI9BqbrqHtLUmSoCK7rUN1KmYbVHeNWD5NngmlRrEgfSigyjxqk4G02V1PMd+zGrVT312YSuKZhkqdBC3Typ+aoUapAaaAxxFU/SYE20Pc33GraaruM/owe4z8jQz+lhY/qRljcp3W6Uy5FJrf0rLvNox37hTb3sHyp+WiuF2wbyAgETqDqKn1ce5TdclYrkLUBeujvwPDv7mU/s6fLagcT0QQ+yw9RHzFKlpMseufwJHVY5fYwqtv5feKhatTiuiTrMT6Qw+6qm9wK6NgD4TlPwaKzyTi/VwPi1Lo0HBW/MW/wB0Udmqv4YhW0isCCBBB3GposNTV0L8kjKDuAfMVBcwNs+7HlpUmavc1CEBPwteTEfOoH4W3Ig/EVZZqWarpEspnwLj3fhBqBlI3BHxFaDNXuaptKszwunvp4xLd9XT2EO6j4VA/D0PIjyP41VMu0V4xrU8cQNSvwvub4ih34a42g+tVbL4CF4hUq8Q8aqnwzjdT9ahOlTcyUX3+IeNKqDMaVXuZW0uVtcjp6UDcwtxOWZBt3xRdrz/AAoyxcrJyO4ZQYdtY2gbGi+rkeVWWNwSONF1+A/pQIw121yzL/ex51fYDiB3lioLtEcRvgxlnxB0INAM5bQCiQLXJpujjfmvJj9x++rlTWc6PsbasrA7zO4EgDX4VobbSJrraeScEl4MWWDUiYCvRNNBp00+hJ7nqu48JsN4EfWKOf8A5/v4UBxND1T9rSNjr8DuPnQz+lhQ+pGPuNMUcbmgneIqtu6H1qxCc6wxNrGjf8aM4X+lHhQrGBRXBfaJ8Pqf6U7EvWheR+lmytPRKPQFtqIV66DMFBoem3LYbcb1Cr0/PUpPhg8ror34GhYsGdQfdBWB5StRXOCt7rqfAgj5ifpVrnpwekvTY/Yas+ReTO3sHcXdD5r2vpr8qGzcufdz+FapjtXl20riGUMPEA/WkS0nsx8dU/KMqTSmru9wy1OzAmfZLHbwMgcuVDXOD/qOD4MI+Y/CkvTTQ1aiDK3NXuap7nDrq+7P7pB+W/yoVhBgyD3HQ/A0txlHtDFKMumSZq9mo5pE0IQ4mmlqaTTSaoscWpjwdxXhNRs1UQYbCfqivaaWpVRDxDU1tqVKs40nQ0SbjBSAAT40qVCwkVF7g1y40sQvry9KNwPBVt67mlSq7KoLt4YrJHOPlP4149sqZQxPw9RXlKijJp8FSSfZLaxuwYQTsRqD94oyKVKuppcspxe4wZ8ai1Q00HxZotN4wPnXlKtE/pYmH1GMxFGWX7IHcKVKsEeza+htx6suCEa+dKlT8L9YrL9Jp0NShqVKt7MRIrU/NSpVRBZq9zUqVWyhwevc9KlVFETP21/db6pUmalSqIjPQ1enUQYI7jt/fpSpVYINe4daIkpl8V0+Q0+VC3eCj3XPkwn5iPpXlKlSwwl2hqyzj0wK/wAMuKJgEd4Ij5wflQIalSrDnxKD4NuDI5rkYxqF2pUqzM0ERavaVKqLP//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8438" name="Picture 6"/>
          <p:cNvPicPr>
            <a:picLocks noChangeAspect="1" noChangeArrowheads="1"/>
          </p:cNvPicPr>
          <p:nvPr/>
        </p:nvPicPr>
        <p:blipFill>
          <a:blip r:embed="rId4"/>
          <a:srcRect/>
          <a:stretch>
            <a:fillRect/>
          </a:stretch>
        </p:blipFill>
        <p:spPr bwMode="auto">
          <a:xfrm>
            <a:off x="5256551" y="2819400"/>
            <a:ext cx="3549755" cy="23622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endParaRPr lang="en-US" sz="2400" dirty="0"/>
          </a:p>
          <a:p>
            <a:pPr>
              <a:buNone/>
            </a:pPr>
            <a:r>
              <a:rPr lang="en-US" sz="2400" dirty="0"/>
              <a:t>A computer is </a:t>
            </a:r>
            <a:r>
              <a:rPr lang="en-US" sz="2400" i="1" dirty="0"/>
              <a:t>a programmable machine</a:t>
            </a:r>
            <a:r>
              <a:rPr lang="en-US" sz="2400" dirty="0"/>
              <a:t>. </a:t>
            </a:r>
          </a:p>
          <a:p>
            <a:pPr>
              <a:buNone/>
            </a:pPr>
            <a:r>
              <a:rPr lang="en-US" sz="2400" dirty="0"/>
              <a:t>The two principal characteristics of a computer are:</a:t>
            </a:r>
          </a:p>
          <a:p>
            <a:pPr marL="457200" indent="-457200">
              <a:buAutoNum type="arabicPeriod"/>
            </a:pPr>
            <a:r>
              <a:rPr lang="en-US" sz="2400" dirty="0"/>
              <a:t>it has a specific </a:t>
            </a:r>
            <a:r>
              <a:rPr lang="en-US" sz="2400" dirty="0">
                <a:hlinkClick r:id="rId2"/>
              </a:rPr>
              <a:t>set of</a:t>
            </a:r>
            <a:r>
              <a:rPr lang="en-US" sz="2400" dirty="0"/>
              <a:t> </a:t>
            </a:r>
            <a:r>
              <a:rPr lang="en-US" sz="2400" dirty="0">
                <a:hlinkClick r:id="rId2"/>
              </a:rPr>
              <a:t>instructions</a:t>
            </a:r>
            <a:r>
              <a:rPr lang="en-US" sz="2400" dirty="0"/>
              <a:t>  ( including arithmetic and logical operations) which it can execute</a:t>
            </a:r>
          </a:p>
          <a:p>
            <a:pPr marL="457200" indent="-457200">
              <a:buAutoNum type="arabicPeriod"/>
            </a:pPr>
            <a:r>
              <a:rPr lang="en-US" sz="2400" dirty="0"/>
              <a:t>it can execute a prerecorded ( in memory) a </a:t>
            </a:r>
            <a:r>
              <a:rPr lang="en-US" sz="2400" dirty="0">
                <a:hlinkClick r:id="rId2"/>
              </a:rPr>
              <a:t>list of instructions </a:t>
            </a:r>
            <a:r>
              <a:rPr lang="en-US" sz="2400" dirty="0"/>
              <a:t>(a </a:t>
            </a:r>
            <a:r>
              <a:rPr lang="en-US" sz="2400" dirty="0">
                <a:hlinkClick r:id="rId3"/>
              </a:rPr>
              <a:t>program</a:t>
            </a:r>
            <a:r>
              <a:rPr lang="en-US" sz="24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2" descr="http://www.petervaldivia.com/eso/computers/images/pc-parts.png"/>
          <p:cNvPicPr>
            <a:picLocks noChangeAspect="1" noChangeArrowheads="1"/>
          </p:cNvPicPr>
          <p:nvPr/>
        </p:nvPicPr>
        <p:blipFill>
          <a:blip r:embed="rId2"/>
          <a:srcRect/>
          <a:stretch>
            <a:fillRect/>
          </a:stretch>
        </p:blipFill>
        <p:spPr bwMode="auto">
          <a:xfrm>
            <a:off x="345592" y="304799"/>
            <a:ext cx="7655408" cy="6330765"/>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6385" name="Picture 1"/>
          <p:cNvPicPr>
            <a:picLocks noChangeAspect="1" noChangeArrowheads="1"/>
          </p:cNvPicPr>
          <p:nvPr/>
        </p:nvPicPr>
        <p:blipFill>
          <a:blip r:embed="rId2"/>
          <a:srcRect/>
          <a:stretch>
            <a:fillRect/>
          </a:stretch>
        </p:blipFill>
        <p:spPr bwMode="auto">
          <a:xfrm>
            <a:off x="381000" y="304800"/>
            <a:ext cx="3219450" cy="2971800"/>
          </a:xfrm>
          <a:prstGeom prst="rect">
            <a:avLst/>
          </a:prstGeom>
          <a:noFill/>
          <a:ln w="9525">
            <a:noFill/>
            <a:miter lim="800000"/>
            <a:headEnd/>
            <a:tailEnd/>
          </a:ln>
          <a:effectLst/>
        </p:spPr>
      </p:pic>
      <p:pic>
        <p:nvPicPr>
          <p:cNvPr id="16386" name="Picture 2"/>
          <p:cNvPicPr>
            <a:picLocks noChangeAspect="1" noChangeArrowheads="1"/>
          </p:cNvPicPr>
          <p:nvPr/>
        </p:nvPicPr>
        <p:blipFill>
          <a:blip r:embed="rId3"/>
          <a:srcRect/>
          <a:stretch>
            <a:fillRect/>
          </a:stretch>
        </p:blipFill>
        <p:spPr bwMode="auto">
          <a:xfrm>
            <a:off x="4343400" y="533400"/>
            <a:ext cx="2143125" cy="2143125"/>
          </a:xfrm>
          <a:prstGeom prst="rect">
            <a:avLst/>
          </a:prstGeom>
          <a:noFill/>
          <a:ln w="9525">
            <a:noFill/>
            <a:miter lim="800000"/>
            <a:headEnd/>
            <a:tailEnd/>
          </a:ln>
          <a:effectLst/>
        </p:spPr>
      </p:pic>
      <p:pic>
        <p:nvPicPr>
          <p:cNvPr id="16387" name="Picture 3"/>
          <p:cNvPicPr>
            <a:picLocks noChangeAspect="1" noChangeArrowheads="1"/>
          </p:cNvPicPr>
          <p:nvPr/>
        </p:nvPicPr>
        <p:blipFill>
          <a:blip r:embed="rId4"/>
          <a:srcRect/>
          <a:stretch>
            <a:fillRect/>
          </a:stretch>
        </p:blipFill>
        <p:spPr bwMode="auto">
          <a:xfrm>
            <a:off x="5715000" y="3124200"/>
            <a:ext cx="2750759" cy="3100388"/>
          </a:xfrm>
          <a:prstGeom prst="rect">
            <a:avLst/>
          </a:prstGeom>
          <a:noFill/>
          <a:ln w="9525">
            <a:noFill/>
            <a:miter lim="800000"/>
            <a:headEnd/>
            <a:tailEnd/>
          </a:ln>
          <a:effectLst/>
        </p:spPr>
      </p:pic>
      <p:pic>
        <p:nvPicPr>
          <p:cNvPr id="16388" name="Picture 4"/>
          <p:cNvPicPr>
            <a:picLocks noChangeAspect="1" noChangeArrowheads="1"/>
          </p:cNvPicPr>
          <p:nvPr/>
        </p:nvPicPr>
        <p:blipFill>
          <a:blip r:embed="rId5"/>
          <a:srcRect/>
          <a:stretch>
            <a:fillRect/>
          </a:stretch>
        </p:blipFill>
        <p:spPr bwMode="auto">
          <a:xfrm>
            <a:off x="838200" y="4495800"/>
            <a:ext cx="2686050" cy="1790700"/>
          </a:xfrm>
          <a:prstGeom prst="rect">
            <a:avLst/>
          </a:prstGeom>
          <a:noFill/>
          <a:ln w="9525">
            <a:noFill/>
            <a:miter lim="800000"/>
            <a:headEnd/>
            <a:tailEnd/>
          </a:ln>
          <a:effectLst/>
        </p:spPr>
      </p:pic>
      <p:cxnSp>
        <p:nvCxnSpPr>
          <p:cNvPr id="9" name="Straight Arrow Connector 8"/>
          <p:cNvCxnSpPr/>
          <p:nvPr/>
        </p:nvCxnSpPr>
        <p:spPr>
          <a:xfrm flipV="1">
            <a:off x="2971800" y="1295400"/>
            <a:ext cx="1752600" cy="4572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6200000" flipH="1">
            <a:off x="4648200" y="1828800"/>
            <a:ext cx="1600200" cy="8382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0800000" flipV="1">
            <a:off x="2743200" y="4648200"/>
            <a:ext cx="3124200" cy="457200"/>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99942" y="485597"/>
            <a:ext cx="2914650" cy="636905"/>
          </a:xfrm>
          <a:prstGeom prst="rect">
            <a:avLst/>
          </a:prstGeom>
        </p:spPr>
        <p:txBody>
          <a:bodyPr vert="horz" wrap="square" lIns="0" tIns="13970" rIns="0" bIns="0" rtlCol="0">
            <a:spAutoFit/>
          </a:bodyPr>
          <a:lstStyle/>
          <a:p>
            <a:pPr marL="12700">
              <a:lnSpc>
                <a:spcPct val="100000"/>
              </a:lnSpc>
              <a:spcBef>
                <a:spcPts val="110"/>
              </a:spcBef>
            </a:pPr>
            <a:r>
              <a:rPr spc="5" dirty="0"/>
              <a:t>A</a:t>
            </a:r>
            <a:r>
              <a:rPr spc="-280" dirty="0"/>
              <a:t> </a:t>
            </a:r>
            <a:r>
              <a:rPr spc="5" dirty="0"/>
              <a:t>Computer</a:t>
            </a:r>
          </a:p>
        </p:txBody>
      </p:sp>
      <p:sp>
        <p:nvSpPr>
          <p:cNvPr id="3" name="object 3"/>
          <p:cNvSpPr txBox="1"/>
          <p:nvPr/>
        </p:nvSpPr>
        <p:spPr>
          <a:xfrm>
            <a:off x="507593" y="1472260"/>
            <a:ext cx="7889240" cy="2166619"/>
          </a:xfrm>
          <a:prstGeom prst="rect">
            <a:avLst/>
          </a:prstGeom>
        </p:spPr>
        <p:txBody>
          <a:bodyPr vert="horz" wrap="square" lIns="0" tIns="12065" rIns="0" bIns="0" rtlCol="0">
            <a:spAutoFit/>
          </a:bodyPr>
          <a:lstStyle/>
          <a:p>
            <a:pPr marL="287020" indent="-274320">
              <a:lnSpc>
                <a:spcPct val="100000"/>
              </a:lnSpc>
              <a:spcBef>
                <a:spcPts val="95"/>
              </a:spcBef>
              <a:buClr>
                <a:srgbClr val="2CA1BE"/>
              </a:buClr>
              <a:buSzPct val="84615"/>
              <a:buFont typeface="Segoe UI Symbol"/>
              <a:buChar char="⚫"/>
              <a:tabLst>
                <a:tab pos="287020" algn="l"/>
              </a:tabLst>
            </a:pPr>
            <a:r>
              <a:rPr lang="en-US" sz="2800" dirty="0"/>
              <a:t>A </a:t>
            </a:r>
            <a:r>
              <a:rPr lang="en-US" sz="2800" b="1" dirty="0"/>
              <a:t>computer</a:t>
            </a:r>
            <a:r>
              <a:rPr lang="en-US" sz="2800" dirty="0"/>
              <a:t> is an electronic device that processes data and performs tasks according to a set of instructions called a program. It is designed to accept input, store and manipulate information, and produce output.</a:t>
            </a:r>
            <a:endParaRPr sz="2400" dirty="0">
              <a:latin typeface="Arial MT"/>
              <a:cs typeface="Arial M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52600" y="2514600"/>
            <a:ext cx="5401310" cy="3581400"/>
          </a:xfrm>
          <a:prstGeom prst="rect">
            <a:avLst/>
          </a:prstGeom>
        </p:spPr>
      </p:pic>
      <p:sp>
        <p:nvSpPr>
          <p:cNvPr id="3" name="object 3"/>
          <p:cNvSpPr txBox="1">
            <a:spLocks noGrp="1"/>
          </p:cNvSpPr>
          <p:nvPr>
            <p:ph type="title"/>
          </p:nvPr>
        </p:nvSpPr>
        <p:spPr>
          <a:xfrm>
            <a:off x="3099942" y="485597"/>
            <a:ext cx="2914650" cy="636905"/>
          </a:xfrm>
          <a:prstGeom prst="rect">
            <a:avLst/>
          </a:prstGeom>
        </p:spPr>
        <p:txBody>
          <a:bodyPr vert="horz" wrap="square" lIns="0" tIns="13970" rIns="0" bIns="0" rtlCol="0">
            <a:spAutoFit/>
          </a:bodyPr>
          <a:lstStyle/>
          <a:p>
            <a:pPr marL="12700">
              <a:lnSpc>
                <a:spcPct val="100000"/>
              </a:lnSpc>
              <a:spcBef>
                <a:spcPts val="110"/>
              </a:spcBef>
            </a:pPr>
            <a:r>
              <a:rPr spc="5" dirty="0"/>
              <a:t>A</a:t>
            </a:r>
            <a:r>
              <a:rPr spc="-280" dirty="0"/>
              <a:t> </a:t>
            </a:r>
            <a:r>
              <a:rPr spc="5" dirty="0"/>
              <a:t>Computer</a:t>
            </a:r>
          </a:p>
        </p:txBody>
      </p:sp>
      <p:sp>
        <p:nvSpPr>
          <p:cNvPr id="4" name="object 4"/>
          <p:cNvSpPr txBox="1"/>
          <p:nvPr/>
        </p:nvSpPr>
        <p:spPr>
          <a:xfrm>
            <a:off x="507593" y="1453387"/>
            <a:ext cx="5401310" cy="411651"/>
          </a:xfrm>
          <a:prstGeom prst="rect">
            <a:avLst/>
          </a:prstGeom>
        </p:spPr>
        <p:txBody>
          <a:bodyPr vert="horz" wrap="square" lIns="0" tIns="11430" rIns="0" bIns="0" rtlCol="0">
            <a:spAutoFit/>
          </a:bodyPr>
          <a:lstStyle/>
          <a:p>
            <a:pPr marL="287020" indent="-274320">
              <a:lnSpc>
                <a:spcPct val="100000"/>
              </a:lnSpc>
              <a:spcBef>
                <a:spcPts val="90"/>
              </a:spcBef>
              <a:buClr>
                <a:srgbClr val="2CA1BE"/>
              </a:buClr>
              <a:buSzPct val="84615"/>
              <a:buFont typeface="Segoe UI Symbol"/>
              <a:buChar char="⚫"/>
              <a:tabLst>
                <a:tab pos="287020" algn="l"/>
              </a:tabLst>
            </a:pPr>
            <a:r>
              <a:rPr sz="2600" spc="-10" dirty="0">
                <a:latin typeface="Arial MT"/>
                <a:cs typeface="Arial MT"/>
              </a:rPr>
              <a:t>A</a:t>
            </a:r>
            <a:r>
              <a:rPr sz="2600" spc="-160" dirty="0">
                <a:latin typeface="Arial MT"/>
                <a:cs typeface="Arial MT"/>
              </a:rPr>
              <a:t> </a:t>
            </a:r>
            <a:r>
              <a:rPr sz="2600" spc="-5" dirty="0">
                <a:latin typeface="Arial MT"/>
                <a:cs typeface="Arial MT"/>
              </a:rPr>
              <a:t>computer</a:t>
            </a:r>
            <a:r>
              <a:rPr sz="2600" spc="25" dirty="0">
                <a:latin typeface="Arial MT"/>
                <a:cs typeface="Arial MT"/>
              </a:rPr>
              <a:t> </a:t>
            </a:r>
            <a:r>
              <a:rPr sz="2600" spc="-5" dirty="0">
                <a:latin typeface="Arial MT"/>
                <a:cs typeface="Arial MT"/>
              </a:rPr>
              <a:t>has</a:t>
            </a:r>
            <a:r>
              <a:rPr sz="2600" spc="5" dirty="0">
                <a:latin typeface="Arial MT"/>
                <a:cs typeface="Arial MT"/>
              </a:rPr>
              <a:t> </a:t>
            </a:r>
            <a:r>
              <a:rPr sz="2600" spc="-5" dirty="0">
                <a:latin typeface="Arial MT"/>
                <a:cs typeface="Arial MT"/>
              </a:rPr>
              <a:t>the</a:t>
            </a:r>
            <a:r>
              <a:rPr sz="2600" spc="5" dirty="0">
                <a:latin typeface="Arial MT"/>
                <a:cs typeface="Arial MT"/>
              </a:rPr>
              <a:t> </a:t>
            </a:r>
            <a:r>
              <a:rPr sz="2600" spc="-10" dirty="0">
                <a:latin typeface="Arial MT"/>
                <a:cs typeface="Arial MT"/>
              </a:rPr>
              <a:t>following</a:t>
            </a:r>
            <a:r>
              <a:rPr sz="2600" spc="55" dirty="0">
                <a:latin typeface="Arial MT"/>
                <a:cs typeface="Arial MT"/>
              </a:rPr>
              <a:t> </a:t>
            </a:r>
            <a:r>
              <a:rPr sz="2600" spc="-5" dirty="0">
                <a:latin typeface="Arial MT"/>
                <a:cs typeface="Arial MT"/>
              </a:rPr>
              <a:t>units:</a:t>
            </a:r>
            <a:endParaRPr sz="2600" dirty="0">
              <a:latin typeface="Arial MT"/>
              <a:cs typeface="Arial M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7593" y="1472260"/>
            <a:ext cx="7770495" cy="1933863"/>
          </a:xfrm>
          <a:prstGeom prst="rect">
            <a:avLst/>
          </a:prstGeom>
        </p:spPr>
        <p:txBody>
          <a:bodyPr vert="horz" wrap="square" lIns="0" tIns="12700" rIns="0" bIns="0" rtlCol="0">
            <a:spAutoFit/>
          </a:bodyPr>
          <a:lstStyle/>
          <a:p>
            <a:pPr marL="287020" indent="-274320">
              <a:lnSpc>
                <a:spcPct val="100000"/>
              </a:lnSpc>
              <a:spcBef>
                <a:spcPts val="100"/>
              </a:spcBef>
              <a:buClr>
                <a:srgbClr val="2CA1BE"/>
              </a:buClr>
              <a:buSzPct val="85416"/>
              <a:buFont typeface="Segoe UI Symbol"/>
              <a:buChar char="⚫"/>
              <a:tabLst>
                <a:tab pos="286385" algn="l"/>
                <a:tab pos="287020" algn="l"/>
              </a:tabLst>
            </a:pPr>
            <a:r>
              <a:rPr sz="2400" b="1" spc="-15" dirty="0">
                <a:latin typeface="Arial"/>
                <a:cs typeface="Arial"/>
              </a:rPr>
              <a:t>CENTRAL</a:t>
            </a:r>
            <a:r>
              <a:rPr sz="2400" b="1" spc="10" dirty="0">
                <a:latin typeface="Arial"/>
                <a:cs typeface="Arial"/>
              </a:rPr>
              <a:t> </a:t>
            </a:r>
            <a:r>
              <a:rPr sz="2400" b="1" dirty="0">
                <a:latin typeface="Arial"/>
                <a:cs typeface="Arial"/>
              </a:rPr>
              <a:t>PROCESSING</a:t>
            </a:r>
            <a:r>
              <a:rPr sz="2400" b="1" spc="-55" dirty="0">
                <a:latin typeface="Arial"/>
                <a:cs typeface="Arial"/>
              </a:rPr>
              <a:t> </a:t>
            </a:r>
            <a:r>
              <a:rPr sz="2400" b="1" spc="-5" dirty="0">
                <a:latin typeface="Arial"/>
                <a:cs typeface="Arial"/>
              </a:rPr>
              <a:t>UNIT (CPU)</a:t>
            </a:r>
            <a:endParaRPr lang="en-IN" sz="2400" b="1" spc="-5" dirty="0">
              <a:latin typeface="Arial"/>
              <a:cs typeface="Arial"/>
            </a:endParaRPr>
          </a:p>
          <a:p>
            <a:pPr marL="287020" indent="-274320">
              <a:lnSpc>
                <a:spcPct val="100000"/>
              </a:lnSpc>
              <a:spcBef>
                <a:spcPts val="100"/>
              </a:spcBef>
              <a:buClr>
                <a:srgbClr val="2CA1BE"/>
              </a:buClr>
              <a:buSzPct val="85416"/>
              <a:buFont typeface="Segoe UI Symbol"/>
              <a:buChar char="⚫"/>
              <a:tabLst>
                <a:tab pos="286385" algn="l"/>
                <a:tab pos="287020" algn="l"/>
              </a:tabLst>
            </a:pPr>
            <a:endParaRPr sz="2400" dirty="0">
              <a:latin typeface="Arial"/>
              <a:cs typeface="Arial"/>
            </a:endParaRPr>
          </a:p>
          <a:p>
            <a:pPr marL="561340" lvl="1" indent="-228600">
              <a:lnSpc>
                <a:spcPct val="100000"/>
              </a:lnSpc>
              <a:spcBef>
                <a:spcPts val="1810"/>
              </a:spcBef>
              <a:buClr>
                <a:srgbClr val="DA1F28"/>
              </a:buClr>
              <a:buSzPct val="84090"/>
              <a:buFont typeface="Segoe UI Symbol"/>
              <a:buChar char="⚫"/>
              <a:tabLst>
                <a:tab pos="561340" algn="l"/>
              </a:tabLst>
            </a:pPr>
            <a:r>
              <a:rPr sz="2200" spc="10" dirty="0">
                <a:latin typeface="Arial MT"/>
                <a:cs typeface="Arial MT"/>
              </a:rPr>
              <a:t>The</a:t>
            </a:r>
            <a:r>
              <a:rPr sz="2200" spc="-55" dirty="0">
                <a:latin typeface="Arial MT"/>
                <a:cs typeface="Arial MT"/>
              </a:rPr>
              <a:t> </a:t>
            </a:r>
            <a:r>
              <a:rPr sz="2200" spc="-5" dirty="0">
                <a:latin typeface="Arial MT"/>
                <a:cs typeface="Arial MT"/>
              </a:rPr>
              <a:t>CPU is</a:t>
            </a:r>
            <a:r>
              <a:rPr sz="2200" spc="-20" dirty="0">
                <a:latin typeface="Arial MT"/>
                <a:cs typeface="Arial MT"/>
              </a:rPr>
              <a:t> </a:t>
            </a:r>
            <a:r>
              <a:rPr sz="2200" spc="5" dirty="0">
                <a:latin typeface="Arial MT"/>
                <a:cs typeface="Arial MT"/>
              </a:rPr>
              <a:t>the</a:t>
            </a:r>
            <a:r>
              <a:rPr sz="2200" spc="-25" dirty="0">
                <a:latin typeface="Arial MT"/>
                <a:cs typeface="Arial MT"/>
              </a:rPr>
              <a:t> </a:t>
            </a:r>
            <a:r>
              <a:rPr lang="en-IN" sz="2200" dirty="0">
                <a:latin typeface="Arial MT"/>
                <a:cs typeface="Arial MT"/>
              </a:rPr>
              <a:t>brain </a:t>
            </a:r>
            <a:r>
              <a:rPr sz="2200" dirty="0">
                <a:latin typeface="Arial MT"/>
                <a:cs typeface="Arial MT"/>
              </a:rPr>
              <a:t>of</a:t>
            </a:r>
            <a:r>
              <a:rPr sz="2200" spc="-10" dirty="0">
                <a:latin typeface="Arial MT"/>
                <a:cs typeface="Arial MT"/>
              </a:rPr>
              <a:t> </a:t>
            </a:r>
            <a:r>
              <a:rPr sz="2200" spc="5" dirty="0">
                <a:latin typeface="Arial MT"/>
                <a:cs typeface="Arial MT"/>
              </a:rPr>
              <a:t>the</a:t>
            </a:r>
            <a:r>
              <a:rPr sz="2200" spc="-30" dirty="0">
                <a:latin typeface="Arial MT"/>
                <a:cs typeface="Arial MT"/>
              </a:rPr>
              <a:t> </a:t>
            </a:r>
            <a:r>
              <a:rPr sz="2200" spc="-10" dirty="0">
                <a:latin typeface="Arial MT"/>
                <a:cs typeface="Arial MT"/>
              </a:rPr>
              <a:t>computer.</a:t>
            </a:r>
            <a:endParaRPr lang="en-IN" sz="2200" spc="-10" dirty="0">
              <a:latin typeface="Arial MT"/>
              <a:cs typeface="Arial MT"/>
            </a:endParaRPr>
          </a:p>
          <a:p>
            <a:pPr marL="561340" lvl="1" indent="-228600">
              <a:lnSpc>
                <a:spcPct val="100000"/>
              </a:lnSpc>
              <a:spcBef>
                <a:spcPts val="1810"/>
              </a:spcBef>
              <a:buClr>
                <a:srgbClr val="DA1F28"/>
              </a:buClr>
              <a:buSzPct val="84090"/>
              <a:buFont typeface="Segoe UI Symbol"/>
              <a:buChar char="⚫"/>
              <a:tabLst>
                <a:tab pos="561340" algn="l"/>
              </a:tabLst>
            </a:pPr>
            <a:r>
              <a:rPr lang="en-US" sz="2400" spc="-5" dirty="0">
                <a:latin typeface="Arial"/>
                <a:cs typeface="Arial"/>
              </a:rPr>
              <a:t>CPU can have one or many Microprocessors</a:t>
            </a:r>
            <a:endParaRPr sz="2200" dirty="0">
              <a:latin typeface="Arial MT"/>
              <a:cs typeface="Arial M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68642" y="652919"/>
            <a:ext cx="8006715" cy="5921493"/>
          </a:xfrm>
          <a:prstGeom prst="rect">
            <a:avLst/>
          </a:prstGeom>
        </p:spPr>
        <p:txBody>
          <a:bodyPr vert="horz" wrap="square" lIns="0" tIns="12065" rIns="0" bIns="0" rtlCol="0">
            <a:spAutoFit/>
          </a:bodyPr>
          <a:lstStyle/>
          <a:p>
            <a:r>
              <a:rPr lang="en-US" sz="2400" dirty="0"/>
              <a:t>A </a:t>
            </a:r>
            <a:r>
              <a:rPr lang="en-US" sz="2400" b="1" dirty="0"/>
              <a:t>microprocessor</a:t>
            </a:r>
          </a:p>
          <a:p>
            <a:r>
              <a:rPr lang="en-US" sz="2400" dirty="0"/>
              <a:t> is a compact electronic component that serves as the central processing unit (CPU) of a computer or other digital device. It is an integrated circuit (IC) that performs arithmetic, logic, control, and input/output (I/O) operations, by fetching instructions from memory &amp; executing them</a:t>
            </a:r>
          </a:p>
          <a:p>
            <a:r>
              <a:rPr lang="en-US" sz="2400" b="1" dirty="0"/>
              <a:t>Key Features of a Microprocessor:</a:t>
            </a:r>
          </a:p>
          <a:p>
            <a:pPr>
              <a:buFont typeface="+mj-lt"/>
              <a:buAutoNum type="arabicPeriod"/>
            </a:pPr>
            <a:r>
              <a:rPr lang="en-US" sz="2400" b="1" dirty="0"/>
              <a:t>Core Component</a:t>
            </a:r>
            <a:r>
              <a:rPr lang="en-US" sz="2400" dirty="0"/>
              <a:t>: Acts as the "brain" of the system, managing and executing tasks.</a:t>
            </a:r>
          </a:p>
          <a:p>
            <a:pPr>
              <a:buFont typeface="+mj-lt"/>
              <a:buAutoNum type="arabicPeriod"/>
            </a:pPr>
            <a:r>
              <a:rPr lang="en-US" sz="2400" b="1" dirty="0"/>
              <a:t>Compact Design</a:t>
            </a:r>
            <a:r>
              <a:rPr lang="en-US" sz="2400" dirty="0"/>
              <a:t>: Built on a single chip, integrating millions or billions of transistors.</a:t>
            </a:r>
          </a:p>
          <a:p>
            <a:pPr>
              <a:buFont typeface="+mj-lt"/>
              <a:buAutoNum type="arabicPeriod"/>
            </a:pPr>
            <a:r>
              <a:rPr lang="en-US" sz="2400" b="1" dirty="0"/>
              <a:t>Programmable</a:t>
            </a:r>
            <a:r>
              <a:rPr lang="en-US" sz="2400" dirty="0"/>
              <a:t>: Executes a sequence of instructions (software) stored in memory.</a:t>
            </a:r>
          </a:p>
          <a:p>
            <a:pPr>
              <a:buFont typeface="+mj-lt"/>
              <a:buAutoNum type="arabicPeriod"/>
            </a:pPr>
            <a:r>
              <a:rPr lang="en-US" sz="2400" b="1" dirty="0"/>
              <a:t>Versatility</a:t>
            </a:r>
            <a:r>
              <a:rPr lang="en-US" sz="2400" dirty="0"/>
              <a:t>: Used in various applications, from personal computers to embedded systems in everyday devices like microwaves, smartphones, and cars.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05B92F-C1BE-470A-ACC2-4015AA63AF88}"/>
              </a:ext>
            </a:extLst>
          </p:cNvPr>
          <p:cNvSpPr>
            <a:spLocks noGrp="1"/>
          </p:cNvSpPr>
          <p:nvPr>
            <p:ph idx="1"/>
          </p:nvPr>
        </p:nvSpPr>
        <p:spPr>
          <a:xfrm>
            <a:off x="457200" y="533400"/>
            <a:ext cx="8229600" cy="5592763"/>
          </a:xfrm>
        </p:spPr>
        <p:txBody>
          <a:bodyPr>
            <a:normAutofit fontScale="85000" lnSpcReduction="10000"/>
          </a:bodyPr>
          <a:lstStyle/>
          <a:p>
            <a:r>
              <a:rPr lang="en-US" b="1" dirty="0"/>
              <a:t>Functions of a Microprocessor:</a:t>
            </a:r>
          </a:p>
          <a:p>
            <a:pPr>
              <a:buFont typeface="+mj-lt"/>
              <a:buAutoNum type="arabicPeriod"/>
            </a:pPr>
            <a:r>
              <a:rPr lang="en-US" b="1" dirty="0"/>
              <a:t>Arithmetic Operations</a:t>
            </a:r>
            <a:r>
              <a:rPr lang="en-US" dirty="0"/>
              <a:t>: Performs basic mathematical calculations (e.g., addition, subtraction).</a:t>
            </a:r>
          </a:p>
          <a:p>
            <a:pPr>
              <a:buFont typeface="+mj-lt"/>
              <a:buAutoNum type="arabicPeriod"/>
            </a:pPr>
            <a:r>
              <a:rPr lang="en-US" b="1" dirty="0"/>
              <a:t>Logical Operations</a:t>
            </a:r>
            <a:r>
              <a:rPr lang="en-US" dirty="0"/>
              <a:t>: Handles logical comparisons (e.g., AND, OR, NOT).</a:t>
            </a:r>
          </a:p>
          <a:p>
            <a:pPr>
              <a:buFont typeface="+mj-lt"/>
              <a:buAutoNum type="arabicPeriod"/>
            </a:pPr>
            <a:r>
              <a:rPr lang="en-US" b="1" dirty="0"/>
              <a:t>Data Handling</a:t>
            </a:r>
            <a:r>
              <a:rPr lang="en-US" dirty="0"/>
              <a:t>: Transfers data between memory, registers, and other components.</a:t>
            </a:r>
          </a:p>
          <a:p>
            <a:pPr>
              <a:buFont typeface="+mj-lt"/>
              <a:buAutoNum type="arabicPeriod"/>
            </a:pPr>
            <a:r>
              <a:rPr lang="en-US" b="1" dirty="0"/>
              <a:t>Control Operations</a:t>
            </a:r>
            <a:r>
              <a:rPr lang="en-US" dirty="0"/>
              <a:t>: Directs the flow of data and instructions within the system.</a:t>
            </a:r>
          </a:p>
          <a:p>
            <a:r>
              <a:rPr lang="en-US" b="1" dirty="0"/>
              <a:t>Example:</a:t>
            </a:r>
          </a:p>
          <a:p>
            <a:r>
              <a:rPr lang="en-US" dirty="0"/>
              <a:t>A popular microprocessor is the </a:t>
            </a:r>
            <a:r>
              <a:rPr lang="en-US" b="1" dirty="0"/>
              <a:t>Intel Core series</a:t>
            </a:r>
            <a:r>
              <a:rPr lang="en-US" dirty="0"/>
              <a:t>, used in personal computers, or the </a:t>
            </a:r>
            <a:r>
              <a:rPr lang="en-US" b="1" dirty="0"/>
              <a:t>ARM processors</a:t>
            </a:r>
            <a:r>
              <a:rPr lang="en-US" dirty="0"/>
              <a:t>, widely used in smartphones.</a:t>
            </a:r>
          </a:p>
          <a:p>
            <a:endParaRPr lang="en-IN" dirty="0"/>
          </a:p>
        </p:txBody>
      </p:sp>
    </p:spTree>
    <p:extLst>
      <p:ext uri="{BB962C8B-B14F-4D97-AF65-F5344CB8AC3E}">
        <p14:creationId xmlns:p14="http://schemas.microsoft.com/office/powerpoint/2010/main" val="1269357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07593" y="1223407"/>
            <a:ext cx="7972425" cy="4907113"/>
          </a:xfrm>
          <a:prstGeom prst="rect">
            <a:avLst/>
          </a:prstGeom>
        </p:spPr>
        <p:txBody>
          <a:bodyPr vert="horz" wrap="square" lIns="0" tIns="188595" rIns="0" bIns="0" rtlCol="0">
            <a:spAutoFit/>
          </a:bodyPr>
          <a:lstStyle/>
          <a:p>
            <a:r>
              <a:rPr lang="en-US" sz="2800" b="1" dirty="0"/>
              <a:t>Characteristics of a Microprocessor</a:t>
            </a:r>
            <a:r>
              <a:rPr lang="en-US" b="1" dirty="0"/>
              <a:t>:</a:t>
            </a:r>
          </a:p>
          <a:p>
            <a:pPr>
              <a:buFont typeface="+mj-lt"/>
              <a:buAutoNum type="arabicPeriod"/>
            </a:pPr>
            <a:r>
              <a:rPr lang="en-US" b="1" dirty="0"/>
              <a:t>Clock Speed</a:t>
            </a:r>
            <a:r>
              <a:rPr lang="en-US" dirty="0"/>
              <a:t>:</a:t>
            </a:r>
          </a:p>
          <a:p>
            <a:pPr marL="742950" lvl="1" indent="-285750">
              <a:buFont typeface="+mj-lt"/>
              <a:buAutoNum type="arabicPeriod"/>
            </a:pPr>
            <a:r>
              <a:rPr lang="en-US" dirty="0"/>
              <a:t>Indicates how fast a microprocessor can execute instructions, measured in Hertz (Hz), typically gigahertz (GHz) for modern processors.</a:t>
            </a:r>
          </a:p>
          <a:p>
            <a:pPr>
              <a:buFont typeface="+mj-lt"/>
              <a:buAutoNum type="arabicPeriod"/>
            </a:pPr>
            <a:r>
              <a:rPr lang="en-US" b="1" dirty="0"/>
              <a:t>Word Length</a:t>
            </a:r>
            <a:r>
              <a:rPr lang="en-US" dirty="0"/>
              <a:t>:</a:t>
            </a:r>
          </a:p>
          <a:p>
            <a:pPr marL="742950" lvl="1" indent="-285750">
              <a:buFont typeface="+mj-lt"/>
              <a:buAutoNum type="arabicPeriod"/>
            </a:pPr>
            <a:r>
              <a:rPr lang="en-US" dirty="0"/>
              <a:t>Refers to the number of bits the microprocessor can process at a time (e.g., 8-bit, 16-bit, 32-bit, or 64-bit).</a:t>
            </a:r>
          </a:p>
          <a:p>
            <a:pPr>
              <a:buFont typeface="+mj-lt"/>
              <a:buAutoNum type="arabicPeriod"/>
            </a:pPr>
            <a:r>
              <a:rPr lang="en-US" b="1" dirty="0"/>
              <a:t>Instruction Set</a:t>
            </a:r>
            <a:r>
              <a:rPr lang="en-US" dirty="0"/>
              <a:t>:</a:t>
            </a:r>
          </a:p>
          <a:p>
            <a:pPr marL="742950" lvl="1" indent="-285750">
              <a:buFont typeface="+mj-lt"/>
              <a:buAutoNum type="arabicPeriod"/>
            </a:pPr>
            <a:r>
              <a:rPr lang="en-US" dirty="0"/>
              <a:t>The set of operations the microprocessor can perform, divided into </a:t>
            </a:r>
            <a:r>
              <a:rPr lang="en-US" b="1" dirty="0"/>
              <a:t>CISC (Complex Instruction Set Computing)</a:t>
            </a:r>
            <a:r>
              <a:rPr lang="en-US" dirty="0"/>
              <a:t> and </a:t>
            </a:r>
            <a:r>
              <a:rPr lang="en-US" b="1" dirty="0"/>
              <a:t>RISC (Reduced Instruction Set Computing)</a:t>
            </a:r>
            <a:r>
              <a:rPr lang="en-US" dirty="0"/>
              <a:t> architectures.</a:t>
            </a:r>
          </a:p>
          <a:p>
            <a:pPr>
              <a:buFont typeface="+mj-lt"/>
              <a:buAutoNum type="arabicPeriod"/>
            </a:pPr>
            <a:r>
              <a:rPr lang="en-US" b="1" dirty="0"/>
              <a:t>Number of Cores</a:t>
            </a:r>
            <a:r>
              <a:rPr lang="en-US" dirty="0"/>
              <a:t>:</a:t>
            </a:r>
          </a:p>
          <a:p>
            <a:pPr marL="742950" lvl="1" indent="-285750">
              <a:buFont typeface="+mj-lt"/>
              <a:buAutoNum type="arabicPeriod"/>
            </a:pPr>
            <a:r>
              <a:rPr lang="en-US" dirty="0"/>
              <a:t>Modern microprocessors often have multiple cores (dual-core, quad-core, etc.), enabling parallel processing and multitasking.</a:t>
            </a:r>
          </a:p>
          <a:p>
            <a:pPr lvl="1">
              <a:lnSpc>
                <a:spcPct val="100000"/>
              </a:lnSpc>
              <a:buClr>
                <a:srgbClr val="DA1F28"/>
              </a:buClr>
              <a:buFont typeface="Segoe UI Symbol"/>
              <a:buChar char="⚫"/>
            </a:pPr>
            <a:endParaRPr sz="2400" dirty="0">
              <a:latin typeface="Arial MT"/>
              <a:cs typeface="Arial MT"/>
            </a:endParaRPr>
          </a:p>
          <a:p>
            <a:pPr lvl="1">
              <a:lnSpc>
                <a:spcPct val="100000"/>
              </a:lnSpc>
              <a:spcBef>
                <a:spcPts val="10"/>
              </a:spcBef>
              <a:buClr>
                <a:srgbClr val="DA1F28"/>
              </a:buClr>
              <a:buFont typeface="Segoe UI Symbol"/>
              <a:buChar char="⚫"/>
            </a:pPr>
            <a:endParaRPr sz="2050" dirty="0">
              <a:latin typeface="Arial MT"/>
              <a:cs typeface="Arial M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3"/>
          <p:cNvSpPr>
            <a:spLocks noGrp="1"/>
          </p:cNvSpPr>
          <p:nvPr>
            <p:ph type="title"/>
          </p:nvPr>
        </p:nvSpPr>
        <p:spPr>
          <a:xfrm>
            <a:off x="457200" y="274638"/>
            <a:ext cx="8229600" cy="563562"/>
          </a:xfrm>
        </p:spPr>
        <p:txBody>
          <a:bodyPr/>
          <a:lstStyle/>
          <a:p>
            <a:pPr eaLnBrk="1" hangingPunct="1"/>
            <a:endParaRPr lang="en-US" sz="2800" dirty="0"/>
          </a:p>
        </p:txBody>
      </p:sp>
      <p:sp>
        <p:nvSpPr>
          <p:cNvPr id="61443" name="Content Placeholder 4"/>
          <p:cNvSpPr>
            <a:spLocks noGrp="1"/>
          </p:cNvSpPr>
          <p:nvPr>
            <p:ph idx="1"/>
          </p:nvPr>
        </p:nvSpPr>
        <p:spPr>
          <a:xfrm>
            <a:off x="457200" y="990600"/>
            <a:ext cx="8382000" cy="5410200"/>
          </a:xfrm>
        </p:spPr>
        <p:txBody>
          <a:bodyPr>
            <a:normAutofit/>
          </a:bodyPr>
          <a:lstStyle/>
          <a:p>
            <a:pPr>
              <a:buFont typeface="Arial" charset="0"/>
              <a:buNone/>
            </a:pPr>
            <a:r>
              <a:rPr lang="en-US" sz="2000" dirty="0"/>
              <a:t>Internal CPU bus  is used to transfer data between register to  registers, </a:t>
            </a:r>
            <a:r>
              <a:rPr lang="en-US" sz="2000"/>
              <a:t>register to ALU .Control </a:t>
            </a:r>
            <a:r>
              <a:rPr lang="en-US" sz="2000" dirty="0"/>
              <a:t>signals are generated by control unit to direct data movement &amp; operations to be performed by ALU</a:t>
            </a:r>
          </a:p>
        </p:txBody>
      </p:sp>
      <p:pic>
        <p:nvPicPr>
          <p:cNvPr id="1027" name="Picture 3"/>
          <p:cNvPicPr>
            <a:picLocks noChangeAspect="1" noChangeArrowheads="1"/>
          </p:cNvPicPr>
          <p:nvPr/>
        </p:nvPicPr>
        <p:blipFill>
          <a:blip r:embed="rId2"/>
          <a:srcRect/>
          <a:stretch>
            <a:fillRect/>
          </a:stretch>
        </p:blipFill>
        <p:spPr bwMode="auto">
          <a:xfrm>
            <a:off x="990600" y="2133600"/>
            <a:ext cx="6943725" cy="439102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3"/>
          <p:cNvSpPr>
            <a:spLocks noGrp="1"/>
          </p:cNvSpPr>
          <p:nvPr>
            <p:ph type="title"/>
          </p:nvPr>
        </p:nvSpPr>
        <p:spPr>
          <a:xfrm>
            <a:off x="457200" y="274638"/>
            <a:ext cx="8229600" cy="563562"/>
          </a:xfrm>
        </p:spPr>
        <p:txBody>
          <a:bodyPr/>
          <a:lstStyle/>
          <a:p>
            <a:pPr eaLnBrk="1" hangingPunct="1"/>
            <a:endParaRPr lang="en-US" sz="2800" dirty="0"/>
          </a:p>
        </p:txBody>
      </p:sp>
      <p:sp>
        <p:nvSpPr>
          <p:cNvPr id="61443" name="Content Placeholder 4"/>
          <p:cNvSpPr>
            <a:spLocks noGrp="1"/>
          </p:cNvSpPr>
          <p:nvPr>
            <p:ph idx="1"/>
          </p:nvPr>
        </p:nvSpPr>
        <p:spPr>
          <a:xfrm>
            <a:off x="457200" y="990600"/>
            <a:ext cx="8382000" cy="5410200"/>
          </a:xfrm>
        </p:spPr>
        <p:txBody>
          <a:bodyPr>
            <a:normAutofit lnSpcReduction="10000"/>
          </a:bodyPr>
          <a:lstStyle/>
          <a:p>
            <a:pPr>
              <a:buFont typeface="Arial" charset="0"/>
              <a:buNone/>
            </a:pPr>
            <a:r>
              <a:rPr lang="en-US" sz="2400" b="1" dirty="0"/>
              <a:t>Functions of processor</a:t>
            </a:r>
          </a:p>
          <a:p>
            <a:pPr>
              <a:buFont typeface="Arial" charset="0"/>
              <a:buNone/>
            </a:pPr>
            <a:r>
              <a:rPr lang="en-US" altLang="en-US" sz="2400" dirty="0"/>
              <a:t>The steps/cycles involved in execution of a single instruction is called Instruction Cycle .</a:t>
            </a:r>
            <a:endParaRPr lang="en-US" sz="2400" b="1" dirty="0"/>
          </a:p>
          <a:p>
            <a:pPr>
              <a:buFont typeface="Arial" charset="0"/>
              <a:buNone/>
            </a:pPr>
            <a:r>
              <a:rPr lang="en-US" sz="2400" dirty="0"/>
              <a:t>• </a:t>
            </a:r>
            <a:r>
              <a:rPr lang="en-US" sz="2400" b="1" dirty="0"/>
              <a:t>Fetch instruction: </a:t>
            </a:r>
            <a:r>
              <a:rPr lang="en-US" sz="2400" dirty="0"/>
              <a:t>The processor reads an instruction from memory (register, cache, main memory).</a:t>
            </a:r>
          </a:p>
          <a:p>
            <a:pPr>
              <a:buFont typeface="Arial" charset="0"/>
              <a:buNone/>
            </a:pPr>
            <a:r>
              <a:rPr lang="en-US" sz="2400" dirty="0"/>
              <a:t>• </a:t>
            </a:r>
            <a:r>
              <a:rPr lang="en-US" sz="2400" b="1" dirty="0"/>
              <a:t>Interpret/Decode instruction: </a:t>
            </a:r>
            <a:r>
              <a:rPr lang="en-US" sz="2400" dirty="0"/>
              <a:t>The instruction is decoded to determine what action is required.</a:t>
            </a:r>
          </a:p>
          <a:p>
            <a:pPr>
              <a:buNone/>
            </a:pPr>
            <a:r>
              <a:rPr lang="en-US" sz="2400" dirty="0"/>
              <a:t>• </a:t>
            </a:r>
            <a:r>
              <a:rPr lang="en-US" sz="2400" b="1" dirty="0"/>
              <a:t>Fetch data (</a:t>
            </a:r>
            <a:r>
              <a:rPr lang="en-US" altLang="en-US" sz="2400" dirty="0"/>
              <a:t>Indirect </a:t>
            </a:r>
            <a:r>
              <a:rPr lang="en-US" sz="2400" b="1" dirty="0"/>
              <a:t>) </a:t>
            </a:r>
            <a:r>
              <a:rPr lang="en-US" sz="2400" dirty="0"/>
              <a:t>: The execution of an instruction may require reading data from memory or an I/O module.</a:t>
            </a:r>
          </a:p>
          <a:p>
            <a:pPr>
              <a:buNone/>
            </a:pPr>
            <a:r>
              <a:rPr lang="en-US" sz="2400" dirty="0"/>
              <a:t>• </a:t>
            </a:r>
            <a:r>
              <a:rPr lang="en-US" sz="2400" b="1" dirty="0"/>
              <a:t>Process data /</a:t>
            </a:r>
            <a:r>
              <a:rPr lang="en-US" altLang="en-US" sz="2400" b="1" dirty="0"/>
              <a:t>Execute instruction </a:t>
            </a:r>
            <a:r>
              <a:rPr lang="en-US" sz="2400" b="1" dirty="0"/>
              <a:t>: </a:t>
            </a:r>
            <a:r>
              <a:rPr lang="en-US" sz="2400" dirty="0"/>
              <a:t>The execution of an instruction may require performing some arithmetic or logical operation on data.</a:t>
            </a:r>
          </a:p>
          <a:p>
            <a:pPr>
              <a:buFont typeface="Arial" charset="0"/>
              <a:buNone/>
            </a:pPr>
            <a:r>
              <a:rPr lang="en-US" sz="2400" dirty="0"/>
              <a:t>• </a:t>
            </a:r>
            <a:r>
              <a:rPr lang="en-US" sz="2400" b="1" dirty="0"/>
              <a:t>Write data: </a:t>
            </a:r>
            <a:r>
              <a:rPr lang="en-US" sz="2400" dirty="0"/>
              <a:t>The results of an execution may require writing data to memory or an I/O module.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3429000" y="3657600"/>
            <a:ext cx="4714875" cy="2962275"/>
          </a:xfrm>
          <a:prstGeom prst="rect">
            <a:avLst/>
          </a:prstGeom>
          <a:noFill/>
          <a:ln w="9525">
            <a:noFill/>
            <a:miter lim="800000"/>
            <a:headEnd/>
            <a:tailEnd/>
          </a:ln>
          <a:effectLst/>
        </p:spPr>
      </p:pic>
      <p:sp>
        <p:nvSpPr>
          <p:cNvPr id="61442" name="Title 3"/>
          <p:cNvSpPr>
            <a:spLocks noGrp="1"/>
          </p:cNvSpPr>
          <p:nvPr>
            <p:ph type="title"/>
          </p:nvPr>
        </p:nvSpPr>
        <p:spPr>
          <a:xfrm>
            <a:off x="457200" y="274638"/>
            <a:ext cx="8229600" cy="563562"/>
          </a:xfrm>
        </p:spPr>
        <p:txBody>
          <a:bodyPr/>
          <a:lstStyle/>
          <a:p>
            <a:pPr eaLnBrk="1" hangingPunct="1"/>
            <a:endParaRPr lang="en-US" sz="2800" dirty="0"/>
          </a:p>
        </p:txBody>
      </p:sp>
      <p:sp>
        <p:nvSpPr>
          <p:cNvPr id="61443" name="Content Placeholder 4"/>
          <p:cNvSpPr>
            <a:spLocks noGrp="1"/>
          </p:cNvSpPr>
          <p:nvPr>
            <p:ph idx="1"/>
          </p:nvPr>
        </p:nvSpPr>
        <p:spPr>
          <a:xfrm>
            <a:off x="457200" y="990600"/>
            <a:ext cx="8382000" cy="5410200"/>
          </a:xfrm>
        </p:spPr>
        <p:txBody>
          <a:bodyPr/>
          <a:lstStyle/>
          <a:p>
            <a:pPr>
              <a:buFont typeface="Arial" charset="0"/>
              <a:buNone/>
            </a:pPr>
            <a:r>
              <a:rPr lang="en-US" sz="2400" dirty="0"/>
              <a:t> main line of activity consists of continuous  instruction fetch and instruction execution activities. </a:t>
            </a:r>
          </a:p>
          <a:p>
            <a:pPr>
              <a:buFont typeface="Arial" charset="0"/>
              <a:buNone/>
            </a:pPr>
            <a:r>
              <a:rPr lang="en-US" sz="2400" dirty="0"/>
              <a:t>After an instruction is fetched, it is examined to determine if any indirect addressing is involved. If so, the required operands are fetched using indirect addressing.(if data is in registers, then this  indirect cycle is not required) </a:t>
            </a:r>
          </a:p>
          <a:p>
            <a:pPr>
              <a:buFont typeface="Arial" charset="0"/>
              <a:buNone/>
            </a:pPr>
            <a:r>
              <a:rPr lang="en-US" sz="2400" dirty="0"/>
              <a:t>Following execution, an interrupt may be processed before the next instruction fetch.</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title"/>
          </p:nvPr>
        </p:nvSpPr>
        <p:spPr>
          <a:xfrm>
            <a:off x="457200" y="274638"/>
            <a:ext cx="8229600" cy="563562"/>
          </a:xfrm>
        </p:spPr>
        <p:txBody>
          <a:bodyPr/>
          <a:lstStyle/>
          <a:p>
            <a:r>
              <a:rPr lang="en-US" sz="2800" dirty="0"/>
              <a:t>Instructions</a:t>
            </a:r>
            <a:endParaRPr lang="en-US" sz="2800" dirty="0">
              <a:latin typeface="Verdana" pitchFamily="34" charset="0"/>
            </a:endParaRPr>
          </a:p>
        </p:txBody>
      </p:sp>
      <p:sp>
        <p:nvSpPr>
          <p:cNvPr id="2051" name="Content Placeholder 4"/>
          <p:cNvSpPr>
            <a:spLocks noGrp="1"/>
          </p:cNvSpPr>
          <p:nvPr>
            <p:ph idx="1"/>
          </p:nvPr>
        </p:nvSpPr>
        <p:spPr>
          <a:xfrm>
            <a:off x="457200" y="990600"/>
            <a:ext cx="8382000" cy="5410200"/>
          </a:xfrm>
        </p:spPr>
        <p:txBody>
          <a:bodyPr/>
          <a:lstStyle/>
          <a:p>
            <a:pPr marL="609600" indent="-609600">
              <a:defRPr/>
            </a:pPr>
            <a:r>
              <a:rPr lang="en-US" sz="2400" dirty="0"/>
              <a:t>Instructions specify the operation to be performed by the CPU.</a:t>
            </a:r>
          </a:p>
          <a:p>
            <a:pPr marL="609600" indent="-609600">
              <a:defRPr/>
            </a:pPr>
            <a:r>
              <a:rPr lang="en-US" sz="2400" dirty="0"/>
              <a:t>Instruction = operation</a:t>
            </a:r>
          </a:p>
          <a:p>
            <a:pPr marL="609600" indent="-609600">
              <a:defRPr/>
            </a:pPr>
            <a:r>
              <a:rPr lang="en-US" sz="2400" dirty="0"/>
              <a:t>operand  = data to be operated upon</a:t>
            </a:r>
          </a:p>
          <a:p>
            <a:pPr marL="609600" indent="-609600">
              <a:defRPr/>
            </a:pPr>
            <a:r>
              <a:rPr lang="en-US" sz="2400" dirty="0"/>
              <a:t>The collection of different instructions that the processor can execute is referred to as the </a:t>
            </a:r>
            <a:r>
              <a:rPr lang="en-US" sz="2400" b="1" dirty="0">
                <a:solidFill>
                  <a:srgbClr val="00B0F0"/>
                </a:solidFill>
              </a:rPr>
              <a:t>processor’s</a:t>
            </a:r>
            <a:r>
              <a:rPr lang="en-US" sz="2400" b="1" dirty="0"/>
              <a:t> instruction set</a:t>
            </a:r>
          </a:p>
          <a:p>
            <a:pPr marL="609600" indent="-609600">
              <a:defRPr/>
            </a:pPr>
            <a:r>
              <a:rPr lang="en-US" sz="2400" dirty="0"/>
              <a:t>Every processor has unique instruction set</a:t>
            </a:r>
          </a:p>
          <a:p>
            <a:pPr marL="609600" indent="-609600">
              <a:defRPr/>
            </a:pPr>
            <a:r>
              <a:rPr lang="en-US" sz="2400" b="1" dirty="0"/>
              <a:t>What is a Program?</a:t>
            </a:r>
          </a:p>
          <a:p>
            <a:pPr marL="609600" indent="-609600">
              <a:defRPr/>
            </a:pPr>
            <a:r>
              <a:rPr lang="en-US" sz="2400" dirty="0"/>
              <a:t>A particular combination( sequence ) of instructions to carry out a task .</a:t>
            </a:r>
          </a:p>
          <a:p>
            <a:pPr marL="609600" indent="-609600">
              <a:defRPr/>
            </a:pPr>
            <a:r>
              <a:rPr lang="en-US" sz="2400" dirty="0" err="1"/>
              <a:t>Eg</a:t>
            </a:r>
            <a:r>
              <a:rPr lang="en-US" sz="2400" dirty="0"/>
              <a:t> program to calculate average of </a:t>
            </a:r>
            <a:r>
              <a:rPr lang="en-US" sz="2400"/>
              <a:t>N numbers</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title"/>
          </p:nvPr>
        </p:nvSpPr>
        <p:spPr>
          <a:xfrm>
            <a:off x="457200" y="274638"/>
            <a:ext cx="8229600" cy="563562"/>
          </a:xfrm>
        </p:spPr>
        <p:txBody>
          <a:bodyPr/>
          <a:lstStyle/>
          <a:p>
            <a:r>
              <a:rPr lang="en-US" sz="2800" dirty="0"/>
              <a:t>The elements of machine instructions</a:t>
            </a:r>
            <a:endParaRPr lang="en-US" sz="2800" dirty="0">
              <a:latin typeface="Verdana" pitchFamily="34" charset="0"/>
            </a:endParaRPr>
          </a:p>
        </p:txBody>
      </p:sp>
      <p:sp>
        <p:nvSpPr>
          <p:cNvPr id="2051" name="Content Placeholder 4"/>
          <p:cNvSpPr>
            <a:spLocks noGrp="1"/>
          </p:cNvSpPr>
          <p:nvPr>
            <p:ph idx="1"/>
          </p:nvPr>
        </p:nvSpPr>
        <p:spPr>
          <a:xfrm>
            <a:off x="457200" y="990600"/>
            <a:ext cx="8382000" cy="5410200"/>
          </a:xfrm>
        </p:spPr>
        <p:txBody>
          <a:bodyPr>
            <a:normAutofit fontScale="92500"/>
          </a:bodyPr>
          <a:lstStyle/>
          <a:p>
            <a:r>
              <a:rPr lang="en-US" altLang="en-US" sz="2400" b="1" dirty="0"/>
              <a:t>Operation code </a:t>
            </a:r>
            <a:r>
              <a:rPr lang="en-US" altLang="en-US" sz="2400" dirty="0"/>
              <a:t>( Do this  ) </a:t>
            </a:r>
          </a:p>
          <a:p>
            <a:pPr>
              <a:buNone/>
            </a:pPr>
            <a:r>
              <a:rPr lang="en-US" altLang="en-US" sz="2400" dirty="0"/>
              <a:t>Specifies the operation to be performed (e.g., ADD, I/O). The operation is specified by a binary code, known as the operation code, or </a:t>
            </a:r>
            <a:r>
              <a:rPr lang="en-US" altLang="en-US" sz="2400" dirty="0" err="1"/>
              <a:t>opcode</a:t>
            </a:r>
            <a:r>
              <a:rPr lang="en-US" altLang="en-US" sz="2400" dirty="0"/>
              <a:t>.</a:t>
            </a:r>
          </a:p>
          <a:p>
            <a:r>
              <a:rPr lang="en-US" altLang="en-US" sz="2400" b="1" dirty="0"/>
              <a:t>Source Operand reference </a:t>
            </a:r>
            <a:r>
              <a:rPr lang="en-US" altLang="en-US" sz="2400" dirty="0"/>
              <a:t>( To this) - </a:t>
            </a:r>
          </a:p>
          <a:p>
            <a:pPr>
              <a:buNone/>
            </a:pPr>
            <a:r>
              <a:rPr lang="en-US" altLang="en-US" sz="2400" dirty="0"/>
              <a:t>The operation may involve one or more source operands, that is, operands that are inputs for the operation.</a:t>
            </a:r>
          </a:p>
          <a:p>
            <a:pPr>
              <a:buNone/>
            </a:pPr>
            <a:r>
              <a:rPr lang="en-US" altLang="en-US" sz="2400" dirty="0" err="1"/>
              <a:t>Eg</a:t>
            </a:r>
            <a:r>
              <a:rPr lang="en-US" altLang="en-US" sz="2400" dirty="0"/>
              <a:t>  ADD requires two operands</a:t>
            </a:r>
          </a:p>
          <a:p>
            <a:r>
              <a:rPr lang="en-US" altLang="en-US" sz="2400" b="1" dirty="0"/>
              <a:t>Result Operand reference </a:t>
            </a:r>
            <a:r>
              <a:rPr lang="en-US" altLang="en-US" sz="2400" dirty="0"/>
              <a:t>(Put the answer here)</a:t>
            </a:r>
          </a:p>
          <a:p>
            <a:r>
              <a:rPr lang="en-US" altLang="en-US" sz="2400" b="1" dirty="0"/>
              <a:t>Next Instruction Reference </a:t>
            </a:r>
            <a:r>
              <a:rPr lang="en-US" altLang="en-US" sz="2400" dirty="0"/>
              <a:t>( When you have done that, do this.)</a:t>
            </a:r>
          </a:p>
          <a:p>
            <a:pPr>
              <a:buNone/>
            </a:pPr>
            <a:r>
              <a:rPr lang="en-US" altLang="en-US" sz="2400" dirty="0"/>
              <a:t>  This part of instruction tells the processor where to fetch the next instruction after the execution of this instruction is complete</a:t>
            </a:r>
          </a:p>
          <a:p>
            <a:pPr lvl="0"/>
            <a:r>
              <a:rPr lang="en-US" altLang="en-US" sz="2600" dirty="0">
                <a:solidFill>
                  <a:prstClr val="black"/>
                </a:solidFill>
              </a:rPr>
              <a:t>The input and output operands are stored in </a:t>
            </a:r>
          </a:p>
          <a:p>
            <a:pPr lvl="1">
              <a:buNone/>
            </a:pPr>
            <a:r>
              <a:rPr lang="en-US" altLang="en-US" sz="2200" dirty="0">
                <a:solidFill>
                  <a:prstClr val="black"/>
                </a:solidFill>
              </a:rPr>
              <a:t>Main memory (or virtual memory or cache) , CPU register , I/O device</a:t>
            </a:r>
            <a:endParaRPr lang="en-US" altLang="en-US" sz="2200" dirty="0"/>
          </a:p>
          <a:p>
            <a:pPr>
              <a:buFont typeface="Arial" charset="0"/>
              <a:buNone/>
            </a:pPr>
            <a:endParaRPr lang="en-US" sz="2400" dirty="0">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5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5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5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51">
                                            <p:txEl>
                                              <p:pRg st="8" end="8"/>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5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title"/>
          </p:nvPr>
        </p:nvSpPr>
        <p:spPr>
          <a:xfrm>
            <a:off x="457200" y="274638"/>
            <a:ext cx="8229600" cy="563562"/>
          </a:xfrm>
        </p:spPr>
        <p:txBody>
          <a:bodyPr/>
          <a:lstStyle/>
          <a:p>
            <a:pPr eaLnBrk="1" hangingPunct="1"/>
            <a:endParaRPr lang="en-US" sz="2800">
              <a:latin typeface="Verdana" pitchFamily="34" charset="0"/>
            </a:endParaRPr>
          </a:p>
        </p:txBody>
      </p:sp>
      <p:sp>
        <p:nvSpPr>
          <p:cNvPr id="2051" name="Content Placeholder 4"/>
          <p:cNvSpPr>
            <a:spLocks noGrp="1"/>
          </p:cNvSpPr>
          <p:nvPr>
            <p:ph idx="1"/>
          </p:nvPr>
        </p:nvSpPr>
        <p:spPr>
          <a:xfrm>
            <a:off x="457200" y="990600"/>
            <a:ext cx="8382000" cy="5410200"/>
          </a:xfrm>
        </p:spPr>
        <p:txBody>
          <a:bodyPr/>
          <a:lstStyle/>
          <a:p>
            <a:r>
              <a:rPr lang="en-US" sz="2400" dirty="0"/>
              <a:t>Instructions is also called as </a:t>
            </a:r>
            <a:r>
              <a:rPr lang="en-US" altLang="en-US" sz="2400" dirty="0"/>
              <a:t>Machine Code</a:t>
            </a:r>
          </a:p>
          <a:p>
            <a:r>
              <a:rPr lang="en-US" altLang="en-US" sz="2400" dirty="0"/>
              <a:t>It is in the Binary form. Each instruction has a unique bit pattern</a:t>
            </a:r>
          </a:p>
          <a:p>
            <a:r>
              <a:rPr lang="en-US" altLang="en-US" sz="2400" dirty="0"/>
              <a:t>Usually represented by assembly language  for our understanding. Since </a:t>
            </a:r>
            <a:r>
              <a:rPr lang="en-US" sz="2400" dirty="0"/>
              <a:t>It is impossible to remember the large binary formats, so symbolic representations are used, which are called as mnemonics.</a:t>
            </a:r>
          </a:p>
          <a:p>
            <a:r>
              <a:rPr lang="en-US" sz="2400" dirty="0"/>
              <a:t>For example ADD, SUB, MUL, DIV mnemonics represent addition, subtraction, multiplication, division operation respectively.  </a:t>
            </a:r>
          </a:p>
          <a:p>
            <a:r>
              <a:rPr lang="en-US" sz="2400" dirty="0"/>
              <a:t>Another program(assembler) accepts these symbolic inputs &amp; converts them into binary form</a:t>
            </a:r>
          </a:p>
          <a:p>
            <a:r>
              <a:rPr lang="en-US" sz="2400" dirty="0" err="1"/>
              <a:t>Eg</a:t>
            </a:r>
            <a:r>
              <a:rPr lang="en-US" sz="2400" dirty="0"/>
              <a:t> ADD R1, R2  is converted to  2F,D9 for a particular processor</a:t>
            </a:r>
          </a:p>
          <a:p>
            <a:endParaRPr lang="en-US" sz="2400" dirty="0"/>
          </a:p>
          <a:p>
            <a:endParaRPr lang="en-US" alt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152400" y="152400"/>
            <a:ext cx="8839200" cy="6553200"/>
          </a:xfrm>
        </p:spPr>
        <p:txBody>
          <a:bodyPr>
            <a:noAutofit/>
          </a:bodyPr>
          <a:lstStyle/>
          <a:p>
            <a:pPr>
              <a:buNone/>
            </a:pPr>
            <a:endParaRPr lang="en-US" sz="2400" dirty="0"/>
          </a:p>
          <a:p>
            <a:pPr>
              <a:buNone/>
            </a:pPr>
            <a:endParaRPr lang="en-US" sz="2400" dirty="0"/>
          </a:p>
          <a:p>
            <a:pPr>
              <a:buNone/>
            </a:pPr>
            <a:r>
              <a:rPr lang="en-US" sz="2400" dirty="0"/>
              <a:t>				 compiler</a:t>
            </a:r>
          </a:p>
          <a:p>
            <a:pPr>
              <a:buNone/>
            </a:pPr>
            <a:r>
              <a:rPr lang="en-US" sz="2400" dirty="0"/>
              <a:t>High level language </a:t>
            </a:r>
            <a:r>
              <a:rPr lang="en-US" sz="2400" dirty="0" err="1"/>
              <a:t>prog</a:t>
            </a:r>
            <a:r>
              <a:rPr lang="en-US" sz="2400" dirty="0"/>
              <a:t>  =====</a:t>
            </a:r>
            <a:r>
              <a:rPr lang="en-US" sz="2400" dirty="0">
                <a:sym typeface="Wingdings" pitchFamily="2" charset="2"/>
              </a:rPr>
              <a:t> &gt; </a:t>
            </a:r>
            <a:r>
              <a:rPr lang="en-US" sz="2400" dirty="0"/>
              <a:t>Machine language </a:t>
            </a:r>
            <a:r>
              <a:rPr lang="en-US" sz="2400" dirty="0" err="1"/>
              <a:t>prog</a:t>
            </a:r>
            <a:endParaRPr lang="en-US" sz="2400" dirty="0"/>
          </a:p>
          <a:p>
            <a:pPr>
              <a:buNone/>
            </a:pPr>
            <a:endParaRPr lang="en-US" sz="2400" dirty="0"/>
          </a:p>
          <a:p>
            <a:pPr>
              <a:buNone/>
            </a:pPr>
            <a:endParaRPr lang="en-US" sz="2400" dirty="0"/>
          </a:p>
          <a:p>
            <a:pPr>
              <a:buNone/>
            </a:pPr>
            <a:endParaRPr lang="en-US" sz="2400" dirty="0"/>
          </a:p>
          <a:p>
            <a:pPr>
              <a:buNone/>
            </a:pPr>
            <a:r>
              <a:rPr lang="en-US" sz="2400" dirty="0"/>
              <a:t>				 assembler</a:t>
            </a:r>
          </a:p>
          <a:p>
            <a:pPr>
              <a:buNone/>
            </a:pPr>
            <a:r>
              <a:rPr lang="en-US" sz="2400" dirty="0"/>
              <a:t>Assembly language </a:t>
            </a:r>
            <a:r>
              <a:rPr lang="en-US" sz="2400" dirty="0" err="1"/>
              <a:t>prog</a:t>
            </a:r>
            <a:r>
              <a:rPr lang="en-US" sz="2400" dirty="0"/>
              <a:t> =======&gt; Machine language </a:t>
            </a:r>
            <a:r>
              <a:rPr lang="en-US" sz="2400" dirty="0" err="1"/>
              <a:t>prog</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r>
              <a:rPr lang="en-US" sz="2400" dirty="0"/>
              <a:t>High level language</a:t>
            </a:r>
          </a:p>
          <a:p>
            <a:endParaRPr lang="en-US" sz="2400" dirty="0"/>
          </a:p>
          <a:p>
            <a:endParaRPr lang="en-US" sz="2400" dirty="0"/>
          </a:p>
          <a:p>
            <a:r>
              <a:rPr lang="en-US" sz="2400" dirty="0"/>
              <a:t>#include &lt;</a:t>
            </a:r>
            <a:r>
              <a:rPr lang="en-US" sz="2400" dirty="0" err="1"/>
              <a:t>stdio.h</a:t>
            </a:r>
            <a:r>
              <a:rPr lang="en-US" sz="2400" dirty="0"/>
              <a:t>&gt;</a:t>
            </a:r>
          </a:p>
          <a:p>
            <a:r>
              <a:rPr lang="en-US" sz="2400" dirty="0"/>
              <a:t>int main() {</a:t>
            </a:r>
          </a:p>
          <a:p>
            <a:r>
              <a:rPr lang="en-US" sz="2400" dirty="0"/>
              <a:t>    </a:t>
            </a:r>
            <a:r>
              <a:rPr lang="en-US" sz="2400" dirty="0" err="1"/>
              <a:t>printf</a:t>
            </a:r>
            <a:r>
              <a:rPr lang="en-US" sz="2400" dirty="0"/>
              <a:t>("Hello, World!\n");</a:t>
            </a:r>
          </a:p>
          <a:p>
            <a:r>
              <a:rPr lang="en-US" sz="2400" dirty="0"/>
              <a:t>    return 0;</a:t>
            </a:r>
          </a:p>
          <a:p>
            <a:r>
              <a:rPr lang="en-US" sz="2400" dirty="0"/>
              <a:t>}</a:t>
            </a:r>
          </a:p>
          <a:p>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pPr marL="0" indent="0">
              <a:spcBef>
                <a:spcPts val="0"/>
              </a:spcBef>
              <a:buNone/>
            </a:pPr>
            <a:r>
              <a:rPr lang="en-US" sz="2000" dirty="0"/>
              <a:t>	Assembly language program for Hello World</a:t>
            </a:r>
          </a:p>
          <a:p>
            <a:pPr marL="0" indent="0">
              <a:spcBef>
                <a:spcPts val="0"/>
              </a:spcBef>
              <a:buNone/>
            </a:pPr>
            <a:endParaRPr lang="en-US" sz="2000" dirty="0"/>
          </a:p>
          <a:p>
            <a:pPr marL="0" indent="0">
              <a:spcBef>
                <a:spcPts val="0"/>
              </a:spcBef>
              <a:buNone/>
            </a:pPr>
            <a:r>
              <a:rPr lang="en-US" sz="2000" dirty="0"/>
              <a:t>          .file	"</a:t>
            </a:r>
            <a:r>
              <a:rPr lang="en-US" sz="2000" dirty="0" err="1"/>
              <a:t>hello.c</a:t>
            </a:r>
            <a:r>
              <a:rPr lang="en-US" sz="2000" dirty="0"/>
              <a:t>"</a:t>
            </a:r>
          </a:p>
          <a:p>
            <a:pPr marL="0" indent="0">
              <a:spcBef>
                <a:spcPts val="0"/>
              </a:spcBef>
              <a:buNone/>
            </a:pPr>
            <a:r>
              <a:rPr lang="en-US" sz="2000" dirty="0"/>
              <a:t>	.section	.</a:t>
            </a:r>
            <a:r>
              <a:rPr lang="en-US" sz="2000" dirty="0" err="1"/>
              <a:t>rodata</a:t>
            </a:r>
            <a:endParaRPr lang="en-US" sz="2000" dirty="0"/>
          </a:p>
          <a:p>
            <a:pPr marL="0" indent="0">
              <a:spcBef>
                <a:spcPts val="0"/>
              </a:spcBef>
              <a:buNone/>
            </a:pPr>
            <a:r>
              <a:rPr lang="en-US" sz="2000" dirty="0"/>
              <a:t>.LC0:</a:t>
            </a:r>
          </a:p>
          <a:p>
            <a:pPr marL="0" indent="0">
              <a:spcBef>
                <a:spcPts val="0"/>
              </a:spcBef>
              <a:buNone/>
            </a:pPr>
            <a:r>
              <a:rPr lang="en-US" sz="2000" dirty="0"/>
              <a:t>	.string	"Hello, World!\n"</a:t>
            </a:r>
          </a:p>
          <a:p>
            <a:pPr marL="0" indent="0">
              <a:spcBef>
                <a:spcPts val="0"/>
              </a:spcBef>
              <a:buNone/>
            </a:pPr>
            <a:r>
              <a:rPr lang="en-US" sz="2000" dirty="0"/>
              <a:t>	.text</a:t>
            </a:r>
          </a:p>
          <a:p>
            <a:pPr marL="0" indent="0">
              <a:spcBef>
                <a:spcPts val="0"/>
              </a:spcBef>
              <a:buNone/>
            </a:pPr>
            <a:r>
              <a:rPr lang="en-US" sz="2000" dirty="0"/>
              <a:t>	.</a:t>
            </a:r>
            <a:r>
              <a:rPr lang="en-US" sz="2000" dirty="0" err="1"/>
              <a:t>globl</a:t>
            </a:r>
            <a:r>
              <a:rPr lang="en-US" sz="2000" dirty="0"/>
              <a:t>	main</a:t>
            </a:r>
          </a:p>
          <a:p>
            <a:pPr marL="0" indent="0">
              <a:spcBef>
                <a:spcPts val="0"/>
              </a:spcBef>
              <a:buNone/>
            </a:pPr>
            <a:r>
              <a:rPr lang="en-US" sz="2000" dirty="0"/>
              <a:t>	.type	main, @function</a:t>
            </a:r>
          </a:p>
          <a:p>
            <a:pPr marL="0" indent="0">
              <a:spcBef>
                <a:spcPts val="0"/>
              </a:spcBef>
              <a:buNone/>
            </a:pPr>
            <a:r>
              <a:rPr lang="en-US" sz="2000" dirty="0"/>
              <a:t>main:</a:t>
            </a:r>
          </a:p>
          <a:p>
            <a:pPr marL="0" indent="0">
              <a:spcBef>
                <a:spcPts val="0"/>
              </a:spcBef>
              <a:buNone/>
            </a:pPr>
            <a:r>
              <a:rPr lang="en-US" sz="2000" dirty="0"/>
              <a:t>	</a:t>
            </a:r>
            <a:r>
              <a:rPr lang="en-US" sz="2000" dirty="0" err="1"/>
              <a:t>pushq</a:t>
            </a:r>
            <a:r>
              <a:rPr lang="en-US" sz="2000" dirty="0"/>
              <a:t>	%</a:t>
            </a:r>
            <a:r>
              <a:rPr lang="en-US" sz="2000" dirty="0" err="1"/>
              <a:t>rbp</a:t>
            </a:r>
            <a:endParaRPr lang="en-US" sz="2000" dirty="0"/>
          </a:p>
          <a:p>
            <a:pPr marL="0" indent="0">
              <a:spcBef>
                <a:spcPts val="0"/>
              </a:spcBef>
              <a:buNone/>
            </a:pPr>
            <a:r>
              <a:rPr lang="en-US" sz="2000" dirty="0"/>
              <a:t>	</a:t>
            </a:r>
            <a:r>
              <a:rPr lang="en-US" sz="2000" dirty="0" err="1"/>
              <a:t>movq</a:t>
            </a:r>
            <a:r>
              <a:rPr lang="en-US" sz="2000" dirty="0"/>
              <a:t>	%</a:t>
            </a:r>
            <a:r>
              <a:rPr lang="en-US" sz="2000" dirty="0" err="1"/>
              <a:t>rsp</a:t>
            </a:r>
            <a:r>
              <a:rPr lang="en-US" sz="2000" dirty="0"/>
              <a:t>, %</a:t>
            </a:r>
            <a:r>
              <a:rPr lang="en-US" sz="2000" dirty="0" err="1"/>
              <a:t>rbp</a:t>
            </a:r>
            <a:endParaRPr lang="en-US" sz="2000" dirty="0"/>
          </a:p>
          <a:p>
            <a:pPr marL="0" indent="0">
              <a:spcBef>
                <a:spcPts val="0"/>
              </a:spcBef>
              <a:buNone/>
            </a:pPr>
            <a:r>
              <a:rPr lang="en-US" sz="2000" dirty="0"/>
              <a:t>	</a:t>
            </a:r>
            <a:r>
              <a:rPr lang="en-US" sz="2000" dirty="0" err="1"/>
              <a:t>leaq</a:t>
            </a:r>
            <a:r>
              <a:rPr lang="en-US" sz="2000" dirty="0"/>
              <a:t>	.LC0(%rip), %</a:t>
            </a:r>
            <a:r>
              <a:rPr lang="en-US" sz="2000" dirty="0" err="1"/>
              <a:t>rdi</a:t>
            </a:r>
            <a:endParaRPr lang="en-US" sz="2000" dirty="0"/>
          </a:p>
          <a:p>
            <a:pPr marL="0" indent="0">
              <a:spcBef>
                <a:spcPts val="0"/>
              </a:spcBef>
              <a:buNone/>
            </a:pPr>
            <a:r>
              <a:rPr lang="en-US" sz="2000" dirty="0"/>
              <a:t>	call	puts</a:t>
            </a:r>
          </a:p>
          <a:p>
            <a:pPr marL="0" indent="0">
              <a:spcBef>
                <a:spcPts val="0"/>
              </a:spcBef>
              <a:buNone/>
            </a:pPr>
            <a:r>
              <a:rPr lang="en-US" sz="2000" dirty="0"/>
              <a:t>	</a:t>
            </a:r>
            <a:r>
              <a:rPr lang="en-US" sz="2000" dirty="0" err="1"/>
              <a:t>movl</a:t>
            </a:r>
            <a:r>
              <a:rPr lang="en-US" sz="2000" dirty="0"/>
              <a:t>	$0, %</a:t>
            </a:r>
            <a:r>
              <a:rPr lang="en-US" sz="2000" dirty="0" err="1"/>
              <a:t>eax</a:t>
            </a:r>
            <a:endParaRPr lang="en-US" sz="2000" dirty="0"/>
          </a:p>
          <a:p>
            <a:pPr marL="0" indent="0">
              <a:spcBef>
                <a:spcPts val="0"/>
              </a:spcBef>
              <a:buNone/>
            </a:pPr>
            <a:r>
              <a:rPr lang="en-US" sz="2000" dirty="0"/>
              <a:t>	</a:t>
            </a:r>
            <a:r>
              <a:rPr lang="en-US" sz="2000" dirty="0" err="1"/>
              <a:t>popq</a:t>
            </a:r>
            <a:r>
              <a:rPr lang="en-US" sz="2000" dirty="0"/>
              <a:t>	%</a:t>
            </a:r>
            <a:r>
              <a:rPr lang="en-US" sz="2000" dirty="0" err="1"/>
              <a:t>rbp</a:t>
            </a:r>
            <a:endParaRPr lang="en-US" sz="2000" dirty="0"/>
          </a:p>
          <a:p>
            <a:pPr marL="0" indent="0">
              <a:spcBef>
                <a:spcPts val="0"/>
              </a:spcBef>
              <a:buNone/>
            </a:pPr>
            <a:r>
              <a:rPr lang="en-US" sz="2000" dirty="0"/>
              <a:t>	ret</a:t>
            </a:r>
          </a:p>
          <a:p>
            <a:pPr marL="0" indent="0">
              <a:spcBef>
                <a:spcPts val="0"/>
              </a:spcBef>
              <a:buNone/>
            </a:pPr>
            <a:r>
              <a:rPr lang="en-US" sz="2000" dirty="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686800" cy="6553200"/>
          </a:xfrm>
        </p:spPr>
        <p:txBody>
          <a:bodyPr>
            <a:noAutofit/>
          </a:bodyPr>
          <a:lstStyle/>
          <a:p>
            <a:r>
              <a:rPr lang="en-US" sz="2400" dirty="0"/>
              <a:t>Machine code for Hello world</a:t>
            </a:r>
          </a:p>
          <a:p>
            <a:endParaRPr lang="en-US" sz="2400" dirty="0"/>
          </a:p>
          <a:p>
            <a:r>
              <a:rPr lang="en-US" sz="2400" dirty="0"/>
              <a:t>Only some part of program  is shown here</a:t>
            </a:r>
          </a:p>
        </p:txBody>
      </p:sp>
      <p:pic>
        <p:nvPicPr>
          <p:cNvPr id="4" name="Picture 3">
            <a:extLst>
              <a:ext uri="{FF2B5EF4-FFF2-40B4-BE49-F238E27FC236}">
                <a16:creationId xmlns:a16="http://schemas.microsoft.com/office/drawing/2014/main" id="{E127BCC7-6CBC-47AA-80BC-26F04AC1F7ED}"/>
              </a:ext>
            </a:extLst>
          </p:cNvPr>
          <p:cNvPicPr>
            <a:picLocks noChangeAspect="1"/>
          </p:cNvPicPr>
          <p:nvPr/>
        </p:nvPicPr>
        <p:blipFill>
          <a:blip r:embed="rId2"/>
          <a:stretch>
            <a:fillRect/>
          </a:stretch>
        </p:blipFill>
        <p:spPr>
          <a:xfrm>
            <a:off x="457200" y="1892996"/>
            <a:ext cx="8655357" cy="344100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3"/>
          <p:cNvSpPr>
            <a:spLocks noGrp="1"/>
          </p:cNvSpPr>
          <p:nvPr>
            <p:ph type="title"/>
          </p:nvPr>
        </p:nvSpPr>
        <p:spPr>
          <a:xfrm>
            <a:off x="457200" y="274638"/>
            <a:ext cx="8229600" cy="563562"/>
          </a:xfrm>
        </p:spPr>
        <p:txBody>
          <a:bodyPr>
            <a:normAutofit/>
          </a:bodyPr>
          <a:lstStyle/>
          <a:p>
            <a:r>
              <a:rPr lang="en-US" sz="2800" dirty="0">
                <a:latin typeface="Verdana" pitchFamily="34" charset="0"/>
              </a:rPr>
              <a:t>Instruction format</a:t>
            </a:r>
          </a:p>
        </p:txBody>
      </p:sp>
      <p:sp>
        <p:nvSpPr>
          <p:cNvPr id="2051" name="Content Placeholder 4"/>
          <p:cNvSpPr>
            <a:spLocks noGrp="1"/>
          </p:cNvSpPr>
          <p:nvPr>
            <p:ph idx="1"/>
          </p:nvPr>
        </p:nvSpPr>
        <p:spPr>
          <a:xfrm>
            <a:off x="457200" y="990600"/>
            <a:ext cx="8382000" cy="5410200"/>
          </a:xfrm>
        </p:spPr>
        <p:txBody>
          <a:bodyPr/>
          <a:lstStyle/>
          <a:p>
            <a:pPr>
              <a:buFont typeface="Arial" charset="0"/>
              <a:buNone/>
            </a:pPr>
            <a:r>
              <a:rPr lang="en-US" sz="2400" dirty="0"/>
              <a:t>Operands are also represented symbolically. For example,           ADD R1, R2               where R1, R2 are the registers</a:t>
            </a:r>
          </a:p>
          <a:p>
            <a:pPr>
              <a:buFont typeface="Arial" charset="0"/>
              <a:buNone/>
            </a:pPr>
            <a:endParaRPr lang="en-US" sz="2400" dirty="0">
              <a:latin typeface="Verdana" pitchFamily="34" charset="0"/>
            </a:endParaRPr>
          </a:p>
          <a:p>
            <a:pPr>
              <a:buFont typeface="Arial" charset="0"/>
              <a:buNone/>
            </a:pPr>
            <a:r>
              <a:rPr lang="en-US" sz="2400" dirty="0">
                <a:latin typeface="Verdana" pitchFamily="34" charset="0"/>
              </a:rPr>
              <a:t>Instruction format</a:t>
            </a:r>
          </a:p>
        </p:txBody>
      </p:sp>
      <p:pic>
        <p:nvPicPr>
          <p:cNvPr id="1026" name="Picture 2"/>
          <p:cNvPicPr>
            <a:picLocks noChangeAspect="1" noChangeArrowheads="1"/>
          </p:cNvPicPr>
          <p:nvPr/>
        </p:nvPicPr>
        <p:blipFill>
          <a:blip r:embed="rId2"/>
          <a:srcRect/>
          <a:stretch>
            <a:fillRect/>
          </a:stretch>
        </p:blipFill>
        <p:spPr bwMode="auto">
          <a:xfrm>
            <a:off x="685800" y="3048000"/>
            <a:ext cx="7402902" cy="1447800"/>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3"/>
          <p:cNvSpPr>
            <a:spLocks noGrp="1"/>
          </p:cNvSpPr>
          <p:nvPr>
            <p:ph type="title"/>
          </p:nvPr>
        </p:nvSpPr>
        <p:spPr>
          <a:xfrm>
            <a:off x="457200" y="274638"/>
            <a:ext cx="8229600" cy="563562"/>
          </a:xfrm>
        </p:spPr>
        <p:txBody>
          <a:bodyPr/>
          <a:lstStyle/>
          <a:p>
            <a:pPr eaLnBrk="1" hangingPunct="1"/>
            <a:endParaRPr lang="en-US" sz="2800" dirty="0"/>
          </a:p>
        </p:txBody>
      </p:sp>
      <p:sp>
        <p:nvSpPr>
          <p:cNvPr id="61443" name="Content Placeholder 4"/>
          <p:cNvSpPr>
            <a:spLocks noGrp="1"/>
          </p:cNvSpPr>
          <p:nvPr>
            <p:ph idx="1"/>
          </p:nvPr>
        </p:nvSpPr>
        <p:spPr>
          <a:xfrm>
            <a:off x="457200" y="990600"/>
            <a:ext cx="8382000" cy="5410200"/>
          </a:xfrm>
        </p:spPr>
        <p:txBody>
          <a:bodyPr/>
          <a:lstStyle/>
          <a:p>
            <a:pPr>
              <a:buFont typeface="Arial" charset="0"/>
              <a:buNone/>
            </a:pPr>
            <a:r>
              <a:rPr lang="en-US" sz="2400" dirty="0"/>
              <a:t>How CPU performs these instruction cycles?</a:t>
            </a:r>
          </a:p>
          <a:p>
            <a:pPr>
              <a:buFont typeface="Arial" charset="0"/>
              <a:buNone/>
            </a:pPr>
            <a:r>
              <a:rPr lang="en-US" sz="2400" dirty="0"/>
              <a:t>It uses following registers for this</a:t>
            </a:r>
          </a:p>
          <a:p>
            <a:pPr>
              <a:buFont typeface="Arial" charset="0"/>
              <a:buNone/>
            </a:pPr>
            <a:r>
              <a:rPr lang="en-US" sz="2400" dirty="0"/>
              <a:t>• </a:t>
            </a:r>
            <a:r>
              <a:rPr lang="en-US" sz="2400" b="1" dirty="0"/>
              <a:t>Program counter (PC/IP):</a:t>
            </a:r>
            <a:r>
              <a:rPr lang="en-US" sz="2400" dirty="0"/>
              <a:t>Contains the address of an instruction to be fetched</a:t>
            </a:r>
          </a:p>
          <a:p>
            <a:pPr>
              <a:buFont typeface="Arial" charset="0"/>
              <a:buNone/>
            </a:pPr>
            <a:r>
              <a:rPr lang="en-US" sz="2400" dirty="0"/>
              <a:t>• </a:t>
            </a:r>
            <a:r>
              <a:rPr lang="en-US" sz="2400" b="1" dirty="0"/>
              <a:t>Instruction register (IR</a:t>
            </a:r>
            <a:r>
              <a:rPr lang="en-US" sz="2400" dirty="0"/>
              <a:t>):Contains the instruction most recently fetched</a:t>
            </a:r>
          </a:p>
          <a:p>
            <a:pPr>
              <a:buFont typeface="Arial" charset="0"/>
              <a:buNone/>
            </a:pPr>
            <a:r>
              <a:rPr lang="en-US" sz="2400" dirty="0"/>
              <a:t>• </a:t>
            </a:r>
            <a:r>
              <a:rPr lang="en-US" sz="2400" b="1" dirty="0"/>
              <a:t>Memory address register (MAR</a:t>
            </a:r>
            <a:r>
              <a:rPr lang="en-US" sz="2400" dirty="0"/>
              <a:t>):Contains the address of a location in memory</a:t>
            </a:r>
          </a:p>
          <a:p>
            <a:pPr>
              <a:buFont typeface="Arial" charset="0"/>
              <a:buNone/>
            </a:pPr>
            <a:r>
              <a:rPr lang="en-US" sz="2400" dirty="0"/>
              <a:t>• </a:t>
            </a:r>
            <a:r>
              <a:rPr lang="en-US" sz="2400" b="1" dirty="0"/>
              <a:t>Memory buffer register (MBR):</a:t>
            </a:r>
            <a:r>
              <a:rPr lang="en-US" sz="2400" dirty="0"/>
              <a:t>Contains a word of data to be written to memory or the word most recently read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p:cNvPicPr>
            <a:picLocks noChangeAspect="1" noChangeArrowheads="1"/>
          </p:cNvPicPr>
          <p:nvPr/>
        </p:nvPicPr>
        <p:blipFill>
          <a:blip r:embed="rId2"/>
          <a:srcRect/>
          <a:stretch>
            <a:fillRect/>
          </a:stretch>
        </p:blipFill>
        <p:spPr bwMode="auto">
          <a:xfrm>
            <a:off x="381000" y="933450"/>
            <a:ext cx="8382000" cy="4991100"/>
          </a:xfrm>
          <a:prstGeom prst="rect">
            <a:avLst/>
          </a:prstGeom>
          <a:noFill/>
          <a:ln w="9525">
            <a:noFill/>
            <a:miter lim="800000"/>
            <a:headEnd/>
            <a:tailEnd/>
          </a:ln>
          <a:effectLst/>
        </p:spPr>
      </p:pic>
      <p:pic>
        <p:nvPicPr>
          <p:cNvPr id="3077" name="Picture 5"/>
          <p:cNvPicPr>
            <a:picLocks noChangeAspect="1" noChangeArrowheads="1"/>
          </p:cNvPicPr>
          <p:nvPr/>
        </p:nvPicPr>
        <p:blipFill>
          <a:blip r:embed="rId3"/>
          <a:srcRect/>
          <a:stretch>
            <a:fillRect/>
          </a:stretch>
        </p:blipFill>
        <p:spPr bwMode="auto">
          <a:xfrm>
            <a:off x="1828800" y="4953000"/>
            <a:ext cx="1266825" cy="685800"/>
          </a:xfrm>
          <a:prstGeom prst="rect">
            <a:avLst/>
          </a:prstGeom>
          <a:noFill/>
          <a:ln w="9525">
            <a:noFill/>
            <a:miter lim="800000"/>
            <a:headEnd/>
            <a:tailEnd/>
          </a:ln>
          <a:effectLst/>
        </p:spPr>
      </p:pic>
      <p:sp>
        <p:nvSpPr>
          <p:cNvPr id="7" name="TextBox 6"/>
          <p:cNvSpPr txBox="1"/>
          <p:nvPr/>
        </p:nvSpPr>
        <p:spPr>
          <a:xfrm>
            <a:off x="838200" y="381000"/>
            <a:ext cx="4946547" cy="369332"/>
          </a:xfrm>
          <a:prstGeom prst="rect">
            <a:avLst/>
          </a:prstGeom>
          <a:noFill/>
        </p:spPr>
        <p:txBody>
          <a:bodyPr wrap="none" rtlCol="0">
            <a:spAutoFit/>
          </a:bodyPr>
          <a:lstStyle/>
          <a:p>
            <a:r>
              <a:rPr lang="en-US" b="1" dirty="0"/>
              <a:t>Animation of how processor executes instructions</a:t>
            </a:r>
          </a:p>
        </p:txBody>
      </p:sp>
      <p:sp>
        <p:nvSpPr>
          <p:cNvPr id="8" name="TextBox 7"/>
          <p:cNvSpPr txBox="1"/>
          <p:nvPr/>
        </p:nvSpPr>
        <p:spPr>
          <a:xfrm>
            <a:off x="990600" y="6019800"/>
            <a:ext cx="7203639" cy="646331"/>
          </a:xfrm>
          <a:prstGeom prst="rect">
            <a:avLst/>
          </a:prstGeom>
          <a:noFill/>
        </p:spPr>
        <p:txBody>
          <a:bodyPr wrap="none" rtlCol="0">
            <a:spAutoFit/>
          </a:bodyPr>
          <a:lstStyle/>
          <a:p>
            <a:r>
              <a:rPr lang="en-US" b="1" dirty="0"/>
              <a:t>When CPU is turned ON , it starts fetching instruction from address 0000 ,</a:t>
            </a:r>
          </a:p>
          <a:p>
            <a:r>
              <a:rPr lang="en-US" b="1" dirty="0"/>
              <a:t>So  it loads  PC with 0000 </a:t>
            </a:r>
          </a:p>
        </p:txBody>
      </p:sp>
      <p:sp>
        <p:nvSpPr>
          <p:cNvPr id="9" name="Rounded Rectangle 8"/>
          <p:cNvSpPr/>
          <p:nvPr/>
        </p:nvSpPr>
        <p:spPr>
          <a:xfrm>
            <a:off x="1066800" y="1828800"/>
            <a:ext cx="609600" cy="381000"/>
          </a:xfrm>
          <a:prstGeom prst="roundRect">
            <a:avLst/>
          </a:prstGeom>
          <a:solidFill>
            <a:schemeClr val="accent1">
              <a:alpha val="3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0.70"/>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390525" y="942975"/>
            <a:ext cx="8362950" cy="497205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1752600" y="4876800"/>
            <a:ext cx="1266825" cy="685800"/>
          </a:xfrm>
          <a:prstGeom prst="rect">
            <a:avLst/>
          </a:prstGeom>
          <a:noFill/>
          <a:ln w="9525">
            <a:noFill/>
            <a:miter lim="800000"/>
            <a:headEnd/>
            <a:tailEnd/>
          </a:ln>
          <a:effectLst/>
        </p:spPr>
      </p:pic>
      <p:sp>
        <p:nvSpPr>
          <p:cNvPr id="5" name="TextBox 4"/>
          <p:cNvSpPr txBox="1"/>
          <p:nvPr/>
        </p:nvSpPr>
        <p:spPr>
          <a:xfrm>
            <a:off x="1143000" y="6096000"/>
            <a:ext cx="3626377" cy="369332"/>
          </a:xfrm>
          <a:prstGeom prst="rect">
            <a:avLst/>
          </a:prstGeom>
          <a:noFill/>
        </p:spPr>
        <p:txBody>
          <a:bodyPr wrap="none" rtlCol="0">
            <a:spAutoFit/>
          </a:bodyPr>
          <a:lstStyle/>
          <a:p>
            <a:r>
              <a:rPr lang="en-US" dirty="0"/>
              <a:t>Contents of PC Is transferred to MAR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srcRect/>
          <a:stretch>
            <a:fillRect/>
          </a:stretch>
        </p:blipFill>
        <p:spPr bwMode="auto">
          <a:xfrm>
            <a:off x="390525" y="942975"/>
            <a:ext cx="8362950" cy="4972050"/>
          </a:xfrm>
          <a:prstGeom prst="rect">
            <a:avLst/>
          </a:prstGeom>
          <a:noFill/>
          <a:ln w="9525">
            <a:noFill/>
            <a:miter lim="800000"/>
            <a:headEnd/>
            <a:tailEnd/>
          </a:ln>
          <a:effectLst/>
        </p:spPr>
      </p:pic>
      <p:pic>
        <p:nvPicPr>
          <p:cNvPr id="5" name="Picture 3"/>
          <p:cNvPicPr>
            <a:picLocks noChangeAspect="1" noChangeArrowheads="1"/>
          </p:cNvPicPr>
          <p:nvPr/>
        </p:nvPicPr>
        <p:blipFill>
          <a:blip r:embed="rId3"/>
          <a:srcRect/>
          <a:stretch>
            <a:fillRect/>
          </a:stretch>
        </p:blipFill>
        <p:spPr bwMode="auto">
          <a:xfrm>
            <a:off x="1752600" y="4876800"/>
            <a:ext cx="1266825" cy="685800"/>
          </a:xfrm>
          <a:prstGeom prst="rect">
            <a:avLst/>
          </a:prstGeom>
          <a:noFill/>
          <a:ln w="9525">
            <a:noFill/>
            <a:miter lim="800000"/>
            <a:headEnd/>
            <a:tailEnd/>
          </a:ln>
          <a:effectLst/>
        </p:spPr>
      </p:pic>
      <p:sp>
        <p:nvSpPr>
          <p:cNvPr id="6" name="TextBox 5"/>
          <p:cNvSpPr txBox="1"/>
          <p:nvPr/>
        </p:nvSpPr>
        <p:spPr>
          <a:xfrm>
            <a:off x="1066800" y="6324600"/>
            <a:ext cx="4052263" cy="369332"/>
          </a:xfrm>
          <a:prstGeom prst="rect">
            <a:avLst/>
          </a:prstGeom>
          <a:noFill/>
        </p:spPr>
        <p:txBody>
          <a:bodyPr wrap="none" rtlCol="0">
            <a:spAutoFit/>
          </a:bodyPr>
          <a:lstStyle/>
          <a:p>
            <a:r>
              <a:rPr lang="en-US" dirty="0"/>
              <a:t>Contents of MAR are sent on address bus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390525" y="942975"/>
            <a:ext cx="8362950" cy="4972050"/>
          </a:xfrm>
          <a:prstGeom prst="rect">
            <a:avLst/>
          </a:prstGeom>
          <a:noFill/>
          <a:ln w="9525">
            <a:noFill/>
            <a:miter lim="800000"/>
            <a:headEnd/>
            <a:tailEnd/>
          </a:ln>
          <a:effectLst/>
        </p:spPr>
      </p:pic>
      <p:pic>
        <p:nvPicPr>
          <p:cNvPr id="4" name="Picture 3"/>
          <p:cNvPicPr>
            <a:picLocks noChangeAspect="1" noChangeArrowheads="1"/>
          </p:cNvPicPr>
          <p:nvPr/>
        </p:nvPicPr>
        <p:blipFill>
          <a:blip r:embed="rId3"/>
          <a:srcRect/>
          <a:stretch>
            <a:fillRect/>
          </a:stretch>
        </p:blipFill>
        <p:spPr bwMode="auto">
          <a:xfrm>
            <a:off x="1752600" y="4876800"/>
            <a:ext cx="1266825" cy="685800"/>
          </a:xfrm>
          <a:prstGeom prst="rect">
            <a:avLst/>
          </a:prstGeom>
          <a:noFill/>
          <a:ln w="9525">
            <a:noFill/>
            <a:miter lim="800000"/>
            <a:headEnd/>
            <a:tailEnd/>
          </a:ln>
          <a:effectLst/>
        </p:spPr>
      </p:pic>
      <p:sp>
        <p:nvSpPr>
          <p:cNvPr id="5" name="TextBox 4"/>
          <p:cNvSpPr txBox="1"/>
          <p:nvPr/>
        </p:nvSpPr>
        <p:spPr>
          <a:xfrm>
            <a:off x="1981200" y="6096000"/>
            <a:ext cx="4519635" cy="369332"/>
          </a:xfrm>
          <a:prstGeom prst="rect">
            <a:avLst/>
          </a:prstGeom>
          <a:noFill/>
        </p:spPr>
        <p:txBody>
          <a:bodyPr wrap="none" rtlCol="0">
            <a:spAutoFit/>
          </a:bodyPr>
          <a:lstStyle/>
          <a:p>
            <a:r>
              <a:rPr lang="en-US" dirty="0"/>
              <a:t>CU then sends read ( RD) signal on control bus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srcRect/>
          <a:stretch>
            <a:fillRect/>
          </a:stretch>
        </p:blipFill>
        <p:spPr bwMode="auto">
          <a:xfrm>
            <a:off x="390525" y="942975"/>
            <a:ext cx="8362950" cy="4972050"/>
          </a:xfrm>
          <a:prstGeom prst="rect">
            <a:avLst/>
          </a:prstGeom>
          <a:noFill/>
          <a:ln w="9525">
            <a:noFill/>
            <a:miter lim="800000"/>
            <a:headEnd/>
            <a:tailEnd/>
          </a:ln>
          <a:effectLst/>
        </p:spPr>
      </p:pic>
      <p:pic>
        <p:nvPicPr>
          <p:cNvPr id="4" name="Picture 3"/>
          <p:cNvPicPr>
            <a:picLocks noChangeAspect="1" noChangeArrowheads="1"/>
          </p:cNvPicPr>
          <p:nvPr/>
        </p:nvPicPr>
        <p:blipFill>
          <a:blip r:embed="rId3"/>
          <a:srcRect/>
          <a:stretch>
            <a:fillRect/>
          </a:stretch>
        </p:blipFill>
        <p:spPr bwMode="auto">
          <a:xfrm>
            <a:off x="1752600" y="4876800"/>
            <a:ext cx="1266825" cy="685800"/>
          </a:xfrm>
          <a:prstGeom prst="rect">
            <a:avLst/>
          </a:prstGeom>
          <a:noFill/>
          <a:ln w="9525">
            <a:noFill/>
            <a:miter lim="800000"/>
            <a:headEnd/>
            <a:tailEnd/>
          </a:ln>
          <a:effectLst/>
        </p:spPr>
      </p:pic>
      <p:sp>
        <p:nvSpPr>
          <p:cNvPr id="5" name="TextBox 4"/>
          <p:cNvSpPr txBox="1"/>
          <p:nvPr/>
        </p:nvSpPr>
        <p:spPr>
          <a:xfrm>
            <a:off x="1905000" y="6248400"/>
            <a:ext cx="7307385" cy="369332"/>
          </a:xfrm>
          <a:prstGeom prst="rect">
            <a:avLst/>
          </a:prstGeom>
          <a:noFill/>
        </p:spPr>
        <p:txBody>
          <a:bodyPr wrap="none" rtlCol="0">
            <a:spAutoFit/>
          </a:bodyPr>
          <a:lstStyle/>
          <a:p>
            <a:r>
              <a:rPr lang="en-US" dirty="0"/>
              <a:t>Memory  sends contents of address 0000 on data bus which is laded in MBR</a:t>
            </a:r>
          </a:p>
        </p:txBody>
      </p:sp>
      <p:sp>
        <p:nvSpPr>
          <p:cNvPr id="6" name="Oval 5"/>
          <p:cNvSpPr/>
          <p:nvPr/>
        </p:nvSpPr>
        <p:spPr>
          <a:xfrm>
            <a:off x="7315200" y="5181600"/>
            <a:ext cx="381000" cy="304800"/>
          </a:xfrm>
          <a:prstGeom prst="ellipse">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srcRect/>
          <a:stretch>
            <a:fillRect/>
          </a:stretch>
        </p:blipFill>
        <p:spPr bwMode="auto">
          <a:xfrm>
            <a:off x="390525" y="942975"/>
            <a:ext cx="8362950" cy="4972050"/>
          </a:xfrm>
          <a:prstGeom prst="rect">
            <a:avLst/>
          </a:prstGeom>
          <a:noFill/>
          <a:ln w="9525">
            <a:noFill/>
            <a:miter lim="800000"/>
            <a:headEnd/>
            <a:tailEnd/>
          </a:ln>
          <a:effectLst/>
        </p:spPr>
      </p:pic>
      <p:pic>
        <p:nvPicPr>
          <p:cNvPr id="4" name="Picture 3"/>
          <p:cNvPicPr>
            <a:picLocks noChangeAspect="1" noChangeArrowheads="1"/>
          </p:cNvPicPr>
          <p:nvPr/>
        </p:nvPicPr>
        <p:blipFill>
          <a:blip r:embed="rId3"/>
          <a:srcRect/>
          <a:stretch>
            <a:fillRect/>
          </a:stretch>
        </p:blipFill>
        <p:spPr bwMode="auto">
          <a:xfrm>
            <a:off x="1752600" y="4876800"/>
            <a:ext cx="1266825" cy="685800"/>
          </a:xfrm>
          <a:prstGeom prst="rect">
            <a:avLst/>
          </a:prstGeom>
          <a:noFill/>
          <a:ln w="9525">
            <a:noFill/>
            <a:miter lim="800000"/>
            <a:headEnd/>
            <a:tailEnd/>
          </a:ln>
          <a:effectLst/>
        </p:spPr>
      </p:pic>
      <p:sp>
        <p:nvSpPr>
          <p:cNvPr id="5" name="TextBox 4"/>
          <p:cNvSpPr txBox="1"/>
          <p:nvPr/>
        </p:nvSpPr>
        <p:spPr>
          <a:xfrm>
            <a:off x="1066800" y="6172200"/>
            <a:ext cx="7378302" cy="369332"/>
          </a:xfrm>
          <a:prstGeom prst="rect">
            <a:avLst/>
          </a:prstGeom>
          <a:noFill/>
        </p:spPr>
        <p:txBody>
          <a:bodyPr wrap="none" rtlCol="0">
            <a:spAutoFit/>
          </a:bodyPr>
          <a:lstStyle/>
          <a:p>
            <a:r>
              <a:rPr lang="en-US" dirty="0"/>
              <a:t>CU transfers MBR contents to instruction register IR , since it is an instruction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p:cNvPicPr>
            <a:picLocks noChangeAspect="1" noChangeArrowheads="1"/>
          </p:cNvPicPr>
          <p:nvPr/>
        </p:nvPicPr>
        <p:blipFill>
          <a:blip r:embed="rId2"/>
          <a:srcRect/>
          <a:stretch>
            <a:fillRect/>
          </a:stretch>
        </p:blipFill>
        <p:spPr bwMode="auto">
          <a:xfrm>
            <a:off x="390525" y="942975"/>
            <a:ext cx="8362950" cy="4972050"/>
          </a:xfrm>
          <a:prstGeom prst="rect">
            <a:avLst/>
          </a:prstGeom>
          <a:noFill/>
          <a:ln w="9525">
            <a:noFill/>
            <a:miter lim="800000"/>
            <a:headEnd/>
            <a:tailEnd/>
          </a:ln>
          <a:effectLst/>
        </p:spPr>
      </p:pic>
      <p:pic>
        <p:nvPicPr>
          <p:cNvPr id="6" name="Picture 3"/>
          <p:cNvPicPr>
            <a:picLocks noChangeAspect="1" noChangeArrowheads="1"/>
          </p:cNvPicPr>
          <p:nvPr/>
        </p:nvPicPr>
        <p:blipFill>
          <a:blip r:embed="rId3"/>
          <a:srcRect/>
          <a:stretch>
            <a:fillRect/>
          </a:stretch>
        </p:blipFill>
        <p:spPr bwMode="auto">
          <a:xfrm>
            <a:off x="1752600" y="4876800"/>
            <a:ext cx="1266825" cy="685800"/>
          </a:xfrm>
          <a:prstGeom prst="rect">
            <a:avLst/>
          </a:prstGeom>
          <a:noFill/>
          <a:ln w="9525">
            <a:noFill/>
            <a:miter lim="800000"/>
            <a:headEnd/>
            <a:tailEnd/>
          </a:ln>
          <a:effectLst/>
        </p:spPr>
      </p:pic>
      <p:sp>
        <p:nvSpPr>
          <p:cNvPr id="7" name="TextBox 6"/>
          <p:cNvSpPr txBox="1"/>
          <p:nvPr/>
        </p:nvSpPr>
        <p:spPr>
          <a:xfrm>
            <a:off x="1447800" y="6096000"/>
            <a:ext cx="6252802" cy="646331"/>
          </a:xfrm>
          <a:prstGeom prst="rect">
            <a:avLst/>
          </a:prstGeom>
          <a:noFill/>
        </p:spPr>
        <p:txBody>
          <a:bodyPr wrap="none" rtlCol="0">
            <a:spAutoFit/>
          </a:bodyPr>
          <a:lstStyle/>
          <a:p>
            <a:r>
              <a:rPr lang="en-US" dirty="0"/>
              <a:t>CU decodes instruction , it finds that R1 is to be added in R0 and </a:t>
            </a:r>
          </a:p>
          <a:p>
            <a:r>
              <a:rPr lang="en-US" dirty="0"/>
              <a:t>result to be stored in R0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srcRect/>
          <a:stretch>
            <a:fillRect/>
          </a:stretch>
        </p:blipFill>
        <p:spPr bwMode="auto">
          <a:xfrm>
            <a:off x="390525" y="942975"/>
            <a:ext cx="8362950" cy="4972050"/>
          </a:xfrm>
          <a:prstGeom prst="rect">
            <a:avLst/>
          </a:prstGeom>
          <a:noFill/>
          <a:ln w="9525">
            <a:noFill/>
            <a:miter lim="800000"/>
            <a:headEnd/>
            <a:tailEnd/>
          </a:ln>
          <a:effectLst/>
        </p:spPr>
      </p:pic>
      <p:sp>
        <p:nvSpPr>
          <p:cNvPr id="4" name="TextBox 3"/>
          <p:cNvSpPr txBox="1"/>
          <p:nvPr/>
        </p:nvSpPr>
        <p:spPr>
          <a:xfrm>
            <a:off x="1524000" y="6096000"/>
            <a:ext cx="6118726" cy="369332"/>
          </a:xfrm>
          <a:prstGeom prst="rect">
            <a:avLst/>
          </a:prstGeom>
          <a:noFill/>
        </p:spPr>
        <p:txBody>
          <a:bodyPr wrap="none" rtlCol="0">
            <a:spAutoFit/>
          </a:bodyPr>
          <a:lstStyle/>
          <a:p>
            <a:r>
              <a:rPr lang="en-US" dirty="0"/>
              <a:t>CU gives R0 and R1 contents to ALU and gives add signal to ALU</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a:stretch>
            <a:fillRect/>
          </a:stretch>
        </p:blipFill>
        <p:spPr bwMode="auto">
          <a:xfrm>
            <a:off x="390525" y="942975"/>
            <a:ext cx="8362950" cy="4972050"/>
          </a:xfrm>
          <a:prstGeom prst="rect">
            <a:avLst/>
          </a:prstGeom>
          <a:noFill/>
          <a:ln w="9525">
            <a:noFill/>
            <a:miter lim="800000"/>
            <a:headEnd/>
            <a:tailEnd/>
          </a:ln>
          <a:effectLst/>
        </p:spPr>
      </p:pic>
      <p:sp>
        <p:nvSpPr>
          <p:cNvPr id="3" name="TextBox 2"/>
          <p:cNvSpPr txBox="1"/>
          <p:nvPr/>
        </p:nvSpPr>
        <p:spPr>
          <a:xfrm>
            <a:off x="1447800" y="6172200"/>
            <a:ext cx="4619598" cy="369332"/>
          </a:xfrm>
          <a:prstGeom prst="rect">
            <a:avLst/>
          </a:prstGeom>
          <a:noFill/>
        </p:spPr>
        <p:txBody>
          <a:bodyPr wrap="none" rtlCol="0">
            <a:spAutoFit/>
          </a:bodyPr>
          <a:lstStyle/>
          <a:p>
            <a:r>
              <a:rPr lang="en-US" dirty="0"/>
              <a:t>The result of addition is transferred by CU in R0</a:t>
            </a:r>
          </a:p>
        </p:txBody>
      </p:sp>
      <p:pic>
        <p:nvPicPr>
          <p:cNvPr id="4" name="Picture 3"/>
          <p:cNvPicPr>
            <a:picLocks noChangeAspect="1" noChangeArrowheads="1"/>
          </p:cNvPicPr>
          <p:nvPr/>
        </p:nvPicPr>
        <p:blipFill>
          <a:blip r:embed="rId3"/>
          <a:srcRect/>
          <a:stretch>
            <a:fillRect/>
          </a:stretch>
        </p:blipFill>
        <p:spPr bwMode="auto">
          <a:xfrm>
            <a:off x="1752600" y="4876800"/>
            <a:ext cx="1266825" cy="6858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srcRect/>
          <a:stretch>
            <a:fillRect/>
          </a:stretch>
        </p:blipFill>
        <p:spPr bwMode="auto">
          <a:xfrm>
            <a:off x="390525" y="942975"/>
            <a:ext cx="8362950" cy="4972050"/>
          </a:xfrm>
          <a:prstGeom prst="rect">
            <a:avLst/>
          </a:prstGeom>
          <a:noFill/>
          <a:ln w="9525">
            <a:noFill/>
            <a:miter lim="800000"/>
            <a:headEnd/>
            <a:tailEnd/>
          </a:ln>
          <a:effectLst/>
        </p:spPr>
      </p:pic>
      <p:sp>
        <p:nvSpPr>
          <p:cNvPr id="3" name="TextBox 2"/>
          <p:cNvSpPr txBox="1"/>
          <p:nvPr/>
        </p:nvSpPr>
        <p:spPr>
          <a:xfrm>
            <a:off x="1752600" y="6172200"/>
            <a:ext cx="6122061" cy="369332"/>
          </a:xfrm>
          <a:prstGeom prst="rect">
            <a:avLst/>
          </a:prstGeom>
          <a:noFill/>
        </p:spPr>
        <p:txBody>
          <a:bodyPr wrap="none" rtlCol="0">
            <a:spAutoFit/>
          </a:bodyPr>
          <a:lstStyle/>
          <a:p>
            <a:r>
              <a:rPr lang="en-US" dirty="0"/>
              <a:t>CU then increments PC by 1 to fetch next instruction from 0001</a:t>
            </a:r>
          </a:p>
        </p:txBody>
      </p:sp>
      <p:pic>
        <p:nvPicPr>
          <p:cNvPr id="4" name="Picture 3"/>
          <p:cNvPicPr>
            <a:picLocks noChangeAspect="1" noChangeArrowheads="1"/>
          </p:cNvPicPr>
          <p:nvPr/>
        </p:nvPicPr>
        <p:blipFill>
          <a:blip r:embed="rId3"/>
          <a:srcRect/>
          <a:stretch>
            <a:fillRect/>
          </a:stretch>
        </p:blipFill>
        <p:spPr bwMode="auto">
          <a:xfrm>
            <a:off x="1752600" y="4876800"/>
            <a:ext cx="1266825" cy="6858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3"/>
          <p:cNvSpPr>
            <a:spLocks noGrp="1"/>
          </p:cNvSpPr>
          <p:nvPr>
            <p:ph type="title"/>
          </p:nvPr>
        </p:nvSpPr>
        <p:spPr>
          <a:xfrm>
            <a:off x="457200" y="274638"/>
            <a:ext cx="8229600" cy="563562"/>
          </a:xfrm>
        </p:spPr>
        <p:txBody>
          <a:bodyPr/>
          <a:lstStyle/>
          <a:p>
            <a:pPr eaLnBrk="1" hangingPunct="1"/>
            <a:endParaRPr lang="en-US" sz="2800" dirty="0"/>
          </a:p>
        </p:txBody>
      </p:sp>
      <p:sp>
        <p:nvSpPr>
          <p:cNvPr id="61443" name="Content Placeholder 4"/>
          <p:cNvSpPr>
            <a:spLocks noGrp="1"/>
          </p:cNvSpPr>
          <p:nvPr>
            <p:ph idx="1"/>
          </p:nvPr>
        </p:nvSpPr>
        <p:spPr>
          <a:xfrm>
            <a:off x="457200" y="990600"/>
            <a:ext cx="8382000" cy="5410200"/>
          </a:xfrm>
        </p:spPr>
        <p:txBody>
          <a:bodyPr/>
          <a:lstStyle/>
          <a:p>
            <a:pPr>
              <a:buFont typeface="Arial" charset="0"/>
              <a:buNone/>
            </a:pP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456</TotalTime>
  <Words>1451</Words>
  <Application>Microsoft Office PowerPoint</Application>
  <PresentationFormat>On-screen Show (4:3)</PresentationFormat>
  <Paragraphs>137</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Arial MT</vt:lpstr>
      <vt:lpstr>Calibri</vt:lpstr>
      <vt:lpstr>Segoe UI Symbol</vt:lpstr>
      <vt:lpstr>Verdana</vt:lpstr>
      <vt:lpstr>Office Theme</vt:lpstr>
      <vt:lpstr>What is a computer?</vt:lpstr>
      <vt:lpstr>What about these?</vt:lpstr>
      <vt:lpstr>PowerPoint Presentation</vt:lpstr>
      <vt:lpstr>PowerPoint Presentation</vt:lpstr>
      <vt:lpstr>PowerPoint Presentation</vt:lpstr>
      <vt:lpstr>A Computer</vt:lpstr>
      <vt:lpstr>A Computer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Instructions</vt:lpstr>
      <vt:lpstr>The elements of machine instructions</vt:lpstr>
      <vt:lpstr>PowerPoint Presentation</vt:lpstr>
      <vt:lpstr>PowerPoint Presentation</vt:lpstr>
      <vt:lpstr>PowerPoint Presentation</vt:lpstr>
      <vt:lpstr>PowerPoint Presentation</vt:lpstr>
      <vt:lpstr>PowerPoint Presentation</vt:lpstr>
      <vt:lpstr>Instruction format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 Processor Structure and Function </dc:title>
  <dc:creator>HODIT</dc:creator>
  <cp:lastModifiedBy>Abhay Adapanawar</cp:lastModifiedBy>
  <cp:revision>84</cp:revision>
  <dcterms:created xsi:type="dcterms:W3CDTF">2006-08-16T00:00:00Z</dcterms:created>
  <dcterms:modified xsi:type="dcterms:W3CDTF">2025-01-08T06:32:10Z</dcterms:modified>
</cp:coreProperties>
</file>
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339" r:id="rId3"/>
    <p:sldId id="332" r:id="rId4"/>
    <p:sldId id="258" r:id="rId5"/>
    <p:sldId id="333" r:id="rId6"/>
    <p:sldId id="337" r:id="rId7"/>
    <p:sldId id="338" r:id="rId8"/>
    <p:sldId id="327" r:id="rId9"/>
    <p:sldId id="315" r:id="rId10"/>
    <p:sldId id="316" r:id="rId11"/>
    <p:sldId id="317" r:id="rId12"/>
    <p:sldId id="318" r:id="rId13"/>
    <p:sldId id="319" r:id="rId14"/>
    <p:sldId id="320" r:id="rId15"/>
    <p:sldId id="322" r:id="rId16"/>
    <p:sldId id="323" r:id="rId17"/>
    <p:sldId id="324" r:id="rId18"/>
    <p:sldId id="326" r:id="rId19"/>
    <p:sldId id="261" r:id="rId20"/>
    <p:sldId id="262" r:id="rId21"/>
    <p:sldId id="263" r:id="rId22"/>
    <p:sldId id="264" r:id="rId23"/>
    <p:sldId id="265" r:id="rId24"/>
    <p:sldId id="342" r:id="rId25"/>
    <p:sldId id="267" r:id="rId26"/>
    <p:sldId id="268" r:id="rId27"/>
    <p:sldId id="269" r:id="rId28"/>
    <p:sldId id="270" r:id="rId29"/>
    <p:sldId id="266" r:id="rId30"/>
    <p:sldId id="271" r:id="rId31"/>
    <p:sldId id="272" r:id="rId32"/>
    <p:sldId id="340" r:id="rId33"/>
    <p:sldId id="341" r:id="rId3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1584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/>
          <a:lstStyle/>
          <a:p>
            <a:pPr eaLnBrk="1" hangingPunct="1"/>
            <a:r>
              <a:rPr lang="en-US" sz="2800" dirty="0"/>
              <a:t>top level view of computer</a:t>
            </a:r>
          </a:p>
        </p:txBody>
      </p:sp>
      <p:sp>
        <p:nvSpPr>
          <p:cNvPr id="61443" name="Content Placeholder 4"/>
          <p:cNvSpPr>
            <a:spLocks noGrp="1"/>
          </p:cNvSpPr>
          <p:nvPr>
            <p:ph idx="1"/>
          </p:nvPr>
        </p:nvSpPr>
        <p:spPr>
          <a:xfrm>
            <a:off x="457200" y="990600"/>
            <a:ext cx="8382000" cy="5410200"/>
          </a:xfrm>
        </p:spPr>
        <p:txBody>
          <a:bodyPr/>
          <a:lstStyle/>
          <a:p>
            <a:pPr>
              <a:buFont typeface="Arial" charset="0"/>
              <a:buNone/>
            </a:pPr>
            <a:r>
              <a:rPr lang="en-US" sz="2400" dirty="0"/>
              <a:t>Block diagram of computer</a:t>
            </a:r>
          </a:p>
        </p:txBody>
      </p:sp>
      <p:sp>
        <p:nvSpPr>
          <p:cNvPr id="3076" name="AutoShape 4" descr="Image result for computer block diagra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78" name="AutoShape 6" descr="data:image/png;base64,iVBORw0KGgoAAAANSUhEUgAAARwAAACyCAMAAACnS4D4AAABXFBMVEX////f3+Gpsa3///qUl5aBi3+Ah4d+hokAAACBh4mBioy4uLj5///7+/vPz8+goKDk5OTa29d3eYKBgYHCyLyJjovCxsL09fWusrX///i1s7mdl5eTmJPCxMSBiYWel5Xd5t/18+x3fn7t7e6YoZ+Kk5jV09a0u7V3e3+WrKGamqGYo5fKysrIz9GMjI3E0MpWTU/U49aapqZweG9dXV9tbW1pc3syMTJIR0eqsKVKSVlOVldRVFe2rql1cm7h6+xodmYWABSImoQ8KjApJyVVYV5nXWM0MjuvprNCOkZYXlMhESIcKBzPzcQcAABtZ3ceICUAEwC1wbJHTkfFvLahurY9SDxNRD03Ny6QhohOQ0coHCE/Q0BhbmVNX2VnZmIaKzEAACAnJjZbc3IiNzYcJB3MwccAGRYiHBIXAAMoBxXK28h6b3UyGyQ8Uj03QzkEAA8zKyNdTlVhaVjnpgFYAAANq0lEQVR4nO2di3uiVhqHD4iGDCIQImAUh4u3iOINom6MttPRabNrO01mppsZM+lub9N2uu22///zLKhRVMSQZL3y6nMEPAeOP7/v3DgAAB4eHltE/GDv7pxgq87ucjkAvrsDkFVnd7kcuIq9Y+JIrmLvmDie5TjgieOA51YOZFzF3jFxPLdywHMrBzy3csBzKwc8t3LA4lZUZo/eI4kn3YT63R5BBlTxfRaRA6wl9o6JY3ErXofprF5thjW+yBd14qr8G2g80ayxd0wci1vxzXpAbWpEVOte5nrxg076Z4ChaWvsHRPH4lZsi5VFsVUQWywptnyUgFN4VvdZY++YOM61FZvCJ9Z3TByvneOAJ44DXiPQAc9yHPBayA54buWA51YOeG7lgOdWDnhu5YDnVg7oITfsmDihQ8bmpWZtNzPQqrO7DvDUqnOwxvCpVedgjYkdrToH64uCojs2h+vuKB8SBOrZjj2cyFBUYdW5WFv40KpzsMZ44jjgieOAJ44DnjgOeOLMJW/0rUivj2lP5jSN/Xa86lysKzqKlledh/UlowDf4lg7ijdk4YBXWzmwXuKIkBtka9K8qiaTYePVD9TYIFCTYXPJCIztiBkk+wESnDwwabd/ksBst0PsopRzGU+Ckl2lE40UNOwG2vrzuBB7d/DYhLAAXHP2h7DdXH5q0aYyJ6UtSG6U0O8mHXxlpHjiys7C1hXM1WB4Ykqce5/xJAk3CUl+tBhzdURTGHfn1iak5Fy1ZQl2cn1J4kBjccIO0WYxf+qe6xQjOHeWMyXOvc943lucZ66O+FDLcSUOIU6uL99y/K6OuFLLWb44qqsjLlWc6TJn+W7lvsxZmlut3nIeoUAOWjp+M33Ah4iz8jLnEcQppFkZsDLrY30yLdukGLFptdUccW47LPLkj7V1K5i+ycQk6SMmMad/TJ9ge7g4oxys3nJCCb6Q4tUqRRAkTHKNwMS3tpZDtBvUmxvqk6aG6d9P/dsDceRh2XovcS5vB/qG4sjTh7CnL47cd3P34uAEaS5Oi/Mu19O5k8p5twi/r4V6xYlrmOzFgWmdquh0J9/8GP5oazmR00q/NzcWB8fMn1gfriRte9aJQQFGvRvmQQIkSUKAE2QWh2SWxFlI9pEybvQxITxodHFlEuBGt5GUgbHSF+eruBlOiJMzW+m5oTkmJn/eQBzGCOKXso04VaYXUNtIu9AgrjWs1oRnfuqMWwVZNuK74lnAikEw/bdKEERBUKFaMT5JZNR9wA/g/TCGCkSY3EduihSSS0mlHMJZk8bCiEniBk2an1kd/Az/kszoREdP16jKPq1LGlPN0fEmcR2DG7WjXufXoqTWMzW4Fxpazjfmh2wVp8xnEP7DGY8c5ff9RgbqwX2MDGfH+YZgkoKo9mUKIid6zQYUlxIxQsb4KiYXOEyeyK5DOwfHbTeDCoelMQz7omd8pumxOL0TRU18EFA/8rVARAta8RSGqvFzq7ZZQTQ656Lcy4jmAi4BFKByT8voEKaDb1ON01wH/hP0qFq7TkoqUbjRYPVSb+YbGR2AdgxRYoRkHCC2n7DslVb+m6v1hJ/iPaUeqgpxtE531aI27opDYSOnmIbCGPaX/W8Csu3UBas4Mnm7lZ0oteWJQmFQIBPVfmSLW1WvFbX+Q+pFGkMjRJRo1Jr7TO0wYG0KDMuchj5cPwCXwZpcoZl4hlEBQpd1XaIOAEGHCx0ln8m0MlJKUZGQJDGGP6hBo/aM6H+JPpayWo6U+JDqaaHvfz1InEHVlIa+biaQTHg82Np3K/6d6enJOeLYY3Grevh7w+0h088zTcPfIaMIwI0igdTPklMpgKwNhLQMWVBG+SGTMsXjoYhIgi4ldlmWJy0pb4csqMhIHGAsmndV6hMESR7YMRgj67vVyamZeKLMIVsUm5cpmW8JLZYCVMHXFXw5S6HXL5D1viVZyxzeOqIgMPwgc6QlocVyfiZf0HC88ns4rJ82tbNaWk/f0FXsLHzySqcmU4xwGLLwzTYgs1ONwHu0c1J9YRfVVpMHtq/KyVq3EqfpFkFjsThSav6BETSfiAv+cWKLOB/Il78U2gmFOdcy0f14rVX1N7SefIUFXmkMmEgxwt14zooGu+zFCTX4Cn910a5RjV6pqLS1UI36z3UONPKjKBa38jPxnNLdj0d+J/hKXEj6ef46G5dJSec1S6HzkEbgOokDaUyFV+tSJ0mflhrHmo5pyLUhjjb+vy2WIwybCMTMkQXrDMYJcdwNkz6CWw14lBYyHZJZUZTlglG0QiLJknKeJVnqahxjqUMWyjpZDmAjs1EBEKecZGljyNOWs/q+lTMrtZy16ZXPYanibKLlLM2t1qvMWcxKLWcT3MqznDm4F2disIy7EARKEKxBarhEzQb7G1jmIP6Af3/hKzB8xa3JyaOjo/QRZgZHdgE2CsxYh1OjIBVjd9Jgp+ZrRH/19niByvAzO04oV+xzHBjn0rJDvTtKqAQCE9Gcj+xuEsH/gfKcYaMRwacLImwxyqIB5F0WJ7HIciB9QYTtRUanh3WnaKGouxPc24OIvv3MUR0KxaLolVOM7QVNwy3UqV7mD4NPRXezaraGIDheWFtFl5KTtWT6/PkMnjgO7LI4x+KCCLssTkJccBXILotz7Ikzn+nZXjPsrjg5kIiQ03PHrJCyIc6OXmP0Tz9HfX3oEOEV2uL83ywtP2tF5M079LVjoXOMfnoZdIqwxUTecAsuWjx+s6vajKbCzSfoakh0u/AagQ4oXjtnPl4L2YFj0Xayw5hdFifhiTOf48guuhUZSlHGezpI3QahQSB1Q+Y35Nz9bGVVnkkfpg+ZQzNgzCA9CJhRcDhYwhjG+LQ9w5DyIwoSlhRFiSWVmIIgSszACJDYcAmxBNIGNRYXnHKZwvbMHVbw+YK+YCRifgBzAR8GvskgaAQgukniLBo5n8D2gm/M1Y0btlcce8vxxOnjWY4DnuU44FmOA57lOOBZjgOe5TiwdZZDRAm12bxColHjbSyFiadJAFhTFHlSHNlcvl1n7U7FbJ3lIEE4y2PQ4DJDEuNhgvUDCjWnJqOHE+JgckuUNcjX8rGtXC/UwoH5tg6Q3sFy+preTjtozdrleonTPBtk1bxOczDwgLVJtD/pt4QWVEv2i+XPVK3Kn2aupSu1FopfXugnRPu5pSt+B8tRxJKQr/mEkq9UShTJUgQvBYOlscLrJY71+Sa+wZBV/LO/J8IG2XO0YxXnrMO3i6GXWELq5m6o4j/8HKmHE61xjDtYzpf+rzT97eEXHfXF59pVukOrzZje6Y0Os17i6Nj03Br+PPR1/wpt8SVntRwJu8oliVeIVEeoVEbW/yacEt0T3RLjDpbz6TOimdH4yzRcY1Uu9klDZ1I1AhmNla2XOE8LcYTHBIAbGGUORuwVAiCHCsZXKPH4tVX7NVbG9ku0VAiwBBbS1VA7h0nKmoqj0mqm0dDpPpVGo6nSHwGgTHMKee0cR3a8neOMZzlG0+5sjgi7bjmtKEupVZaNwnKUh6JE1HoWZdct5+3FUY2qsfIPoJGrfadG4Sdn4y933XJqHFy7+DcrPwfnF8UDNVtHPh9/ueuWwxIsSWA4ewTkbJekKKFr6RDsuuU4suuW44hnOQ54luOAu9PBO2Y5ykHAhoxutzUQsJ1Kgalp885yt+/0vPfg+/ayf+FDsJ13U/rRxR6CAkTZEDog7TZv/rNRGy9cFUW2KH9svg52NC4vZ2526hbih8uXa/XcjEeC1ks/qtrD9pH7QJb5d04Xk2woPp9R5jzUr3wisqWPMXJVINtCcmwisvAmDxvJI4jzUzT8vvnwYn3tIPHSj/j8iaN3o9VDm4+SmzXj6rSEfeLuXkZj2Hw+Zb6o47dMarC4Vc6F67//fn7figbGMN5488abN5cwPrxd7R1cbyyYzT+f2cvzc1vW3CnlFseZw+x1xOv1DLV7I/I5rn//9bBqBESOv4dvlWfEYbZBnPzTs4nHzckUlJ68df1dKM9cmbUNliOouE2LNur2cfazl61tgzgUkkhwXEEekYK5spK1v9/6fMrDK7MgmBta4Ta4FcUAHIJ4xNBowIX5aMUUtjjlBIY4pulAGJniBhXXNliOvQyuxUmIEdN0zNFmaDBw6IkzojwQx5xPRnriTDEUhzP6ZvygMOe7zik2AQq228ozdlsdGLoVSMeyw4puGywHhFSYtLZzWIjE1LTbAauh5QAQvO2BbIU4RrOPYQYt5D5El2ktTjPNSJwR21CVPxKJGXG2xHIeg1nL8cQZYfStPHHmkRD7jwyzPOJ746vyyLjGTglGwBi1FnavMyt5dYaHDkevGvkdQcmwzHNyukEAlnvBwSGEgbgI57YRuIXIPa7NadfnDNfcI4BE3EiX8rd0GVVqz+9eYuD9i7iALzIuks0NGz++LvdCjZs97YbiaEOcJnad0cC/0uedZwQi3H0fJ7qpBO7zRVhDFlOYygXA66S5ssGnsPDXwgVZvrgQg/U6BcSE0sVAHTwT2DJ856H21Du4mVHbsfen5V4lrjHnQezmb8rziw6tF8s3bzb/HMRDzm6nenkaBV8+46SmnssUn0mAPvI/K4J25kbTdXcPINs6oEauqfql2HkHruoMhYqA13vKn0DLV69SN9qm11mPgkIAqAPIttvuvIeHh8dm8D9iF6jhXXwXZQ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0" y="2286000"/>
            <a:ext cx="4171950" cy="2333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96C8D-6310-4E3A-BF74-7ACA2931C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7772400" cy="639762"/>
          </a:xfrm>
        </p:spPr>
        <p:txBody>
          <a:bodyPr>
            <a:normAutofit fontScale="90000"/>
          </a:bodyPr>
          <a:lstStyle/>
          <a:p>
            <a:r>
              <a:rPr lang="en-IN" sz="2200" b="0" i="0" dirty="0">
                <a:solidFill>
                  <a:srgbClr val="000000"/>
                </a:solidFill>
                <a:effectLst/>
                <a:latin typeface="TimesTen-Roman"/>
              </a:rPr>
              <a:t>Computer Components: Top-Level View</a:t>
            </a:r>
            <a:r>
              <a:rPr lang="en-IN" sz="5300" dirty="0"/>
              <a:t>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F35DAB-C512-4C42-A0C9-3E84DB12A4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242B8B6-8389-415C-8532-35446A3524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744" y="1162466"/>
            <a:ext cx="7563906" cy="540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575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/>
          <a:lstStyle/>
          <a:p>
            <a:pPr eaLnBrk="1" hangingPunct="1"/>
            <a:r>
              <a:rPr lang="en-US" sz="2800" dirty="0"/>
              <a:t>CPU</a:t>
            </a:r>
          </a:p>
        </p:txBody>
      </p:sp>
      <p:sp>
        <p:nvSpPr>
          <p:cNvPr id="61443" name="Content Placeholder 4"/>
          <p:cNvSpPr>
            <a:spLocks noGrp="1"/>
          </p:cNvSpPr>
          <p:nvPr>
            <p:ph idx="1"/>
          </p:nvPr>
        </p:nvSpPr>
        <p:spPr>
          <a:xfrm>
            <a:off x="457200" y="990600"/>
            <a:ext cx="8382000" cy="5410200"/>
          </a:xfrm>
        </p:spPr>
        <p:txBody>
          <a:bodyPr/>
          <a:lstStyle/>
          <a:p>
            <a:pPr>
              <a:buFont typeface="Arial" charset="0"/>
              <a:buNone/>
            </a:pPr>
            <a:r>
              <a:rPr lang="en-US" sz="2400" dirty="0"/>
              <a:t>Block diagram</a:t>
            </a: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05" t="25034" r="12105" b="23949"/>
          <a:stretch>
            <a:fillRect/>
          </a:stretch>
        </p:blipFill>
        <p:spPr bwMode="auto">
          <a:xfrm>
            <a:off x="1600200" y="1524000"/>
            <a:ext cx="5791200" cy="50406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939528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/>
          <a:lstStyle/>
          <a:p>
            <a:pPr eaLnBrk="1" hangingPunct="1"/>
            <a:endParaRPr lang="en-US" sz="2800">
              <a:latin typeface="Verdana" pitchFamily="34" charset="0"/>
            </a:endParaRPr>
          </a:p>
        </p:txBody>
      </p:sp>
      <p:sp>
        <p:nvSpPr>
          <p:cNvPr id="2051" name="Content Placeholder 4"/>
          <p:cNvSpPr>
            <a:spLocks noGrp="1"/>
          </p:cNvSpPr>
          <p:nvPr>
            <p:ph idx="1"/>
          </p:nvPr>
        </p:nvSpPr>
        <p:spPr>
          <a:xfrm>
            <a:off x="457200" y="990600"/>
            <a:ext cx="8382000" cy="5410200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dirty="0"/>
              <a:t>Main components in CPU</a:t>
            </a:r>
          </a:p>
          <a:p>
            <a:pPr marL="0" indent="0">
              <a:buNone/>
            </a:pPr>
            <a:r>
              <a:rPr lang="en-US" altLang="en-US" dirty="0"/>
              <a:t>	ALU</a:t>
            </a:r>
          </a:p>
          <a:p>
            <a:pPr marL="0" indent="0">
              <a:buNone/>
            </a:pPr>
            <a:r>
              <a:rPr lang="en-US" altLang="en-US" dirty="0"/>
              <a:t>	Registers</a:t>
            </a:r>
          </a:p>
          <a:p>
            <a:pPr marL="0" indent="0">
              <a:buNone/>
            </a:pPr>
            <a:r>
              <a:rPr lang="en-US" altLang="en-US" dirty="0"/>
              <a:t>	Control unit </a:t>
            </a:r>
          </a:p>
          <a:p>
            <a:endParaRPr lang="en-US" altLang="en-US" dirty="0"/>
          </a:p>
          <a:p>
            <a:r>
              <a:rPr lang="en-US" altLang="en-US" dirty="0"/>
              <a:t>Function of CPU</a:t>
            </a:r>
          </a:p>
          <a:p>
            <a:pPr lvl="1"/>
            <a:r>
              <a:rPr lang="en-US" altLang="en-US" dirty="0"/>
              <a:t>Fetch instructions</a:t>
            </a:r>
          </a:p>
          <a:p>
            <a:pPr lvl="1"/>
            <a:r>
              <a:rPr lang="en-US" altLang="en-US" dirty="0"/>
              <a:t>Interpret/decode instructions</a:t>
            </a:r>
          </a:p>
          <a:p>
            <a:pPr lvl="1"/>
            <a:r>
              <a:rPr lang="en-US" altLang="en-US" dirty="0"/>
              <a:t>Fetch data /operand</a:t>
            </a:r>
          </a:p>
          <a:p>
            <a:pPr lvl="1"/>
            <a:r>
              <a:rPr lang="en-US" altLang="en-US" dirty="0"/>
              <a:t>Process data</a:t>
            </a:r>
          </a:p>
          <a:p>
            <a:pPr lvl="1"/>
            <a:r>
              <a:rPr lang="en-US" altLang="en-US" dirty="0"/>
              <a:t>Write  Processed data</a:t>
            </a:r>
            <a:endParaRPr lang="en-US" sz="2400" dirty="0">
              <a:latin typeface="Verdana" pitchFamily="34" charset="0"/>
            </a:endParaRPr>
          </a:p>
        </p:txBody>
      </p:sp>
      <p:sp>
        <p:nvSpPr>
          <p:cNvPr id="3074" name="AutoShape 2" descr="http://upload.wikimedia.org/wikipedia/commons/5/52/CPU_block_diagram.sv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/>
          <a:lstStyle/>
          <a:p>
            <a:pPr eaLnBrk="1" hangingPunct="1"/>
            <a:r>
              <a:rPr lang="en-US" sz="2800" dirty="0"/>
              <a:t>ALU</a:t>
            </a:r>
          </a:p>
        </p:txBody>
      </p:sp>
      <p:sp>
        <p:nvSpPr>
          <p:cNvPr id="61443" name="Content Placeholder 4"/>
          <p:cNvSpPr>
            <a:spLocks noGrp="1"/>
          </p:cNvSpPr>
          <p:nvPr>
            <p:ph idx="1"/>
          </p:nvPr>
        </p:nvSpPr>
        <p:spPr>
          <a:xfrm>
            <a:off x="457200" y="990600"/>
            <a:ext cx="8382000" cy="5410200"/>
          </a:xfrm>
        </p:spPr>
        <p:txBody>
          <a:bodyPr>
            <a:normAutofit/>
          </a:bodyPr>
          <a:lstStyle/>
          <a:p>
            <a:pPr>
              <a:buFont typeface="Arial" charset="0"/>
              <a:buNone/>
            </a:pPr>
            <a:r>
              <a:rPr lang="en-US" sz="2000" dirty="0"/>
              <a:t>An </a:t>
            </a:r>
            <a:r>
              <a:rPr lang="en-US" sz="2000" b="1" dirty="0"/>
              <a:t>arithmetic logic unit</a:t>
            </a:r>
            <a:r>
              <a:rPr lang="en-US" sz="2000" dirty="0"/>
              <a:t> (ALU) is a combinational digital electronic circuit that performs arithmetic and bitwise logical operations on integer binary numbers. </a:t>
            </a:r>
          </a:p>
          <a:p>
            <a:pPr>
              <a:buFont typeface="Arial" charset="0"/>
              <a:buNone/>
            </a:pPr>
            <a:r>
              <a:rPr lang="en-US" sz="2000" dirty="0"/>
              <a:t>Other types  floating-point unit (FPU), which operates on floating point numbers and graphics processing units(GPUs).</a:t>
            </a:r>
          </a:p>
          <a:p>
            <a:pPr>
              <a:buFont typeface="Arial" charset="0"/>
              <a:buNone/>
            </a:pPr>
            <a:r>
              <a:rPr lang="en-US" sz="2000" dirty="0"/>
              <a:t> A single CPU, FPU or GPU may contain multiple ALUs.</a:t>
            </a:r>
          </a:p>
        </p:txBody>
      </p:sp>
      <p:pic>
        <p:nvPicPr>
          <p:cNvPr id="23554" name="Picture 2" descr="https://www.kullabs.com/uploads/alu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886200"/>
            <a:ext cx="4952999" cy="1850897"/>
          </a:xfrm>
          <a:prstGeom prst="rect">
            <a:avLst/>
          </a:prstGeom>
          <a:noFill/>
        </p:spPr>
      </p:pic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67300" y="3886200"/>
            <a:ext cx="4076700" cy="1866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/>
          <a:lstStyle/>
          <a:p>
            <a:pPr eaLnBrk="1" hangingPunct="1"/>
            <a:endParaRPr lang="en-US" sz="2800" dirty="0"/>
          </a:p>
        </p:txBody>
      </p:sp>
      <p:sp>
        <p:nvSpPr>
          <p:cNvPr id="61443" name="Content Placeholder 4"/>
          <p:cNvSpPr>
            <a:spLocks noGrp="1"/>
          </p:cNvSpPr>
          <p:nvPr>
            <p:ph idx="1"/>
          </p:nvPr>
        </p:nvSpPr>
        <p:spPr>
          <a:xfrm>
            <a:off x="457200" y="990600"/>
            <a:ext cx="8382000" cy="54102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IN" dirty="0"/>
              <a:t>Registers </a:t>
            </a:r>
          </a:p>
          <a:p>
            <a:pPr>
              <a:buNone/>
            </a:pPr>
            <a:r>
              <a:rPr lang="en-IN" dirty="0"/>
              <a:t> 	 -</a:t>
            </a:r>
            <a:r>
              <a:rPr lang="en-IN" sz="2400" dirty="0"/>
              <a:t>Small set of high speed storage( memory) locations  inside the CPU</a:t>
            </a:r>
          </a:p>
          <a:p>
            <a:pPr lvl="1"/>
            <a:r>
              <a:rPr lang="en-IN" sz="2400" dirty="0"/>
              <a:t>Used for Temporary storage for data and control information ( Analogy : grocery in house &amp; grocery shop)</a:t>
            </a:r>
          </a:p>
          <a:p>
            <a:r>
              <a:rPr lang="en-IN" dirty="0"/>
              <a:t>Two types of registers</a:t>
            </a:r>
          </a:p>
          <a:p>
            <a:pPr lvl="1"/>
            <a:r>
              <a:rPr lang="en-IN" dirty="0"/>
              <a:t>User-visible</a:t>
            </a:r>
          </a:p>
          <a:p>
            <a:pPr lvl="2"/>
            <a:r>
              <a:rPr lang="en-IN" dirty="0"/>
              <a:t>These Can be used in  assembly-level instructions and are thus “visible” to the user</a:t>
            </a:r>
          </a:p>
          <a:p>
            <a:pPr marL="739775" indent="-295275">
              <a:buNone/>
            </a:pPr>
            <a:r>
              <a:rPr lang="en-IN" sz="2800" dirty="0"/>
              <a:t>– Control and status registers</a:t>
            </a:r>
          </a:p>
          <a:p>
            <a:pPr lvl="2"/>
            <a:r>
              <a:rPr lang="en-IN" dirty="0"/>
              <a:t>Used to control the operation of the CPU</a:t>
            </a:r>
          </a:p>
          <a:p>
            <a:pPr lvl="2"/>
            <a:r>
              <a:rPr lang="en-IN" dirty="0"/>
              <a:t>Most are not visible  to the user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/>
          <a:lstStyle/>
          <a:p>
            <a:pPr eaLnBrk="1" hangingPunct="1"/>
            <a:endParaRPr lang="en-US" sz="2800" dirty="0"/>
          </a:p>
        </p:txBody>
      </p:sp>
      <p:sp>
        <p:nvSpPr>
          <p:cNvPr id="61443" name="Content Placeholder 4"/>
          <p:cNvSpPr>
            <a:spLocks noGrp="1"/>
          </p:cNvSpPr>
          <p:nvPr>
            <p:ph idx="1"/>
          </p:nvPr>
        </p:nvSpPr>
        <p:spPr>
          <a:xfrm>
            <a:off x="457200" y="990600"/>
            <a:ext cx="8382000" cy="5410200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User Visible Registers</a:t>
            </a:r>
          </a:p>
          <a:p>
            <a:pPr lvl="1"/>
            <a:r>
              <a:rPr lang="en-IN" dirty="0"/>
              <a:t>General purpose</a:t>
            </a:r>
          </a:p>
          <a:p>
            <a:pPr lvl="2"/>
            <a:r>
              <a:rPr lang="en-IN" dirty="0"/>
              <a:t>Can be assigned a variety of functions</a:t>
            </a:r>
          </a:p>
          <a:p>
            <a:pPr lvl="2"/>
            <a:r>
              <a:rPr lang="en-IN" dirty="0"/>
              <a:t>Ideally, they are for the operations within the instructions</a:t>
            </a:r>
          </a:p>
          <a:p>
            <a:pPr lvl="1"/>
            <a:r>
              <a:rPr lang="en-IN" dirty="0"/>
              <a:t>Data</a:t>
            </a:r>
          </a:p>
          <a:p>
            <a:pPr lvl="2"/>
            <a:r>
              <a:rPr lang="en-IN" dirty="0"/>
              <a:t>These registers only hold data</a:t>
            </a:r>
          </a:p>
          <a:p>
            <a:pPr lvl="1"/>
            <a:r>
              <a:rPr lang="en-IN" dirty="0"/>
              <a:t>Address</a:t>
            </a:r>
          </a:p>
          <a:p>
            <a:pPr lvl="2"/>
            <a:r>
              <a:rPr lang="en-IN" dirty="0"/>
              <a:t>These registers only hold address information</a:t>
            </a:r>
          </a:p>
          <a:p>
            <a:pPr lvl="2"/>
            <a:r>
              <a:rPr lang="en-IN" dirty="0"/>
              <a:t>Examples:  address registers, segment registers, stack pointers, index registers</a:t>
            </a:r>
          </a:p>
          <a:p>
            <a:pPr lvl="1"/>
            <a:r>
              <a:rPr lang="en-IN" dirty="0"/>
              <a:t>Condition codes ( flag register, Status register)</a:t>
            </a:r>
          </a:p>
          <a:p>
            <a:pPr lvl="2"/>
            <a:r>
              <a:rPr lang="en-IN" dirty="0"/>
              <a:t>Visible to the user but values set by the CPU as the result of performing operations</a:t>
            </a:r>
          </a:p>
          <a:p>
            <a:pPr lvl="2"/>
            <a:r>
              <a:rPr lang="en-IN" dirty="0"/>
              <a:t>Example code bits:  zero, positive, overflow</a:t>
            </a:r>
          </a:p>
          <a:p>
            <a:pPr lvl="2"/>
            <a:r>
              <a:rPr lang="en-IN" dirty="0"/>
              <a:t>Bit values are used as the basis for conditional jump instructions</a:t>
            </a:r>
          </a:p>
          <a:p>
            <a:pPr>
              <a:buFont typeface="Arial" charset="0"/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52400"/>
            <a:ext cx="8686800" cy="6553200"/>
          </a:xfrm>
        </p:spPr>
        <p:txBody>
          <a:bodyPr>
            <a:noAutofit/>
          </a:bodyPr>
          <a:lstStyle/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Simplified CPU operation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7E15DA-0830-4F51-8C7C-93E222C89E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100" y="1905000"/>
            <a:ext cx="7163800" cy="1991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4617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933450"/>
            <a:ext cx="8382000" cy="499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28800" y="4953000"/>
            <a:ext cx="126682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838200" y="381000"/>
            <a:ext cx="4946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Animation of how processor executes instructions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" y="6019800"/>
            <a:ext cx="72036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When CPU is turned ON , it starts fetching instruction from address 0000 ,</a:t>
            </a:r>
          </a:p>
          <a:p>
            <a:r>
              <a:rPr lang="en-US" b="1" dirty="0"/>
              <a:t>So  it loads  PC with 0000 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66800" y="1828800"/>
            <a:ext cx="609600" cy="381000"/>
          </a:xfrm>
          <a:prstGeom prst="roundRect">
            <a:avLst/>
          </a:prstGeom>
          <a:solidFill>
            <a:schemeClr val="accent1">
              <a:alpha val="3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0525" y="942975"/>
            <a:ext cx="8362950" cy="497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52600" y="4876800"/>
            <a:ext cx="126682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1143000" y="6096000"/>
            <a:ext cx="36263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Contents of PC Is transferred to MAR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0525" y="942975"/>
            <a:ext cx="8362950" cy="497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52600" y="4876800"/>
            <a:ext cx="126682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1066800" y="6324600"/>
            <a:ext cx="40522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Contents of MAR are sent on address bus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0525" y="942975"/>
            <a:ext cx="8362950" cy="497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52600" y="4876800"/>
            <a:ext cx="126682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1981200" y="6096000"/>
            <a:ext cx="4519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CU then sends read ( RD) signal on control bus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0525" y="942975"/>
            <a:ext cx="8362950" cy="497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52600" y="4876800"/>
            <a:ext cx="126682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1905000" y="6248400"/>
            <a:ext cx="7307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Memory  sends contents of address 0000 on data bus which is laded in MBR</a:t>
            </a:r>
          </a:p>
        </p:txBody>
      </p:sp>
      <p:sp>
        <p:nvSpPr>
          <p:cNvPr id="6" name="Oval 5"/>
          <p:cNvSpPr/>
          <p:nvPr/>
        </p:nvSpPr>
        <p:spPr>
          <a:xfrm>
            <a:off x="7315200" y="5181600"/>
            <a:ext cx="381000" cy="304800"/>
          </a:xfrm>
          <a:prstGeom prst="ellipse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0525" y="942975"/>
            <a:ext cx="8362950" cy="497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52600" y="4876800"/>
            <a:ext cx="126682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1066800" y="6172200"/>
            <a:ext cx="7378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CU transfers MBR contents to instruction register IR , since it is an instruction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0525" y="942975"/>
            <a:ext cx="8362950" cy="497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52600" y="4876800"/>
            <a:ext cx="126682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1447800" y="6096000"/>
            <a:ext cx="62528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CU decodes instruction , it finds that R1 is to be added in R0 and </a:t>
            </a:r>
          </a:p>
          <a:p>
            <a:r>
              <a:rPr lang="en-US" dirty="0"/>
              <a:t>result to be stored in R0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0525" y="942975"/>
            <a:ext cx="8362950" cy="497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1524000" y="6096000"/>
            <a:ext cx="6118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CU gives R0 and R1 contents to ALU and gives add signal to ALU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0525" y="942975"/>
            <a:ext cx="8362950" cy="497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1447800" y="6172200"/>
            <a:ext cx="46195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result of addition is transferred by CU in R0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52600" y="4876800"/>
            <a:ext cx="126682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0525" y="942975"/>
            <a:ext cx="8362950" cy="497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1752600" y="6172200"/>
            <a:ext cx="612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CU then increments PC by 1 to fetch next instruction from 0001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52600" y="4876800"/>
            <a:ext cx="126682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52400"/>
            <a:ext cx="8686800" cy="6553200"/>
          </a:xfrm>
        </p:spPr>
        <p:txBody>
          <a:bodyPr>
            <a:noAutofit/>
          </a:bodyPr>
          <a:lstStyle/>
          <a:p>
            <a:r>
              <a:rPr lang="en-US" sz="2400" dirty="0"/>
              <a:t>Instruction cycle detailed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2A779E-2D68-4F57-8DD5-C24704E691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676400"/>
            <a:ext cx="8147950" cy="4167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8660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52400"/>
            <a:ext cx="8686800" cy="6553200"/>
          </a:xfrm>
        </p:spPr>
        <p:txBody>
          <a:bodyPr>
            <a:noAutofit/>
          </a:bodyPr>
          <a:lstStyle/>
          <a:p>
            <a:r>
              <a:rPr lang="en-US" sz="2400" dirty="0"/>
              <a:t>Instruction cycle with interrupt handling</a:t>
            </a:r>
          </a:p>
          <a:p>
            <a:endParaRPr lang="en-US" sz="2400" dirty="0"/>
          </a:p>
          <a:p>
            <a:r>
              <a:rPr lang="en-US" sz="1800" b="0" i="0" dirty="0">
                <a:solidFill>
                  <a:srgbClr val="000000"/>
                </a:solidFill>
                <a:effectLst/>
                <a:latin typeface="TimesTen-Roman"/>
              </a:rPr>
              <a:t>all computers provide a mechanism by which other modules (I/O, memory) may interrupt the normal processing of instructions by the processor.</a:t>
            </a:r>
            <a:r>
              <a:rPr lang="en-US" sz="1400" dirty="0"/>
              <a:t> </a:t>
            </a:r>
          </a:p>
          <a:p>
            <a:r>
              <a:rPr lang="en-US" sz="1800" dirty="0">
                <a:solidFill>
                  <a:srgbClr val="000000"/>
                </a:solidFill>
                <a:latin typeface="TimesTen-Roman"/>
              </a:rPr>
              <a:t>To take care of some other functions ( such as key pressed on keyboard , some error occurred </a:t>
            </a:r>
            <a:r>
              <a:rPr lang="en-US" sz="1800" dirty="0" err="1">
                <a:solidFill>
                  <a:srgbClr val="000000"/>
                </a:solidFill>
                <a:latin typeface="TimesTen-Roman"/>
              </a:rPr>
              <a:t>etc</a:t>
            </a:r>
            <a:r>
              <a:rPr lang="en-US" sz="1800" dirty="0">
                <a:solidFill>
                  <a:srgbClr val="000000"/>
                </a:solidFill>
                <a:latin typeface="TimesTen-Roman"/>
              </a:rPr>
              <a:t>)</a:t>
            </a:r>
          </a:p>
          <a:p>
            <a:r>
              <a:rPr lang="en-US" sz="1800" b="0" i="0" dirty="0">
                <a:solidFill>
                  <a:srgbClr val="000000"/>
                </a:solidFill>
                <a:effectLst/>
                <a:latin typeface="TimesTen-Roman"/>
              </a:rPr>
              <a:t>Interrupt is checked after each instruction is executed.</a:t>
            </a:r>
            <a:br>
              <a:rPr lang="en-US" sz="1800" dirty="0">
                <a:solidFill>
                  <a:srgbClr val="000000"/>
                </a:solidFill>
                <a:latin typeface="TimesTen-Roman"/>
              </a:rPr>
            </a:br>
            <a:endParaRPr lang="en-US" sz="1800" dirty="0">
              <a:solidFill>
                <a:srgbClr val="000000"/>
              </a:solidFill>
              <a:latin typeface="TimesTen-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3A6356-394C-48A6-ABF0-C2AF9DE61D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971800"/>
            <a:ext cx="8830907" cy="3648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2259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52400"/>
            <a:ext cx="8686800" cy="6553200"/>
          </a:xfrm>
        </p:spPr>
        <p:txBody>
          <a:bodyPr>
            <a:noAutofit/>
          </a:bodyPr>
          <a:lstStyle/>
          <a:p>
            <a:r>
              <a:rPr lang="en-IN" sz="1800" b="1" i="1" dirty="0">
                <a:effectLst/>
                <a:latin typeface="Bembo-ExtraBold"/>
              </a:rPr>
              <a:t>INTERCONNECTION STRUCTURES</a:t>
            </a:r>
            <a:r>
              <a:rPr lang="en-IN" sz="1100" i="1" dirty="0"/>
              <a:t> </a:t>
            </a:r>
            <a:br>
              <a:rPr lang="en-IN" sz="1100" i="1" dirty="0"/>
            </a:br>
            <a:endParaRPr lang="en-US" sz="1800" b="0" i="1" dirty="0">
              <a:effectLst/>
              <a:latin typeface="TimesTen-Roman"/>
            </a:endParaRPr>
          </a:p>
          <a:p>
            <a:r>
              <a:rPr lang="en-US" sz="1800" b="0" i="0" dirty="0">
                <a:solidFill>
                  <a:srgbClr val="000000"/>
                </a:solidFill>
                <a:effectLst/>
                <a:latin typeface="TimesTen-Roman"/>
              </a:rPr>
              <a:t>A computer consists of a set of components or modules of three basic types (processor, memory, I/O) that communicate with each other. </a:t>
            </a:r>
          </a:p>
          <a:p>
            <a:r>
              <a:rPr lang="en-US" sz="1800" dirty="0">
                <a:solidFill>
                  <a:srgbClr val="000000"/>
                </a:solidFill>
                <a:latin typeface="TimesTen-Roman"/>
              </a:rPr>
              <a:t>So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TimesTen-Roman"/>
              </a:rPr>
              <a:t>, a computer is a network of basic modules. Thus, there must be paths for connecting the modules.</a:t>
            </a:r>
            <a:br>
              <a:rPr lang="en-US" sz="1800" b="0" i="0" dirty="0">
                <a:solidFill>
                  <a:srgbClr val="000000"/>
                </a:solidFill>
                <a:effectLst/>
                <a:latin typeface="TimesTen-Roman"/>
              </a:rPr>
            </a:br>
            <a:r>
              <a:rPr lang="en-US" sz="1800" b="0" i="0" dirty="0">
                <a:solidFill>
                  <a:srgbClr val="000000"/>
                </a:solidFill>
                <a:effectLst/>
                <a:latin typeface="TimesTen-Roman"/>
              </a:rPr>
              <a:t>The collection of paths connecting the various modules is called the</a:t>
            </a:r>
            <a:br>
              <a:rPr lang="en-US" sz="1800" b="0" i="0" dirty="0">
                <a:solidFill>
                  <a:srgbClr val="000000"/>
                </a:solidFill>
                <a:effectLst/>
                <a:latin typeface="TimesTen-Roman"/>
              </a:rPr>
            </a:br>
            <a:r>
              <a:rPr lang="en-US" sz="1800" b="0" i="1" dirty="0">
                <a:solidFill>
                  <a:srgbClr val="000000"/>
                </a:solidFill>
                <a:effectLst/>
                <a:latin typeface="TimesTen-Italic"/>
              </a:rPr>
              <a:t>interconnection structure.</a:t>
            </a:r>
            <a:r>
              <a:rPr lang="en-US" sz="1400" dirty="0"/>
              <a:t> </a:t>
            </a:r>
            <a:br>
              <a:rPr lang="en-US" sz="1400" dirty="0"/>
            </a:b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859676-8B36-4981-91E7-D32A224805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895600"/>
            <a:ext cx="3134162" cy="16099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DD96FD5-4A95-4A77-B298-A651B828C1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9640" y="2900363"/>
            <a:ext cx="3134162" cy="160042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009444E-290B-4C1E-9123-094FAF56C6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9400" y="4820127"/>
            <a:ext cx="3143689" cy="1581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849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52400"/>
            <a:ext cx="8686800" cy="6553200"/>
          </a:xfrm>
        </p:spPr>
        <p:txBody>
          <a:bodyPr>
            <a:noAutofit/>
          </a:bodyPr>
          <a:lstStyle/>
          <a:p>
            <a:r>
              <a:rPr lang="en-IN" sz="1800" b="1" i="1" dirty="0">
                <a:effectLst/>
                <a:latin typeface="Bembo-ExtraBold"/>
              </a:rPr>
              <a:t>BUS INTERCONNECTION</a:t>
            </a:r>
            <a:r>
              <a:rPr lang="en-IN" sz="1400" i="1" dirty="0"/>
              <a:t> </a:t>
            </a:r>
            <a:br>
              <a:rPr lang="en-IN" sz="1400" dirty="0"/>
            </a:br>
            <a:r>
              <a:rPr lang="en-US" sz="1800" b="0" i="0" dirty="0">
                <a:solidFill>
                  <a:srgbClr val="000000"/>
                </a:solidFill>
                <a:effectLst/>
                <a:latin typeface="TimesTen-Roman"/>
              </a:rPr>
              <a:t>A bus is a communication pathway connecting two or more devices.</a:t>
            </a:r>
          </a:p>
          <a:p>
            <a:r>
              <a:rPr lang="en-US" sz="1800" b="0" i="0" dirty="0">
                <a:solidFill>
                  <a:srgbClr val="000000"/>
                </a:solidFill>
                <a:effectLst/>
                <a:latin typeface="TimesTen-Roman"/>
              </a:rPr>
              <a:t>it is a shared transmission medium. Multiple devices connect</a:t>
            </a:r>
            <a:br>
              <a:rPr lang="en-US" sz="1800" b="0" i="0" dirty="0">
                <a:solidFill>
                  <a:srgbClr val="000000"/>
                </a:solidFill>
                <a:effectLst/>
                <a:latin typeface="TimesTen-Roman"/>
              </a:rPr>
            </a:br>
            <a:r>
              <a:rPr lang="en-US" sz="1800" b="0" i="0" dirty="0">
                <a:solidFill>
                  <a:srgbClr val="000000"/>
                </a:solidFill>
                <a:effectLst/>
                <a:latin typeface="TimesTen-Roman"/>
              </a:rPr>
              <a:t>to the bus, and a signal transmitted by any one device is available for reception by all</a:t>
            </a:r>
            <a:br>
              <a:rPr lang="en-US" sz="1800" b="0" i="0" dirty="0">
                <a:solidFill>
                  <a:srgbClr val="000000"/>
                </a:solidFill>
                <a:effectLst/>
                <a:latin typeface="TimesTen-Roman"/>
              </a:rPr>
            </a:br>
            <a:r>
              <a:rPr lang="en-US" sz="1800" b="0" i="0" dirty="0">
                <a:solidFill>
                  <a:srgbClr val="000000"/>
                </a:solidFill>
                <a:effectLst/>
                <a:latin typeface="TimesTen-Roman"/>
              </a:rPr>
              <a:t>other devices attached to the bus. </a:t>
            </a:r>
          </a:p>
          <a:p>
            <a:r>
              <a:rPr lang="en-US" sz="1800" b="0" i="0" dirty="0">
                <a:solidFill>
                  <a:srgbClr val="000000"/>
                </a:solidFill>
                <a:effectLst/>
                <a:latin typeface="TimesTen-Roman"/>
              </a:rPr>
              <a:t>If two devices transmit during the same time period, their signals will overlap and become garbled. Thus, only one device at a time can successfully transmit.</a:t>
            </a:r>
            <a:r>
              <a:rPr lang="en-US" sz="1400" dirty="0"/>
              <a:t> </a:t>
            </a:r>
            <a:br>
              <a:rPr lang="en-US" sz="1400" dirty="0"/>
            </a:br>
            <a:endParaRPr lang="en-US" sz="1400" dirty="0"/>
          </a:p>
          <a:p>
            <a:r>
              <a:rPr lang="en-US" sz="1800" b="0" i="0" dirty="0">
                <a:solidFill>
                  <a:srgbClr val="000000"/>
                </a:solidFill>
                <a:effectLst/>
                <a:latin typeface="TimesTen-Roman"/>
              </a:rPr>
              <a:t>Typically, a bus consists of multiple communication pathways, or lines. Each</a:t>
            </a:r>
            <a:br>
              <a:rPr lang="en-US" sz="1800" b="0" i="0" dirty="0">
                <a:solidFill>
                  <a:srgbClr val="000000"/>
                </a:solidFill>
                <a:effectLst/>
                <a:latin typeface="TimesTen-Roman"/>
              </a:rPr>
            </a:br>
            <a:r>
              <a:rPr lang="en-US" sz="1800" b="0" i="0" dirty="0">
                <a:solidFill>
                  <a:srgbClr val="000000"/>
                </a:solidFill>
                <a:effectLst/>
                <a:latin typeface="TimesTen-Roman"/>
              </a:rPr>
              <a:t>line is capable of transmitting signals representing binary 1 and binary 0.. Taken together, several lines of a bus can be used to transmit binary digits simultaneously (in parallel). For example, an 8-bit unit of data can be transmitted over eight bus lines</a:t>
            </a:r>
            <a:r>
              <a:rPr lang="en-US" sz="1400" dirty="0"/>
              <a:t> </a:t>
            </a:r>
            <a:br>
              <a:rPr lang="en-US" sz="1400" dirty="0"/>
            </a:b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6391964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52400"/>
            <a:ext cx="8686800" cy="6553200"/>
          </a:xfrm>
        </p:spPr>
        <p:txBody>
          <a:bodyPr>
            <a:noAutofit/>
          </a:bodyPr>
          <a:lstStyle/>
          <a:p>
            <a:r>
              <a:rPr lang="en-US" sz="2400" dirty="0"/>
              <a:t>Address lines:  </a:t>
            </a:r>
          </a:p>
          <a:p>
            <a:r>
              <a:rPr lang="en-US" sz="2000" dirty="0"/>
              <a:t>Only CPU sends address of memory location or I/O device from where it wants to read or to write data.</a:t>
            </a:r>
          </a:p>
          <a:p>
            <a:r>
              <a:rPr lang="en-US" sz="2400" dirty="0"/>
              <a:t>Control lines : </a:t>
            </a:r>
          </a:p>
          <a:p>
            <a:r>
              <a:rPr lang="en-US" sz="2000" dirty="0"/>
              <a:t>signals sent by CPU or I/O devices to inform what operation is being carried out</a:t>
            </a:r>
          </a:p>
          <a:p>
            <a:endParaRPr lang="en-US" sz="2400" dirty="0"/>
          </a:p>
          <a:p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EA5F56-4106-40C0-825D-C824FD2D54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671" y="2514600"/>
            <a:ext cx="7798657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7508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52400"/>
            <a:ext cx="8686800" cy="6553200"/>
          </a:xfrm>
        </p:spPr>
        <p:txBody>
          <a:bodyPr>
            <a:noAutofit/>
          </a:bodyPr>
          <a:lstStyle/>
          <a:p>
            <a:r>
              <a:rPr lang="en-US" sz="2400" dirty="0"/>
              <a:t>Single bus structure</a:t>
            </a:r>
          </a:p>
          <a:p>
            <a:r>
              <a:rPr lang="en-US" sz="2400" dirty="0"/>
              <a:t>Simple but slow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3F8410-68F4-4401-A929-04287A8C09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1733313"/>
            <a:ext cx="6249272" cy="16956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15F1D46-6FDF-4BD0-9838-FA3C4D2F10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137" y="4100148"/>
            <a:ext cx="6344535" cy="1819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4917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52400"/>
            <a:ext cx="8686800" cy="6553200"/>
          </a:xfrm>
        </p:spPr>
        <p:txBody>
          <a:bodyPr>
            <a:noAutofit/>
          </a:bodyPr>
          <a:lstStyle/>
          <a:p>
            <a:r>
              <a:rPr lang="en-US" sz="2000" b="1" i="0" dirty="0">
                <a:effectLst/>
                <a:latin typeface="Bembo-Bold"/>
              </a:rPr>
              <a:t>Multiple-Bus Hierarchies</a:t>
            </a:r>
            <a:br>
              <a:rPr lang="en-US" sz="1800" b="1" i="0" dirty="0">
                <a:solidFill>
                  <a:srgbClr val="808080"/>
                </a:solidFill>
                <a:effectLst/>
                <a:latin typeface="Bembo-Bold"/>
              </a:rPr>
            </a:br>
            <a:r>
              <a:rPr lang="en-US" sz="1800" b="0" i="0" dirty="0">
                <a:solidFill>
                  <a:srgbClr val="000000"/>
                </a:solidFill>
                <a:effectLst/>
                <a:latin typeface="TimesTen-Roman"/>
              </a:rPr>
              <a:t>If a great number of devices are connected to the bus, performance will 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TimesTen-Roman"/>
              </a:rPr>
              <a:t>suffer.There</a:t>
            </a:r>
            <a:br>
              <a:rPr lang="en-US" sz="1800" b="0" i="0" dirty="0">
                <a:solidFill>
                  <a:srgbClr val="000000"/>
                </a:solidFill>
                <a:effectLst/>
                <a:latin typeface="TimesTen-Roman"/>
              </a:rPr>
            </a:br>
            <a:r>
              <a:rPr lang="en-US" sz="1800" b="0" i="0" dirty="0">
                <a:solidFill>
                  <a:srgbClr val="000000"/>
                </a:solidFill>
                <a:effectLst/>
                <a:latin typeface="TimesTen-Roman"/>
              </a:rPr>
              <a:t>are two main causes:</a:t>
            </a:r>
            <a:br>
              <a:rPr lang="en-US" sz="1800" b="0" i="0" dirty="0">
                <a:solidFill>
                  <a:srgbClr val="000000"/>
                </a:solidFill>
                <a:effectLst/>
                <a:latin typeface="TimesTen-Roman"/>
              </a:rPr>
            </a:br>
            <a:r>
              <a:rPr lang="en-US" sz="1800" b="1" i="0" dirty="0">
                <a:solidFill>
                  <a:srgbClr val="808080"/>
                </a:solidFill>
                <a:effectLst/>
                <a:latin typeface="TimesTen-Bold"/>
              </a:rPr>
              <a:t>1.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TimesTen-Roman"/>
              </a:rPr>
              <a:t>In general, the more devices attached to the bus, the greater the bus length and</a:t>
            </a:r>
            <a:br>
              <a:rPr lang="en-US" sz="1800" b="0" i="0" dirty="0">
                <a:solidFill>
                  <a:srgbClr val="000000"/>
                </a:solidFill>
                <a:effectLst/>
                <a:latin typeface="TimesTen-Roman"/>
              </a:rPr>
            </a:br>
            <a:r>
              <a:rPr lang="en-US" sz="1800" b="0" i="0" dirty="0">
                <a:solidFill>
                  <a:srgbClr val="000000"/>
                </a:solidFill>
                <a:effectLst/>
                <a:latin typeface="TimesTen-Roman"/>
              </a:rPr>
              <a:t>hence the greater the propagation delay.</a:t>
            </a:r>
            <a:r>
              <a:rPr lang="en-US" sz="1400" dirty="0"/>
              <a:t> </a:t>
            </a:r>
            <a:br>
              <a:rPr lang="en-US" sz="1400" dirty="0"/>
            </a:br>
            <a:r>
              <a:rPr lang="en-US" sz="1800" b="1" i="0" dirty="0">
                <a:solidFill>
                  <a:srgbClr val="808080"/>
                </a:solidFill>
                <a:effectLst/>
                <a:latin typeface="TimesTen-Bold"/>
              </a:rPr>
              <a:t>2.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TimesTen-Roman"/>
              </a:rPr>
              <a:t>The bus may become a bottleneck as the aggregate data transfer demand</a:t>
            </a:r>
            <a:br>
              <a:rPr lang="en-US" sz="1800" b="0" i="0" dirty="0">
                <a:solidFill>
                  <a:srgbClr val="000000"/>
                </a:solidFill>
                <a:effectLst/>
                <a:latin typeface="TimesTen-Roman"/>
              </a:rPr>
            </a:br>
            <a:r>
              <a:rPr lang="en-US" sz="1800" b="0" i="0" dirty="0">
                <a:solidFill>
                  <a:srgbClr val="000000"/>
                </a:solidFill>
                <a:effectLst/>
                <a:latin typeface="TimesTen-Roman"/>
              </a:rPr>
              <a:t>approaches the capacity of the bus.</a:t>
            </a:r>
            <a:r>
              <a:rPr lang="en-US" sz="1400" dirty="0"/>
              <a:t> 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800" b="0" i="0" dirty="0">
                <a:solidFill>
                  <a:srgbClr val="000000"/>
                </a:solidFill>
                <a:effectLst/>
                <a:latin typeface="TimesTen-Roman"/>
              </a:rPr>
              <a:t>Solution :  most computer systems use multiple buses, generally laid out in</a:t>
            </a:r>
            <a:br>
              <a:rPr lang="en-US" sz="1800" b="0" i="0" dirty="0">
                <a:solidFill>
                  <a:srgbClr val="000000"/>
                </a:solidFill>
                <a:effectLst/>
                <a:latin typeface="TimesTen-Roman"/>
              </a:rPr>
            </a:br>
            <a:r>
              <a:rPr lang="en-US" sz="1800" b="0" i="0" dirty="0">
                <a:solidFill>
                  <a:srgbClr val="000000"/>
                </a:solidFill>
                <a:effectLst/>
                <a:latin typeface="TimesTen-Roman"/>
              </a:rPr>
              <a:t>a hierarchy.</a:t>
            </a:r>
            <a:r>
              <a:rPr lang="en-US" sz="1000" dirty="0"/>
              <a:t> </a:t>
            </a:r>
          </a:p>
          <a:p>
            <a:pPr marL="0" indent="0">
              <a:buNone/>
            </a:pPr>
            <a:br>
              <a:rPr lang="en-US" sz="1000" dirty="0"/>
            </a:br>
            <a:br>
              <a:rPr lang="en-US" sz="1400" dirty="0"/>
            </a:b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082842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52400"/>
            <a:ext cx="8686800" cy="6553200"/>
          </a:xfrm>
        </p:spPr>
        <p:txBody>
          <a:bodyPr>
            <a:noAutofit/>
          </a:bodyPr>
          <a:lstStyle/>
          <a:p>
            <a:r>
              <a:rPr lang="en-US" sz="2400" dirty="0"/>
              <a:t>Traditional bus architecture</a:t>
            </a:r>
          </a:p>
          <a:p>
            <a:r>
              <a:rPr lang="en-US" sz="1800" b="0" i="0" dirty="0">
                <a:solidFill>
                  <a:srgbClr val="000000"/>
                </a:solidFill>
                <a:effectLst/>
                <a:latin typeface="TimesTen-Roman"/>
              </a:rPr>
              <a:t>This architecture is efficient but begins to break down as higher and higher performance  I/O </a:t>
            </a:r>
            <a:r>
              <a:rPr lang="en-US" sz="1800" dirty="0">
                <a:solidFill>
                  <a:srgbClr val="000000"/>
                </a:solidFill>
                <a:latin typeface="TimesTen-Roman"/>
              </a:rPr>
              <a:t>devices are connected . </a:t>
            </a:r>
            <a:r>
              <a:rPr lang="en-US" sz="1800" dirty="0" err="1">
                <a:solidFill>
                  <a:srgbClr val="000000"/>
                </a:solidFill>
                <a:latin typeface="TimesTen-Roman"/>
              </a:rPr>
              <a:t>eg</a:t>
            </a:r>
            <a:r>
              <a:rPr lang="en-US" sz="1800" dirty="0">
                <a:solidFill>
                  <a:srgbClr val="000000"/>
                </a:solidFill>
                <a:latin typeface="TimesTen-Roman"/>
              </a:rPr>
              <a:t> graphics card</a:t>
            </a:r>
            <a:br>
              <a:rPr lang="en-US" sz="1400" dirty="0"/>
            </a:b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294C12-6A5A-4C5C-BF72-72B83E9C80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277" y="1752600"/>
            <a:ext cx="8121445" cy="44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8776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66D96F6-B5A1-4C88-9E82-C13CAB7C4D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5" y="1642037"/>
            <a:ext cx="7839075" cy="491889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52400"/>
            <a:ext cx="8686800" cy="6553200"/>
          </a:xfrm>
        </p:spPr>
        <p:txBody>
          <a:bodyPr>
            <a:noAutofit/>
          </a:bodyPr>
          <a:lstStyle/>
          <a:p>
            <a:r>
              <a:rPr lang="en-US" sz="2400" dirty="0"/>
              <a:t>Solution:</a:t>
            </a:r>
          </a:p>
          <a:p>
            <a:r>
              <a:rPr lang="en-US" sz="1800" b="0" i="0" dirty="0">
                <a:solidFill>
                  <a:srgbClr val="000000"/>
                </a:solidFill>
                <a:effectLst/>
                <a:latin typeface="TimesTen-Roman"/>
              </a:rPr>
              <a:t>a high speed bus is added in the system, requiring only a bridge between the processor’s bus and the high-speed bus.</a:t>
            </a:r>
            <a:r>
              <a:rPr lang="en-US" sz="1400" dirty="0"/>
              <a:t> </a:t>
            </a:r>
          </a:p>
          <a:p>
            <a:r>
              <a:rPr lang="en-US" sz="1800" b="0" i="0" dirty="0">
                <a:solidFill>
                  <a:srgbClr val="000000"/>
                </a:solidFill>
                <a:effectLst/>
                <a:latin typeface="TimesTen-Roman"/>
              </a:rPr>
              <a:t>The cache controller is integrated into a bridge, or buffering device, that connects to the high-speed bus</a:t>
            </a:r>
            <a:r>
              <a:rPr lang="en-US" sz="1000" dirty="0"/>
              <a:t> </a:t>
            </a:r>
            <a:br>
              <a:rPr lang="en-US" sz="1000" dirty="0"/>
            </a:br>
            <a:br>
              <a:rPr lang="en-US" sz="1400" dirty="0"/>
            </a:b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625421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52400"/>
            <a:ext cx="8686800" cy="6553200"/>
          </a:xfrm>
        </p:spPr>
        <p:txBody>
          <a:bodyPr>
            <a:noAutofit/>
          </a:bodyPr>
          <a:lstStyle/>
          <a:p>
            <a:r>
              <a:rPr lang="en-US" sz="1800" b="0" i="0" dirty="0">
                <a:solidFill>
                  <a:srgbClr val="000000"/>
                </a:solidFill>
                <a:effectLst/>
                <a:latin typeface="TimesTen-Roman"/>
              </a:rPr>
              <a:t>advantage of this arrangement is</a:t>
            </a:r>
          </a:p>
          <a:p>
            <a:pPr>
              <a:buAutoNum type="arabicPeriod"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TimesTen-Roman"/>
              </a:rPr>
              <a:t>the high-speed bus brings high demand devices into closely interacting with the processor and at the same time is</a:t>
            </a:r>
            <a:r>
              <a:rPr lang="en-US" sz="1400" dirty="0"/>
              <a:t>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TimesTen-Roman"/>
              </a:rPr>
              <a:t>independent of the processor. Thus, differences in processor and high-speed bus speeds and other signals are tolerated. </a:t>
            </a:r>
          </a:p>
          <a:p>
            <a:pPr>
              <a:buAutoNum type="arabicPeriod"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TimesTen-Roman"/>
              </a:rPr>
              <a:t>Changes in processor architecture do not affect the high-speed bus, and vice versa.</a:t>
            </a:r>
            <a:r>
              <a:rPr lang="en-US" sz="1000" dirty="0"/>
              <a:t> </a:t>
            </a:r>
            <a:br>
              <a:rPr lang="en-US" sz="1000" dirty="0"/>
            </a:br>
            <a:br>
              <a:rPr lang="en-US" sz="1400" dirty="0"/>
            </a:b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2273770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52400"/>
            <a:ext cx="8686800" cy="6553200"/>
          </a:xfrm>
        </p:spPr>
        <p:txBody>
          <a:bodyPr>
            <a:noAutofit/>
          </a:bodyPr>
          <a:lstStyle/>
          <a:p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855802-DDA6-4A81-9B75-7A593581AC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0070"/>
            <a:ext cx="9144000" cy="5737860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CC71218-82FF-45B1-A6DD-0644C23EA870}"/>
              </a:ext>
            </a:extLst>
          </p:cNvPr>
          <p:cNvSpPr/>
          <p:nvPr/>
        </p:nvSpPr>
        <p:spPr>
          <a:xfrm>
            <a:off x="609600" y="685800"/>
            <a:ext cx="3124200" cy="304800"/>
          </a:xfrm>
          <a:prstGeom prst="roundRect">
            <a:avLst/>
          </a:prstGeom>
          <a:solidFill>
            <a:schemeClr val="accent1">
              <a:alpha val="36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93A5909-7F25-4697-A998-47D2419969DA}"/>
              </a:ext>
            </a:extLst>
          </p:cNvPr>
          <p:cNvSpPr/>
          <p:nvPr/>
        </p:nvSpPr>
        <p:spPr>
          <a:xfrm>
            <a:off x="3935730" y="609600"/>
            <a:ext cx="1626870" cy="304800"/>
          </a:xfrm>
          <a:prstGeom prst="roundRect">
            <a:avLst/>
          </a:prstGeom>
          <a:solidFill>
            <a:schemeClr val="accent1">
              <a:alpha val="36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BA632D8-7481-4579-A65E-5CC38583CC44}"/>
              </a:ext>
            </a:extLst>
          </p:cNvPr>
          <p:cNvSpPr/>
          <p:nvPr/>
        </p:nvSpPr>
        <p:spPr>
          <a:xfrm>
            <a:off x="7162800" y="914400"/>
            <a:ext cx="1626870" cy="304800"/>
          </a:xfrm>
          <a:prstGeom prst="roundRect">
            <a:avLst/>
          </a:prstGeom>
          <a:solidFill>
            <a:schemeClr val="accent1">
              <a:alpha val="36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29595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52400"/>
            <a:ext cx="8686800" cy="6553200"/>
          </a:xfrm>
        </p:spPr>
        <p:txBody>
          <a:bodyPr>
            <a:noAutofit/>
          </a:bodyPr>
          <a:lstStyle/>
          <a:p>
            <a:r>
              <a:rPr lang="en-IN" sz="1800" b="1" i="0" dirty="0">
                <a:effectLst/>
                <a:latin typeface="Bembo-Bold"/>
              </a:rPr>
              <a:t>Elements of Bus Design</a:t>
            </a:r>
          </a:p>
          <a:p>
            <a:endParaRPr lang="en-IN" sz="1800" b="1" dirty="0">
              <a:latin typeface="Bembo-Bold"/>
            </a:endParaRPr>
          </a:p>
          <a:p>
            <a:endParaRPr lang="en-IN" sz="1800" b="1" dirty="0">
              <a:latin typeface="Bembo-Bold"/>
            </a:endParaRPr>
          </a:p>
          <a:p>
            <a:endParaRPr lang="en-IN" sz="1800" b="1" dirty="0">
              <a:latin typeface="Bembo-Bold"/>
            </a:endParaRPr>
          </a:p>
          <a:p>
            <a:endParaRPr lang="en-IN" sz="1800" b="1" dirty="0">
              <a:latin typeface="Bembo-Bold"/>
            </a:endParaRPr>
          </a:p>
          <a:p>
            <a:endParaRPr lang="en-IN" sz="1800" b="1" dirty="0">
              <a:latin typeface="Bembo-Bold"/>
            </a:endParaRPr>
          </a:p>
          <a:p>
            <a:endParaRPr lang="en-IN" sz="1800" b="1" dirty="0">
              <a:latin typeface="Bembo-Bold"/>
            </a:endParaRPr>
          </a:p>
          <a:p>
            <a:endParaRPr lang="en-IN" sz="1800" b="1" dirty="0">
              <a:latin typeface="Bembo-Bold"/>
            </a:endParaRPr>
          </a:p>
          <a:p>
            <a:endParaRPr lang="en-IN" sz="1800" b="1" dirty="0">
              <a:latin typeface="Bembo-Bold"/>
            </a:endParaRPr>
          </a:p>
          <a:p>
            <a:endParaRPr lang="en-IN" sz="1800" b="1" dirty="0">
              <a:latin typeface="Bembo-Bold"/>
            </a:endParaRPr>
          </a:p>
          <a:p>
            <a:endParaRPr lang="en-IN" sz="1800" b="1" dirty="0">
              <a:latin typeface="Bembo-Bold"/>
            </a:endParaRPr>
          </a:p>
          <a:p>
            <a:endParaRPr lang="en-IN" sz="1800" b="1" dirty="0">
              <a:latin typeface="Bembo-Bold"/>
            </a:endParaRPr>
          </a:p>
          <a:p>
            <a:endParaRPr lang="en-IN" sz="1800" b="1" dirty="0">
              <a:latin typeface="Bembo-Bold"/>
            </a:endParaRPr>
          </a:p>
          <a:p>
            <a:endParaRPr lang="en-IN" sz="1800" b="1" dirty="0">
              <a:latin typeface="Bembo-Bold"/>
            </a:endParaRPr>
          </a:p>
          <a:p>
            <a:pPr marL="0" indent="0">
              <a:buNone/>
            </a:pPr>
            <a:br>
              <a:rPr lang="en-IN" sz="1400" dirty="0"/>
            </a:b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568996-F46D-4084-9C80-C060B1E742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685800"/>
            <a:ext cx="5498967" cy="3338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9937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52400"/>
            <a:ext cx="8686800" cy="6553200"/>
          </a:xfrm>
        </p:spPr>
        <p:txBody>
          <a:bodyPr>
            <a:noAutofit/>
          </a:bodyPr>
          <a:lstStyle/>
          <a:p>
            <a:r>
              <a:rPr lang="en-US" sz="1800" b="0" i="0" dirty="0">
                <a:solidFill>
                  <a:srgbClr val="000000"/>
                </a:solidFill>
                <a:effectLst/>
                <a:latin typeface="TimesTen-Roman"/>
              </a:rPr>
              <a:t>Bus type:</a:t>
            </a:r>
          </a:p>
          <a:p>
            <a:r>
              <a:rPr lang="en-US" sz="1800" b="0" i="0" dirty="0">
                <a:solidFill>
                  <a:srgbClr val="000000"/>
                </a:solidFill>
                <a:effectLst/>
                <a:latin typeface="TimesTen-Roman"/>
              </a:rPr>
              <a:t>Dedicated and multiplexed. </a:t>
            </a:r>
          </a:p>
          <a:p>
            <a:r>
              <a:rPr lang="en-US" sz="1800" b="0" i="0" dirty="0">
                <a:solidFill>
                  <a:srgbClr val="000000"/>
                </a:solidFill>
                <a:effectLst/>
                <a:latin typeface="TimesTen-Roman"/>
              </a:rPr>
              <a:t>A dedicated bus line is permanently assigned either to one function. </a:t>
            </a:r>
          </a:p>
          <a:p>
            <a:r>
              <a:rPr lang="en-US" sz="1800" dirty="0">
                <a:solidFill>
                  <a:srgbClr val="000000"/>
                </a:solidFill>
                <a:latin typeface="TimesTen-Roman"/>
              </a:rPr>
              <a:t>Multiplexed bus can do different function at different times</a:t>
            </a:r>
          </a:p>
          <a:p>
            <a:r>
              <a:rPr lang="en-US" sz="1800" dirty="0">
                <a:solidFill>
                  <a:srgbClr val="000000"/>
                </a:solidFill>
                <a:latin typeface="TimesTen-Roman"/>
              </a:rPr>
              <a:t>8086  uses multiplexed address &amp; data bus </a:t>
            </a: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EF0018-1088-4224-929E-4EEEEC67A7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800" y="2209800"/>
            <a:ext cx="2105319" cy="4086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0318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52400"/>
            <a:ext cx="8686800" cy="6553200"/>
          </a:xfrm>
        </p:spPr>
        <p:txBody>
          <a:bodyPr>
            <a:noAutofit/>
          </a:bodyPr>
          <a:lstStyle/>
          <a:p>
            <a:r>
              <a:rPr lang="en-US" sz="2400" dirty="0"/>
              <a:t>Synchronized</a:t>
            </a:r>
          </a:p>
          <a:p>
            <a:r>
              <a:rPr lang="en-US" sz="2400" dirty="0"/>
              <a:t>All devices are Synchronized With each other using  clock signal </a:t>
            </a:r>
          </a:p>
          <a:p>
            <a:r>
              <a:rPr lang="en-US" sz="1800" b="0" i="0" dirty="0">
                <a:solidFill>
                  <a:srgbClr val="000000"/>
                </a:solidFill>
                <a:effectLst/>
                <a:latin typeface="TimesTen-Roman"/>
              </a:rPr>
              <a:t>Synchronous timing is simpler to </a:t>
            </a:r>
            <a:r>
              <a:rPr lang="en-US" sz="1800" dirty="0">
                <a:solidFill>
                  <a:srgbClr val="000000"/>
                </a:solidFill>
                <a:latin typeface="TimesTen-Roman"/>
              </a:rPr>
              <a:t>implement and test  . So used in almost all computers</a:t>
            </a:r>
          </a:p>
          <a:p>
            <a:endParaRPr lang="en-US" sz="1400" dirty="0"/>
          </a:p>
          <a:p>
            <a:r>
              <a:rPr lang="en-US" sz="1800" dirty="0" err="1">
                <a:solidFill>
                  <a:srgbClr val="000000"/>
                </a:solidFill>
                <a:latin typeface="TimesTen-Roman"/>
              </a:rPr>
              <a:t>Eg</a:t>
            </a:r>
            <a:r>
              <a:rPr lang="en-US" sz="1800" dirty="0">
                <a:solidFill>
                  <a:srgbClr val="000000"/>
                </a:solidFill>
                <a:latin typeface="TimesTen-Roman"/>
              </a:rPr>
              <a:t> memory read operation by CPU</a:t>
            </a:r>
            <a:br>
              <a:rPr lang="en-US" sz="1400" dirty="0"/>
            </a:br>
            <a:endParaRPr lang="en-US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4BD0C8B-2A58-4E3A-BE3F-8B351DACEB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8864" y="2438400"/>
            <a:ext cx="5706271" cy="3772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8007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52400"/>
            <a:ext cx="8686800" cy="6553200"/>
          </a:xfrm>
        </p:spPr>
        <p:txBody>
          <a:bodyPr>
            <a:noAutofit/>
          </a:bodyPr>
          <a:lstStyle/>
          <a:p>
            <a:r>
              <a:rPr lang="en-US" sz="2400" dirty="0"/>
              <a:t>Address bus size</a:t>
            </a:r>
          </a:p>
          <a:p>
            <a:r>
              <a:rPr lang="en-US" sz="2400" dirty="0"/>
              <a:t> determines number of memory locations that can be accessed i.e. amount of memory that can be connected to CPU</a:t>
            </a:r>
          </a:p>
          <a:p>
            <a:endParaRPr lang="en-US" sz="2400" dirty="0"/>
          </a:p>
          <a:p>
            <a:r>
              <a:rPr lang="en-US" sz="2400" dirty="0"/>
              <a:t>N address lines can access memory up to 2 </a:t>
            </a:r>
            <a:r>
              <a:rPr lang="en-US" sz="2400" b="1" baseline="30000" dirty="0"/>
              <a:t>N</a:t>
            </a:r>
          </a:p>
          <a:p>
            <a:r>
              <a:rPr lang="en-US" sz="2400" dirty="0"/>
              <a:t>16 bit address bus can access 2 </a:t>
            </a:r>
            <a:r>
              <a:rPr lang="en-US" sz="2400" baseline="30000" dirty="0"/>
              <a:t>16</a:t>
            </a:r>
            <a:r>
              <a:rPr lang="en-US" sz="2400" dirty="0"/>
              <a:t> = 65535 = 64k memory</a:t>
            </a:r>
          </a:p>
          <a:p>
            <a:endParaRPr lang="en-US" sz="2400" dirty="0"/>
          </a:p>
          <a:p>
            <a:r>
              <a:rPr lang="en-US" sz="2400" dirty="0"/>
              <a:t>Data bus size</a:t>
            </a:r>
          </a:p>
          <a:p>
            <a:r>
              <a:rPr lang="en-US" sz="2400" dirty="0"/>
              <a:t>Determines the size of data that can be transferred at a time</a:t>
            </a:r>
          </a:p>
          <a:p>
            <a:r>
              <a:rPr lang="en-US" sz="2400" dirty="0"/>
              <a:t>8 bit data bus can transfer 8 bits at a time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baseline="30000" dirty="0"/>
          </a:p>
          <a:p>
            <a:endParaRPr lang="en-US" sz="2400" b="1" baseline="30000" dirty="0"/>
          </a:p>
        </p:txBody>
      </p:sp>
    </p:spTree>
    <p:extLst>
      <p:ext uri="{BB962C8B-B14F-4D97-AF65-F5344CB8AC3E}">
        <p14:creationId xmlns:p14="http://schemas.microsoft.com/office/powerpoint/2010/main" val="17524674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</TotalTime>
  <Words>1130</Words>
  <Application>Microsoft Office PowerPoint</Application>
  <PresentationFormat>On-screen Show (4:3)</PresentationFormat>
  <Paragraphs>129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2" baseType="lpstr">
      <vt:lpstr>Arial</vt:lpstr>
      <vt:lpstr>Bembo-Bold</vt:lpstr>
      <vt:lpstr>Bembo-ExtraBold</vt:lpstr>
      <vt:lpstr>Calibri</vt:lpstr>
      <vt:lpstr>TimesTen-Bold</vt:lpstr>
      <vt:lpstr>TimesTen-Italic</vt:lpstr>
      <vt:lpstr>TimesTen-Roman</vt:lpstr>
      <vt:lpstr>Verdana</vt:lpstr>
      <vt:lpstr>Office Theme</vt:lpstr>
      <vt:lpstr>top level view of computer</vt:lpstr>
      <vt:lpstr>Computer Components: Top-Level View </vt:lpstr>
      <vt:lpstr>CPU</vt:lpstr>
      <vt:lpstr>PowerPoint Presentation</vt:lpstr>
      <vt:lpstr>ALU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HODIT</dc:creator>
  <cp:lastModifiedBy>ANA</cp:lastModifiedBy>
  <cp:revision>43</cp:revision>
  <dcterms:created xsi:type="dcterms:W3CDTF">2006-08-16T00:00:00Z</dcterms:created>
  <dcterms:modified xsi:type="dcterms:W3CDTF">2026-01-27T08:19:03Z</dcterms:modified>
</cp:coreProperties>
</file>
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9" r:id="rId5"/>
    <p:sldId id="276" r:id="rId6"/>
    <p:sldId id="277" r:id="rId7"/>
    <p:sldId id="278" r:id="rId8"/>
    <p:sldId id="279" r:id="rId9"/>
    <p:sldId id="280" r:id="rId10"/>
    <p:sldId id="270" r:id="rId11"/>
    <p:sldId id="271" r:id="rId12"/>
    <p:sldId id="272" r:id="rId13"/>
    <p:sldId id="281" r:id="rId14"/>
    <p:sldId id="282" r:id="rId15"/>
    <p:sldId id="283" r:id="rId16"/>
    <p:sldId id="284" r:id="rId17"/>
    <p:sldId id="273" r:id="rId18"/>
    <p:sldId id="285" r:id="rId19"/>
    <p:sldId id="286" r:id="rId20"/>
    <p:sldId id="287" r:id="rId21"/>
    <p:sldId id="288" r:id="rId22"/>
    <p:sldId id="274" r:id="rId23"/>
    <p:sldId id="261" r:id="rId24"/>
    <p:sldId id="290" r:id="rId25"/>
    <p:sldId id="291" r:id="rId26"/>
    <p:sldId id="263" r:id="rId2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4" d="100"/>
          <a:sy n="84" d="100"/>
        </p:scale>
        <p:origin x="1584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C10DA-50F2-42C5-8F40-BA28FF961354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0CFB6-D2B2-49D3-BD44-481F3F0BB7A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C10DA-50F2-42C5-8F40-BA28FF961354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0CFB6-D2B2-49D3-BD44-481F3F0BB7A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C10DA-50F2-42C5-8F40-BA28FF961354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0CFB6-D2B2-49D3-BD44-481F3F0BB7A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C10DA-50F2-42C5-8F40-BA28FF961354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0CFB6-D2B2-49D3-BD44-481F3F0BB7A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C10DA-50F2-42C5-8F40-BA28FF961354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0CFB6-D2B2-49D3-BD44-481F3F0BB7A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C10DA-50F2-42C5-8F40-BA28FF961354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0CFB6-D2B2-49D3-BD44-481F3F0BB7A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C10DA-50F2-42C5-8F40-BA28FF961354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0CFB6-D2B2-49D3-BD44-481F3F0BB7A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C10DA-50F2-42C5-8F40-BA28FF961354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0CFB6-D2B2-49D3-BD44-481F3F0BB7A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C10DA-50F2-42C5-8F40-BA28FF961354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0CFB6-D2B2-49D3-BD44-481F3F0BB7A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C10DA-50F2-42C5-8F40-BA28FF961354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0CFB6-D2B2-49D3-BD44-481F3F0BB7A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C10DA-50F2-42C5-8F40-BA28FF961354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0CFB6-D2B2-49D3-BD44-481F3F0BB7A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EC10DA-50F2-42C5-8F40-BA28FF961354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F0CFB6-D2B2-49D3-BD44-481F3F0BB7A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en.wikipedia.org/wiki/Raspberry_Pi" TargetMode="External"/><Relationship Id="rId13" Type="http://schemas.openxmlformats.org/officeDocument/2006/relationships/hyperlink" Target="https://en.wikipedia.org/wiki/Huawei" TargetMode="External"/><Relationship Id="rId18" Type="http://schemas.openxmlformats.org/officeDocument/2006/relationships/hyperlink" Target="https://en.wikipedia.org/wiki/MediaTek" TargetMode="External"/><Relationship Id="rId26" Type="http://schemas.openxmlformats.org/officeDocument/2006/relationships/hyperlink" Target="https://en.wikipedia.org/wiki/SiFive" TargetMode="External"/><Relationship Id="rId3" Type="http://schemas.openxmlformats.org/officeDocument/2006/relationships/hyperlink" Target="https://en.wikipedia.org/wiki/Advanced_Micro_Devices" TargetMode="External"/><Relationship Id="rId21" Type="http://schemas.openxmlformats.org/officeDocument/2006/relationships/hyperlink" Target="https://en.wikipedia.org/wiki/Qualcomm" TargetMode="External"/><Relationship Id="rId34" Type="http://schemas.openxmlformats.org/officeDocument/2006/relationships/hyperlink" Target="https://en.wikipedia.org/wiki/Zhaoxin" TargetMode="External"/><Relationship Id="rId7" Type="http://schemas.openxmlformats.org/officeDocument/2006/relationships/hyperlink" Target="https://en.wikipedia.org/wiki/Broadcom_Inc." TargetMode="External"/><Relationship Id="rId12" Type="http://schemas.openxmlformats.org/officeDocument/2006/relationships/hyperlink" Target="https://en.wikipedia.org/wiki/HiSilicon" TargetMode="External"/><Relationship Id="rId17" Type="http://schemas.openxmlformats.org/officeDocument/2006/relationships/hyperlink" Target="https://en.wikipedia.org/wiki/MCST" TargetMode="External"/><Relationship Id="rId25" Type="http://schemas.openxmlformats.org/officeDocument/2006/relationships/hyperlink" Target="https://en.wikipedia.org/wiki/Samsung_Electronics" TargetMode="External"/><Relationship Id="rId33" Type="http://schemas.openxmlformats.org/officeDocument/2006/relationships/hyperlink" Target="https://en.wikipedia.org/wiki/MIPS_Technologies" TargetMode="External"/><Relationship Id="rId2" Type="http://schemas.openxmlformats.org/officeDocument/2006/relationships/hyperlink" Target="https://en.wikipedia.org/wiki/Central_processing_unit" TargetMode="External"/><Relationship Id="rId16" Type="http://schemas.openxmlformats.org/officeDocument/2006/relationships/hyperlink" Target="https://en.wikipedia.org/wiki/Marvell_Technology_Group" TargetMode="External"/><Relationship Id="rId20" Type="http://schemas.openxmlformats.org/officeDocument/2006/relationships/hyperlink" Target="https://en.wikipedia.org/wiki/Nvidia" TargetMode="External"/><Relationship Id="rId29" Type="http://schemas.openxmlformats.org/officeDocument/2006/relationships/hyperlink" Target="https://en.wikipedia.org/wiki/Texas_Instruments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n.wikipedia.org/wiki/Apple_Inc." TargetMode="External"/><Relationship Id="rId11" Type="http://schemas.openxmlformats.org/officeDocument/2006/relationships/hyperlink" Target="https://en.wikipedia.org/wiki/AMD%E2%80%93Chinese_joint_venture" TargetMode="External"/><Relationship Id="rId24" Type="http://schemas.openxmlformats.org/officeDocument/2006/relationships/hyperlink" Target="https://en.wikipedia.org/wiki/Allwinner" TargetMode="External"/><Relationship Id="rId32" Type="http://schemas.openxmlformats.org/officeDocument/2006/relationships/hyperlink" Target="https://en.wikipedia.org/wiki/Wave_Computing" TargetMode="External"/><Relationship Id="rId5" Type="http://schemas.openxmlformats.org/officeDocument/2006/relationships/hyperlink" Target="https://en.wikipedia.org/wiki/Arm_Ltd." TargetMode="External"/><Relationship Id="rId15" Type="http://schemas.openxmlformats.org/officeDocument/2006/relationships/hyperlink" Target="https://en.wikipedia.org/wiki/Ingenic_Semiconductor" TargetMode="External"/><Relationship Id="rId23" Type="http://schemas.openxmlformats.org/officeDocument/2006/relationships/hyperlink" Target="https://en.wikipedia.org/wiki/Amlogic" TargetMode="External"/><Relationship Id="rId28" Type="http://schemas.openxmlformats.org/officeDocument/2006/relationships/hyperlink" Target="https://en.wikipedia.org/wiki/HiFive_Unleashed" TargetMode="External"/><Relationship Id="rId10" Type="http://schemas.openxmlformats.org/officeDocument/2006/relationships/hyperlink" Target="https://en.wikipedia.org/wiki/Hitachi" TargetMode="External"/><Relationship Id="rId19" Type="http://schemas.openxmlformats.org/officeDocument/2006/relationships/hyperlink" Target="https://en.wikipedia.org/wiki/List_of_computer_hardware_manufacturers" TargetMode="External"/><Relationship Id="rId31" Type="http://schemas.openxmlformats.org/officeDocument/2006/relationships/hyperlink" Target="https://en.wikipedia.org/wiki/Centaur_Technology" TargetMode="External"/><Relationship Id="rId4" Type="http://schemas.openxmlformats.org/officeDocument/2006/relationships/hyperlink" Target="https://en.wikipedia.org/wiki/Intel" TargetMode="External"/><Relationship Id="rId9" Type="http://schemas.openxmlformats.org/officeDocument/2006/relationships/hyperlink" Target="https://en.wikipedia.org/wiki/Fujitsu" TargetMode="External"/><Relationship Id="rId14" Type="http://schemas.openxmlformats.org/officeDocument/2006/relationships/hyperlink" Target="https://en.wikipedia.org/wiki/IBM" TargetMode="External"/><Relationship Id="rId22" Type="http://schemas.openxmlformats.org/officeDocument/2006/relationships/hyperlink" Target="https://en.wikipedia.org/wiki/Rockchip" TargetMode="External"/><Relationship Id="rId27" Type="http://schemas.openxmlformats.org/officeDocument/2006/relationships/hyperlink" Target="https://en.wikipedia.org/wiki/RISC-V" TargetMode="External"/><Relationship Id="rId30" Type="http://schemas.openxmlformats.org/officeDocument/2006/relationships/hyperlink" Target="https://en.wikipedia.org/wiki/VIA_Technologies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hyperlink" Target="https://en.wikipedia.org/wiki/List_of_Intel_Core_i7_processors" TargetMode="External"/><Relationship Id="rId3" Type="http://schemas.openxmlformats.org/officeDocument/2006/relationships/hyperlink" Target="https://en.wikipedia.org/wiki/Clock_rate" TargetMode="External"/><Relationship Id="rId7" Type="http://schemas.openxmlformats.org/officeDocument/2006/relationships/hyperlink" Target="https://en.wikipedia.org/wiki/List_of_Intel_Core_i9_processors" TargetMode="External"/><Relationship Id="rId2" Type="http://schemas.openxmlformats.org/officeDocument/2006/relationships/hyperlink" Target="https://en.wikipedia.org/wiki/CPU_core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n.wikipedia.org/wiki/Thread_(computing)" TargetMode="External"/><Relationship Id="rId5" Type="http://schemas.openxmlformats.org/officeDocument/2006/relationships/hyperlink" Target="https://en.wikipedia.org/wiki/Execution_units" TargetMode="External"/><Relationship Id="rId4" Type="http://schemas.openxmlformats.org/officeDocument/2006/relationships/hyperlink" Target="https://en.wikipedia.org/wiki/Intel_Graphics_Technology" TargetMode="External"/><Relationship Id="rId9" Type="http://schemas.openxmlformats.org/officeDocument/2006/relationships/hyperlink" Target="https://en.wikipedia.org/wiki/List_of_Intel_Core_i5_processor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7287" y="196948"/>
            <a:ext cx="8609428" cy="6443003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400" dirty="0"/>
              <a:t>1.1 Brief History of Intel Processors </a:t>
            </a:r>
            <a:br>
              <a:rPr lang="en-US" sz="2400" dirty="0"/>
            </a:b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b="1" dirty="0"/>
              <a:t>Intel</a:t>
            </a:r>
            <a:r>
              <a:rPr lang="en-US" sz="2400" dirty="0"/>
              <a:t>, in full </a:t>
            </a:r>
            <a:r>
              <a:rPr lang="en-US" sz="2400" b="1" dirty="0"/>
              <a:t>Intel Corporation</a:t>
            </a:r>
            <a:r>
              <a:rPr lang="en-US" sz="2400" dirty="0"/>
              <a:t>, American manufacturer of semiconductor computer circuits. </a:t>
            </a:r>
          </a:p>
          <a:p>
            <a:r>
              <a:rPr lang="en-US" sz="2400" dirty="0"/>
              <a:t>It is headquartered in Santa Clara, California. The company’s name comes from “</a:t>
            </a:r>
            <a:r>
              <a:rPr lang="en-US" sz="2400" i="1" dirty="0">
                <a:solidFill>
                  <a:srgbClr val="FF0000"/>
                </a:solidFill>
              </a:rPr>
              <a:t>int</a:t>
            </a:r>
            <a:r>
              <a:rPr lang="en-US" sz="2400" dirty="0"/>
              <a:t>egrated </a:t>
            </a:r>
            <a:r>
              <a:rPr lang="en-US" sz="2400" i="1" dirty="0">
                <a:solidFill>
                  <a:srgbClr val="FF0000"/>
                </a:solidFill>
              </a:rPr>
              <a:t>el</a:t>
            </a:r>
            <a:r>
              <a:rPr lang="en-US" sz="2400" dirty="0"/>
              <a:t>ectronics.”</a:t>
            </a:r>
          </a:p>
          <a:p>
            <a:r>
              <a:rPr lang="en-US" sz="2400" dirty="0"/>
              <a:t>Intel was founded in July 1968 by </a:t>
            </a:r>
            <a:r>
              <a:rPr lang="en-US" sz="2400"/>
              <a:t>American engineers</a:t>
            </a:r>
            <a:r>
              <a:rPr lang="en-US"/>
              <a:t> </a:t>
            </a:r>
            <a:r>
              <a:rPr lang="en-US" dirty="0"/>
              <a:t>:</a:t>
            </a:r>
            <a:r>
              <a:rPr lang="en-US" sz="240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Gordon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Moore &amp;Robert Noyce</a:t>
            </a:r>
            <a:endParaRPr lang="en-IN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A1D1E-D559-4881-8E95-F29CCE77DFE1}" type="slidenum">
              <a:rPr lang="en-IN" smtClean="0"/>
              <a:pPr/>
              <a:t>1</a:t>
            </a:fld>
            <a:endParaRPr lang="en-IN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1404" y="5153734"/>
            <a:ext cx="1590596" cy="12102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7287" y="196948"/>
            <a:ext cx="8609428" cy="6443003"/>
          </a:xfrm>
        </p:spPr>
        <p:txBody>
          <a:bodyPr>
            <a:noAutofit/>
          </a:bodyPr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Intel in 2021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A1D1E-D559-4881-8E95-F29CCE77DFE1}" type="slidenum">
              <a:rPr lang="en-IN" smtClean="0"/>
              <a:pPr/>
              <a:t>2</a:t>
            </a:fld>
            <a:endParaRPr lang="en-IN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" y="1371600"/>
            <a:ext cx="8839200" cy="40175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7287" y="196948"/>
            <a:ext cx="8609428" cy="6443003"/>
          </a:xfrm>
        </p:spPr>
        <p:txBody>
          <a:bodyPr>
            <a:noAutofit/>
          </a:bodyPr>
          <a:lstStyle/>
          <a:p>
            <a:r>
              <a:rPr lang="en-US" sz="1800" b="1" dirty="0"/>
              <a:t>List of companies </a:t>
            </a:r>
            <a:r>
              <a:rPr lang="en-US" sz="1800" b="1" dirty="0">
                <a:solidFill>
                  <a:srgbClr val="FF0000"/>
                </a:solidFill>
              </a:rPr>
              <a:t>designing</a:t>
            </a:r>
            <a:r>
              <a:rPr lang="en-US" sz="1800" b="1" dirty="0"/>
              <a:t> CPU</a:t>
            </a:r>
          </a:p>
          <a:p>
            <a:r>
              <a:rPr lang="en-US" sz="1200" dirty="0"/>
              <a:t>most of these companies only make designs, and do not manufacture their own designs.</a:t>
            </a:r>
          </a:p>
          <a:p>
            <a:r>
              <a:rPr lang="en-US" sz="1200" b="1" dirty="0"/>
              <a:t>Top x86 </a:t>
            </a:r>
            <a:r>
              <a:rPr lang="en-US" sz="1200" b="1" dirty="0">
                <a:hlinkClick r:id="rId2" tooltip="Central processing unit"/>
              </a:rPr>
              <a:t>CPU</a:t>
            </a:r>
            <a:r>
              <a:rPr lang="en-US" sz="1200" b="1" dirty="0"/>
              <a:t> manufacturers</a:t>
            </a:r>
            <a:r>
              <a:rPr lang="en-US" sz="1200" dirty="0"/>
              <a:t>:</a:t>
            </a:r>
          </a:p>
          <a:p>
            <a:pPr lvl="0"/>
            <a:r>
              <a:rPr lang="en-US" sz="1200" dirty="0">
                <a:hlinkClick r:id="rId3" tooltip="Advanced Micro Devices"/>
              </a:rPr>
              <a:t>AMD</a:t>
            </a:r>
            <a:endParaRPr lang="en-US" sz="1200" dirty="0"/>
          </a:p>
          <a:p>
            <a:pPr lvl="0"/>
            <a:r>
              <a:rPr lang="en-US" sz="1200" dirty="0">
                <a:hlinkClick r:id="rId4" tooltip="Intel"/>
              </a:rPr>
              <a:t>Intel</a:t>
            </a:r>
            <a:endParaRPr lang="en-US" sz="1200" dirty="0"/>
          </a:p>
          <a:p>
            <a:r>
              <a:rPr lang="en-US" sz="1200" b="1" dirty="0"/>
              <a:t>List of CPU manufacturers (most of the companies sell ARM-based CPUs,):</a:t>
            </a:r>
          </a:p>
          <a:p>
            <a:pPr lvl="0"/>
            <a:r>
              <a:rPr lang="en-US" sz="1200" dirty="0">
                <a:hlinkClick r:id="rId5" tooltip="Arm Ltd."/>
              </a:rPr>
              <a:t>Arm Ltd.</a:t>
            </a:r>
            <a:r>
              <a:rPr lang="en-US" sz="1200" dirty="0"/>
              <a:t> (sells designs only)</a:t>
            </a:r>
          </a:p>
          <a:p>
            <a:pPr lvl="0"/>
            <a:r>
              <a:rPr lang="en-US" sz="1200" dirty="0">
                <a:hlinkClick r:id="rId6" tooltip="Apple Inc."/>
              </a:rPr>
              <a:t>Apple Inc.</a:t>
            </a:r>
            <a:r>
              <a:rPr lang="en-US" sz="1200" dirty="0"/>
              <a:t> (ARM-based CPUs)</a:t>
            </a:r>
          </a:p>
          <a:p>
            <a:pPr lvl="0"/>
            <a:r>
              <a:rPr lang="en-US" sz="1200" dirty="0">
                <a:hlinkClick r:id="rId7" tooltip="Broadcom Inc."/>
              </a:rPr>
              <a:t>Broadcom Inc.</a:t>
            </a:r>
            <a:r>
              <a:rPr lang="en-US" sz="1200" dirty="0"/>
              <a:t> (ARM-based, e.g. for </a:t>
            </a:r>
            <a:r>
              <a:rPr lang="en-US" sz="1200" dirty="0">
                <a:hlinkClick r:id="rId8" tooltip="Raspberry Pi"/>
              </a:rPr>
              <a:t>Raspberry Pi</a:t>
            </a:r>
            <a:r>
              <a:rPr lang="en-US" sz="1200" dirty="0"/>
              <a:t>)</a:t>
            </a:r>
          </a:p>
          <a:p>
            <a:pPr lvl="0"/>
            <a:r>
              <a:rPr lang="en-US" sz="1200" dirty="0">
                <a:hlinkClick r:id="rId9" tooltip="Fujitsu"/>
              </a:rPr>
              <a:t>Fujitsu</a:t>
            </a:r>
            <a:r>
              <a:rPr lang="en-US" sz="1200" dirty="0"/>
              <a:t> (its ARM-based CPU used in top supercomputer, still also sells its SPARC-based servers)</a:t>
            </a:r>
          </a:p>
          <a:p>
            <a:pPr lvl="0"/>
            <a:r>
              <a:rPr lang="en-US" sz="1200" dirty="0">
                <a:hlinkClick r:id="rId10" tooltip="Hitachi"/>
              </a:rPr>
              <a:t>Hitachi</a:t>
            </a:r>
            <a:r>
              <a:rPr lang="en-US" sz="1200" dirty="0"/>
              <a:t> (its own designs and ARM)</a:t>
            </a:r>
          </a:p>
          <a:p>
            <a:pPr lvl="0"/>
            <a:r>
              <a:rPr lang="en-US" sz="1200" dirty="0" err="1">
                <a:hlinkClick r:id="rId11" tooltip="AMD–Chinese joint venture"/>
              </a:rPr>
              <a:t>Hygon</a:t>
            </a:r>
            <a:r>
              <a:rPr lang="en-US" sz="1200" dirty="0"/>
              <a:t> (x86-based)</a:t>
            </a:r>
          </a:p>
          <a:p>
            <a:pPr lvl="0"/>
            <a:r>
              <a:rPr lang="en-US" sz="1200" dirty="0" err="1">
                <a:hlinkClick r:id="rId12" tooltip="HiSilicon"/>
              </a:rPr>
              <a:t>HiSilicon</a:t>
            </a:r>
            <a:r>
              <a:rPr lang="en-US" sz="1200" dirty="0"/>
              <a:t> (acquired by </a:t>
            </a:r>
            <a:r>
              <a:rPr lang="en-US" sz="1200" dirty="0" err="1">
                <a:hlinkClick r:id="rId13" tooltip="Huawei"/>
              </a:rPr>
              <a:t>Huawei</a:t>
            </a:r>
            <a:r>
              <a:rPr lang="en-US" sz="1200" dirty="0"/>
              <a:t>), stopped making its ARM-based design</a:t>
            </a:r>
          </a:p>
          <a:p>
            <a:pPr lvl="0"/>
            <a:r>
              <a:rPr lang="en-US" sz="1200" dirty="0">
                <a:hlinkClick r:id="rId14" tooltip="IBM"/>
              </a:rPr>
              <a:t>IBM</a:t>
            </a:r>
            <a:r>
              <a:rPr lang="en-US" sz="1200" dirty="0"/>
              <a:t> (now only designs two architectures)</a:t>
            </a:r>
          </a:p>
          <a:p>
            <a:pPr lvl="0"/>
            <a:r>
              <a:rPr lang="en-US" sz="1200" dirty="0" err="1">
                <a:hlinkClick r:id="rId15" tooltip="Ingenic Semiconductor"/>
              </a:rPr>
              <a:t>Ingenic</a:t>
            </a:r>
            <a:r>
              <a:rPr lang="en-US" sz="1200" dirty="0">
                <a:hlinkClick r:id="rId15" tooltip="Ingenic Semiconductor"/>
              </a:rPr>
              <a:t> Semiconductor</a:t>
            </a:r>
            <a:r>
              <a:rPr lang="en-US" sz="1200" dirty="0"/>
              <a:t> (MIPS-based)</a:t>
            </a:r>
          </a:p>
          <a:p>
            <a:pPr lvl="0"/>
            <a:r>
              <a:rPr lang="en-US" sz="1200" dirty="0">
                <a:hlinkClick r:id="rId16" tooltip="Marvell Technology Group"/>
              </a:rPr>
              <a:t>Marvell</a:t>
            </a:r>
            <a:r>
              <a:rPr lang="en-US" sz="1200" dirty="0"/>
              <a:t> (its </a:t>
            </a:r>
            <a:r>
              <a:rPr lang="en-US" sz="1200" dirty="0">
                <a:hlinkClick r:id="rId16" tooltip="Marvell Technology Group"/>
              </a:rPr>
              <a:t>ThunderX3</a:t>
            </a:r>
            <a:r>
              <a:rPr lang="en-US" sz="1200" dirty="0"/>
              <a:t> ARM-based)</a:t>
            </a:r>
          </a:p>
          <a:p>
            <a:pPr lvl="0"/>
            <a:r>
              <a:rPr lang="en-US" sz="1200" dirty="0">
                <a:hlinkClick r:id="rId17" tooltip="MCST"/>
              </a:rPr>
              <a:t>MCST</a:t>
            </a:r>
            <a:r>
              <a:rPr lang="en-US" sz="1200" dirty="0"/>
              <a:t> (its own designs and SPARC)</a:t>
            </a:r>
          </a:p>
          <a:p>
            <a:pPr lvl="0"/>
            <a:r>
              <a:rPr lang="en-US" sz="1200" dirty="0" err="1">
                <a:hlinkClick r:id="rId18" tooltip="MediaTek"/>
              </a:rPr>
              <a:t>MediaTek</a:t>
            </a:r>
            <a:r>
              <a:rPr lang="en-US" sz="1200" dirty="0"/>
              <a:t> (ARM chips, and MIPS chips)</a:t>
            </a:r>
            <a:r>
              <a:rPr lang="en-US" sz="1200" dirty="0">
                <a:hlinkClick r:id="rId19"/>
              </a:rPr>
              <a:t>[2]</a:t>
            </a:r>
            <a:endParaRPr lang="en-US" sz="1200" dirty="0"/>
          </a:p>
          <a:p>
            <a:pPr lvl="0"/>
            <a:r>
              <a:rPr lang="en-US" sz="1200" dirty="0" err="1">
                <a:hlinkClick r:id="rId20" tooltip="Nvidia"/>
              </a:rPr>
              <a:t>Nvidia</a:t>
            </a:r>
            <a:r>
              <a:rPr lang="en-US" sz="1200" dirty="0"/>
              <a:t> (sells ARM-based, and unsuccessfully attempted to buy the ARM company)</a:t>
            </a:r>
          </a:p>
          <a:p>
            <a:pPr lvl="0"/>
            <a:r>
              <a:rPr lang="en-US" sz="1200" dirty="0">
                <a:hlinkClick r:id="rId21" tooltip="Qualcomm"/>
              </a:rPr>
              <a:t>Qualcomm</a:t>
            </a:r>
            <a:r>
              <a:rPr lang="en-US" sz="1200" dirty="0"/>
              <a:t> (ARM-based)</a:t>
            </a:r>
          </a:p>
          <a:p>
            <a:pPr lvl="0"/>
            <a:r>
              <a:rPr lang="en-US" sz="1200" dirty="0" err="1">
                <a:hlinkClick r:id="rId22" tooltip="Rockchip"/>
              </a:rPr>
              <a:t>Rockchip</a:t>
            </a:r>
            <a:r>
              <a:rPr lang="en-US" sz="1200" dirty="0"/>
              <a:t> (ARM-based)</a:t>
            </a:r>
          </a:p>
          <a:p>
            <a:pPr lvl="0"/>
            <a:r>
              <a:rPr lang="en-US" sz="1200" dirty="0" err="1">
                <a:hlinkClick r:id="rId23" tooltip="Amlogic"/>
              </a:rPr>
              <a:t>Amlogic</a:t>
            </a:r>
            <a:r>
              <a:rPr lang="en-US" sz="1200" dirty="0"/>
              <a:t> (ARM-based)</a:t>
            </a:r>
          </a:p>
          <a:p>
            <a:pPr lvl="0"/>
            <a:r>
              <a:rPr lang="en-US" sz="1200" dirty="0" err="1">
                <a:hlinkClick r:id="rId24" tooltip="Allwinner"/>
              </a:rPr>
              <a:t>Allwinner</a:t>
            </a:r>
            <a:r>
              <a:rPr lang="en-US" sz="1200" dirty="0"/>
              <a:t> (ARM-based)</a:t>
            </a:r>
          </a:p>
          <a:p>
            <a:pPr lvl="0"/>
            <a:r>
              <a:rPr lang="en-US" sz="1200" dirty="0">
                <a:hlinkClick r:id="rId25" tooltip="Samsung Electronics"/>
              </a:rPr>
              <a:t>Samsung</a:t>
            </a:r>
            <a:r>
              <a:rPr lang="en-US" sz="1200" dirty="0"/>
              <a:t> (ARM-based)</a:t>
            </a:r>
          </a:p>
          <a:p>
            <a:pPr lvl="0"/>
            <a:r>
              <a:rPr lang="en-US" sz="1200" dirty="0" err="1">
                <a:hlinkClick r:id="rId26" tooltip="SiFive"/>
              </a:rPr>
              <a:t>SiFive</a:t>
            </a:r>
            <a:r>
              <a:rPr lang="en-US" sz="1200" dirty="0"/>
              <a:t> (</a:t>
            </a:r>
            <a:r>
              <a:rPr lang="en-US" sz="1200" dirty="0">
                <a:hlinkClick r:id="rId27" tooltip="RISC-V"/>
              </a:rPr>
              <a:t>RISC-V</a:t>
            </a:r>
            <a:r>
              <a:rPr lang="en-US" sz="1200" dirty="0"/>
              <a:t>-based, e.g. </a:t>
            </a:r>
            <a:r>
              <a:rPr lang="en-US" sz="1200" dirty="0" err="1">
                <a:hlinkClick r:id="rId28" tooltip="HiFive Unleashed"/>
              </a:rPr>
              <a:t>HiFive</a:t>
            </a:r>
            <a:r>
              <a:rPr lang="en-US" sz="1200" dirty="0">
                <a:hlinkClick r:id="rId28" tooltip="HiFive Unleashed"/>
              </a:rPr>
              <a:t> Unleashed</a:t>
            </a:r>
            <a:r>
              <a:rPr lang="en-US" sz="1200" dirty="0"/>
              <a:t>)</a:t>
            </a:r>
          </a:p>
          <a:p>
            <a:pPr lvl="0"/>
            <a:r>
              <a:rPr lang="en-US" sz="1200" dirty="0">
                <a:hlinkClick r:id="rId29" tooltip="Texas Instruments"/>
              </a:rPr>
              <a:t>Texas Instruments</a:t>
            </a:r>
            <a:r>
              <a:rPr lang="en-US" sz="1200" dirty="0"/>
              <a:t> (its own designs and ARM)</a:t>
            </a:r>
          </a:p>
          <a:p>
            <a:pPr lvl="0"/>
            <a:r>
              <a:rPr lang="en-US" sz="1200" dirty="0">
                <a:hlinkClick r:id="rId30" tooltip="VIA Technologies"/>
              </a:rPr>
              <a:t>Via</a:t>
            </a:r>
            <a:r>
              <a:rPr lang="en-US" sz="1200" dirty="0"/>
              <a:t> (formerly </a:t>
            </a:r>
            <a:r>
              <a:rPr lang="en-US" sz="1200" dirty="0">
                <a:hlinkClick r:id="rId31" tooltip="Centaur Technology"/>
              </a:rPr>
              <a:t>Centaur Technology</a:t>
            </a:r>
            <a:r>
              <a:rPr lang="en-US" sz="1200" dirty="0"/>
              <a:t> division), its own x86-based design</a:t>
            </a:r>
          </a:p>
          <a:p>
            <a:pPr lvl="0"/>
            <a:r>
              <a:rPr lang="en-US" sz="1200" dirty="0">
                <a:hlinkClick r:id="rId32" tooltip="Wave Computing"/>
              </a:rPr>
              <a:t>Wave Computing</a:t>
            </a:r>
            <a:r>
              <a:rPr lang="en-US" sz="1200" dirty="0"/>
              <a:t> (previously </a:t>
            </a:r>
            <a:r>
              <a:rPr lang="en-US" sz="1200" dirty="0">
                <a:hlinkClick r:id="rId33" tooltip="MIPS Technologies"/>
              </a:rPr>
              <a:t>MIPS Technologies</a:t>
            </a:r>
            <a:r>
              <a:rPr lang="en-US" sz="1200" dirty="0"/>
              <a:t>), licenses MIPS CPU design</a:t>
            </a:r>
          </a:p>
          <a:p>
            <a:pPr lvl="0"/>
            <a:r>
              <a:rPr lang="en-US" sz="1200" dirty="0" err="1">
                <a:hlinkClick r:id="rId34" tooltip="Zhaoxin"/>
              </a:rPr>
              <a:t>Zhaoxin</a:t>
            </a:r>
            <a:r>
              <a:rPr lang="en-US" sz="1200" dirty="0"/>
              <a:t> (its own x86 design based on </a:t>
            </a:r>
            <a:r>
              <a:rPr lang="en-US" sz="1200" dirty="0" err="1"/>
              <a:t>Via's</a:t>
            </a:r>
            <a:r>
              <a:rPr lang="en-US" sz="1200" dirty="0"/>
              <a:t>)</a:t>
            </a:r>
          </a:p>
          <a:p>
            <a:endParaRPr 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A1D1E-D559-4881-8E95-F29CCE77DFE1}" type="slidenum">
              <a:rPr lang="en-IN" smtClean="0"/>
              <a:pPr/>
              <a:t>3</a:t>
            </a:fld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7287" y="196948"/>
            <a:ext cx="8609428" cy="6443003"/>
          </a:xfrm>
        </p:spPr>
        <p:txBody>
          <a:bodyPr>
            <a:noAutofit/>
          </a:bodyPr>
          <a:lstStyle/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A1D1E-D559-4881-8E95-F29CCE77DFE1}" type="slidenum">
              <a:rPr lang="en-IN" smtClean="0"/>
              <a:pPr/>
              <a:t>4</a:t>
            </a:fld>
            <a:endParaRPr lang="en-IN"/>
          </a:p>
        </p:txBody>
      </p:sp>
      <p:pic>
        <p:nvPicPr>
          <p:cNvPr id="5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6800" y="1143000"/>
            <a:ext cx="6097785" cy="46478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7287" y="196948"/>
            <a:ext cx="8609428" cy="6443003"/>
          </a:xfrm>
        </p:spPr>
        <p:txBody>
          <a:bodyPr>
            <a:noAutofit/>
          </a:bodyPr>
          <a:lstStyle/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A1D1E-D559-4881-8E95-F29CCE77DFE1}" type="slidenum">
              <a:rPr lang="en-IN" smtClean="0"/>
              <a:pPr/>
              <a:t>5</a:t>
            </a:fld>
            <a:endParaRPr lang="en-IN"/>
          </a:p>
        </p:txBody>
      </p:sp>
      <p:pic>
        <p:nvPicPr>
          <p:cNvPr id="5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88554" y="2383499"/>
            <a:ext cx="5865438" cy="304653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7287" y="196948"/>
            <a:ext cx="8609428" cy="6443003"/>
          </a:xfrm>
        </p:spPr>
        <p:txBody>
          <a:bodyPr>
            <a:noAutofit/>
          </a:bodyPr>
          <a:lstStyle/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A1D1E-D559-4881-8E95-F29CCE77DFE1}" type="slidenum">
              <a:rPr lang="en-IN" smtClean="0"/>
              <a:pPr/>
              <a:t>6</a:t>
            </a:fld>
            <a:endParaRPr lang="en-IN"/>
          </a:p>
        </p:txBody>
      </p:sp>
      <p:pic>
        <p:nvPicPr>
          <p:cNvPr id="5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12379" y="1612354"/>
            <a:ext cx="6703358" cy="456977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7287" y="196948"/>
            <a:ext cx="8609428" cy="6443003"/>
          </a:xfrm>
        </p:spPr>
        <p:txBody>
          <a:bodyPr>
            <a:noAutofit/>
          </a:bodyPr>
          <a:lstStyle/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A1D1E-D559-4881-8E95-F29CCE77DFE1}" type="slidenum">
              <a:rPr lang="en-IN" smtClean="0"/>
              <a:pPr/>
              <a:t>7</a:t>
            </a:fld>
            <a:endParaRPr lang="en-IN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47713" y="781050"/>
            <a:ext cx="7648575" cy="529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7287" y="196948"/>
            <a:ext cx="8609428" cy="6443003"/>
          </a:xfrm>
        </p:spPr>
        <p:txBody>
          <a:bodyPr>
            <a:noAutofit/>
          </a:bodyPr>
          <a:lstStyle/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A1D1E-D559-4881-8E95-F29CCE77DFE1}" type="slidenum">
              <a:rPr lang="en-IN" smtClean="0"/>
              <a:pPr/>
              <a:t>8</a:t>
            </a:fld>
            <a:endParaRPr lang="en-IN"/>
          </a:p>
        </p:txBody>
      </p:sp>
      <p:pic>
        <p:nvPicPr>
          <p:cNvPr id="5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71600" y="1295400"/>
            <a:ext cx="6705600" cy="478849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7287" y="196948"/>
            <a:ext cx="8609428" cy="6443003"/>
          </a:xfrm>
        </p:spPr>
        <p:txBody>
          <a:bodyPr>
            <a:noAutofit/>
          </a:bodyPr>
          <a:lstStyle/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A1D1E-D559-4881-8E95-F29CCE77DFE1}" type="slidenum">
              <a:rPr lang="en-IN" smtClean="0"/>
              <a:pPr/>
              <a:t>9</a:t>
            </a:fld>
            <a:endParaRPr lang="en-IN"/>
          </a:p>
        </p:txBody>
      </p:sp>
      <p:pic>
        <p:nvPicPr>
          <p:cNvPr id="5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98277" y="1496579"/>
            <a:ext cx="6474390" cy="4858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7287" y="196948"/>
            <a:ext cx="8609428" cy="6443003"/>
          </a:xfrm>
        </p:spPr>
        <p:txBody>
          <a:bodyPr>
            <a:noAutofit/>
          </a:bodyPr>
          <a:lstStyle/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A1D1E-D559-4881-8E95-F29CCE77DFE1}" type="slidenum">
              <a:rPr lang="en-IN" smtClean="0"/>
              <a:pPr/>
              <a:t>10</a:t>
            </a:fld>
            <a:endParaRPr lang="en-IN"/>
          </a:p>
        </p:txBody>
      </p:sp>
      <p:pic>
        <p:nvPicPr>
          <p:cNvPr id="5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40382" y="1264846"/>
            <a:ext cx="6552087" cy="539808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7287" y="196948"/>
            <a:ext cx="8609428" cy="6443003"/>
          </a:xfrm>
        </p:spPr>
        <p:txBody>
          <a:bodyPr>
            <a:noAutofit/>
          </a:bodyPr>
          <a:lstStyle/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A1D1E-D559-4881-8E95-F29CCE77DFE1}" type="slidenum">
              <a:rPr lang="en-IN" smtClean="0"/>
              <a:pPr/>
              <a:t>11</a:t>
            </a:fld>
            <a:endParaRPr lang="en-IN"/>
          </a:p>
        </p:txBody>
      </p:sp>
      <p:pic>
        <p:nvPicPr>
          <p:cNvPr id="5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76387" y="1478257"/>
            <a:ext cx="6705600" cy="487607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7287" y="196948"/>
            <a:ext cx="8609428" cy="6443003"/>
          </a:xfrm>
        </p:spPr>
        <p:txBody>
          <a:bodyPr>
            <a:noAutofit/>
          </a:bodyPr>
          <a:lstStyle/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A1D1E-D559-4881-8E95-F29CCE77DFE1}" type="slidenum">
              <a:rPr lang="en-IN" smtClean="0"/>
              <a:pPr/>
              <a:t>12</a:t>
            </a:fld>
            <a:endParaRPr lang="en-IN"/>
          </a:p>
        </p:txBody>
      </p:sp>
      <p:pic>
        <p:nvPicPr>
          <p:cNvPr id="5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68588" y="1530117"/>
            <a:ext cx="6543294" cy="495335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7287" y="196948"/>
            <a:ext cx="8609428" cy="6443003"/>
          </a:xfrm>
        </p:spPr>
        <p:txBody>
          <a:bodyPr>
            <a:noAutofit/>
          </a:bodyPr>
          <a:lstStyle/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A1D1E-D559-4881-8E95-F29CCE77DFE1}" type="slidenum">
              <a:rPr lang="en-IN" smtClean="0"/>
              <a:pPr/>
              <a:t>13</a:t>
            </a:fld>
            <a:endParaRPr lang="en-IN"/>
          </a:p>
        </p:txBody>
      </p:sp>
      <p:pic>
        <p:nvPicPr>
          <p:cNvPr id="5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58099" y="1520940"/>
            <a:ext cx="6745223" cy="488595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7287" y="196948"/>
            <a:ext cx="8609428" cy="6443003"/>
          </a:xfrm>
        </p:spPr>
        <p:txBody>
          <a:bodyPr>
            <a:noAutofit/>
          </a:bodyPr>
          <a:lstStyle/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A1D1E-D559-4881-8E95-F29CCE77DFE1}" type="slidenum">
              <a:rPr lang="en-IN" smtClean="0"/>
              <a:pPr/>
              <a:t>14</a:t>
            </a:fld>
            <a:endParaRPr lang="en-IN"/>
          </a:p>
        </p:txBody>
      </p:sp>
      <p:pic>
        <p:nvPicPr>
          <p:cNvPr id="5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83050" y="1554479"/>
            <a:ext cx="6628657" cy="457125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7287" y="196948"/>
            <a:ext cx="8609428" cy="6443003"/>
          </a:xfrm>
        </p:spPr>
        <p:txBody>
          <a:bodyPr>
            <a:noAutofit/>
          </a:bodyPr>
          <a:lstStyle/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A1D1E-D559-4881-8E95-F29CCE77DFE1}" type="slidenum">
              <a:rPr lang="en-IN" smtClean="0"/>
              <a:pPr/>
              <a:t>15</a:t>
            </a:fld>
            <a:endParaRPr lang="en-IN"/>
          </a:p>
        </p:txBody>
      </p:sp>
      <p:pic>
        <p:nvPicPr>
          <p:cNvPr id="5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28787" y="1612354"/>
            <a:ext cx="6477000" cy="462690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7287" y="196948"/>
            <a:ext cx="8609428" cy="6443003"/>
          </a:xfrm>
        </p:spPr>
        <p:txBody>
          <a:bodyPr>
            <a:noAutofit/>
          </a:bodyPr>
          <a:lstStyle/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A1D1E-D559-4881-8E95-F29CCE77DFE1}" type="slidenum">
              <a:rPr lang="en-IN" smtClean="0"/>
              <a:pPr/>
              <a:t>16</a:t>
            </a:fld>
            <a:endParaRPr lang="en-IN"/>
          </a:p>
        </p:txBody>
      </p:sp>
      <p:pic>
        <p:nvPicPr>
          <p:cNvPr id="5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78135" y="2078705"/>
            <a:ext cx="6095628" cy="365612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7287" y="196948"/>
            <a:ext cx="8609428" cy="6443003"/>
          </a:xfrm>
        </p:spPr>
        <p:txBody>
          <a:bodyPr>
            <a:noAutofit/>
          </a:bodyPr>
          <a:lstStyle/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A1D1E-D559-4881-8E95-F29CCE77DFE1}" type="slidenum">
              <a:rPr lang="en-IN" smtClean="0"/>
              <a:pPr/>
              <a:t>17</a:t>
            </a:fld>
            <a:endParaRPr lang="en-IN"/>
          </a:p>
        </p:txBody>
      </p:sp>
      <p:pic>
        <p:nvPicPr>
          <p:cNvPr id="5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64195" y="1536191"/>
            <a:ext cx="6704461" cy="470306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7287" y="196948"/>
            <a:ext cx="8609428" cy="6443003"/>
          </a:xfrm>
        </p:spPr>
        <p:txBody>
          <a:bodyPr>
            <a:noAutofit/>
          </a:bodyPr>
          <a:lstStyle/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A1D1E-D559-4881-8E95-F29CCE77DFE1}" type="slidenum">
              <a:rPr lang="en-IN" smtClean="0"/>
              <a:pPr/>
              <a:t>18</a:t>
            </a:fld>
            <a:endParaRPr lang="en-IN"/>
          </a:p>
        </p:txBody>
      </p:sp>
      <p:pic>
        <p:nvPicPr>
          <p:cNvPr id="6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33600" y="1600200"/>
            <a:ext cx="6751319" cy="5020034"/>
          </a:xfrm>
          <a:prstGeom prst="rect">
            <a:avLst/>
          </a:prstGeom>
        </p:spPr>
      </p:pic>
      <p:pic>
        <p:nvPicPr>
          <p:cNvPr id="5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14600" y="228600"/>
            <a:ext cx="2566371" cy="2350041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7287" y="196948"/>
            <a:ext cx="8609428" cy="6443003"/>
          </a:xfrm>
        </p:spPr>
        <p:txBody>
          <a:bodyPr>
            <a:noAutofit/>
          </a:bodyPr>
          <a:lstStyle/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A1D1E-D559-4881-8E95-F29CCE77DFE1}" type="slidenum">
              <a:rPr lang="en-IN" smtClean="0"/>
              <a:pPr/>
              <a:t>19</a:t>
            </a:fld>
            <a:endParaRPr lang="en-IN"/>
          </a:p>
        </p:txBody>
      </p:sp>
      <p:pic>
        <p:nvPicPr>
          <p:cNvPr id="5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21523" y="1453896"/>
            <a:ext cx="6780284" cy="480097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7287" y="196948"/>
            <a:ext cx="8609428" cy="6443003"/>
          </a:xfrm>
        </p:spPr>
        <p:txBody>
          <a:bodyPr>
            <a:noAutofit/>
          </a:bodyPr>
          <a:lstStyle/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A1D1E-D559-4881-8E95-F29CCE77DFE1}" type="slidenum">
              <a:rPr lang="en-IN" smtClean="0"/>
              <a:pPr/>
              <a:t>20</a:t>
            </a:fld>
            <a:endParaRPr lang="en-IN"/>
          </a:p>
        </p:txBody>
      </p:sp>
      <p:pic>
        <p:nvPicPr>
          <p:cNvPr id="5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22077" y="1554479"/>
            <a:ext cx="6626788" cy="4571253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7287" y="196948"/>
            <a:ext cx="8609428" cy="6443003"/>
          </a:xfrm>
        </p:spPr>
        <p:txBody>
          <a:bodyPr>
            <a:noAutofit/>
          </a:bodyPr>
          <a:lstStyle/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A1D1E-D559-4881-8E95-F29CCE77DFE1}" type="slidenum">
              <a:rPr lang="en-IN" smtClean="0"/>
              <a:pPr/>
              <a:t>21</a:t>
            </a:fld>
            <a:endParaRPr lang="en-IN"/>
          </a:p>
        </p:txBody>
      </p:sp>
      <p:pic>
        <p:nvPicPr>
          <p:cNvPr id="5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28787" y="1606302"/>
            <a:ext cx="6553200" cy="4572369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7287" y="196948"/>
            <a:ext cx="8609428" cy="6443003"/>
          </a:xfrm>
        </p:spPr>
        <p:txBody>
          <a:bodyPr>
            <a:noAutofit/>
          </a:bodyPr>
          <a:lstStyle/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A1D1E-D559-4881-8E95-F29CCE77DFE1}" type="slidenum">
              <a:rPr lang="en-IN" smtClean="0"/>
              <a:pPr/>
              <a:t>22</a:t>
            </a:fld>
            <a:endParaRPr lang="en-IN"/>
          </a:p>
        </p:txBody>
      </p:sp>
      <p:pic>
        <p:nvPicPr>
          <p:cNvPr id="5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62405" y="1569719"/>
            <a:ext cx="6555773" cy="4569371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52400"/>
            <a:ext cx="8686800" cy="6553200"/>
          </a:xfrm>
        </p:spPr>
        <p:txBody>
          <a:bodyPr>
            <a:noAutofit/>
          </a:bodyPr>
          <a:lstStyle/>
          <a:p>
            <a:endParaRPr 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B9BBDE0-A30E-4318-98FD-88F7C85AE4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415" y="1061707"/>
            <a:ext cx="8383170" cy="4734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52366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7287" y="196948"/>
            <a:ext cx="8609428" cy="6443003"/>
          </a:xfrm>
        </p:spPr>
        <p:txBody>
          <a:bodyPr>
            <a:noAutofit/>
          </a:bodyPr>
          <a:lstStyle/>
          <a:p>
            <a:pPr marL="203200" marR="6350" indent="0">
              <a:spcAft>
                <a:spcPts val="0"/>
              </a:spcAft>
              <a:buNone/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Intel has three brands </a:t>
            </a:r>
            <a:endParaRPr lang="en-IN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6350" lvl="0" indent="-342900">
              <a:spcAft>
                <a:spcPts val="0"/>
              </a:spcAft>
              <a:buFont typeface="+mj-lt"/>
              <a:buAutoNum type="arabicParenR"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Intel®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processor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: is an economical product line created for price-conscious consumers.</a:t>
            </a: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6350" lvl="0" indent="-342900">
              <a:spcAft>
                <a:spcPts val="0"/>
              </a:spcAft>
              <a:buFont typeface="+mj-lt"/>
              <a:buAutoNum type="arabicParenR"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Intel®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Core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™ processors have faster performance and additional features not available in Intel® Processor models.</a:t>
            </a: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6350" lvl="0" indent="-342900">
              <a:spcAft>
                <a:spcPts val="0"/>
              </a:spcAft>
              <a:buFont typeface="+mj-lt"/>
              <a:buAutoNum type="arabicParenR"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Intel®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Xeon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® processors offer a higher level of performance for servers and workstations </a:t>
            </a:r>
          </a:p>
          <a:p>
            <a:pPr marL="342900" marR="6350" lvl="0" indent="-342900">
              <a:spcAft>
                <a:spcPts val="0"/>
              </a:spcAft>
              <a:buFont typeface="+mj-lt"/>
              <a:buAutoNum type="arabicParenR"/>
            </a:pPr>
            <a:endParaRPr lang="en-IN" sz="1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6350" lvl="0" indent="0">
              <a:spcAft>
                <a:spcPts val="0"/>
              </a:spcAft>
              <a:buNone/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Intel® Core™ brand has 4  brand modifiers 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 i.e. processors )</a:t>
            </a: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0" marR="6350">
              <a:spcAft>
                <a:spcPts val="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i3</a:t>
            </a: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0" marR="6350">
              <a:spcAft>
                <a:spcPts val="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i5 </a:t>
            </a: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0" marR="6350">
              <a:spcAft>
                <a:spcPts val="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i7</a:t>
            </a: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0" marR="6350">
              <a:spcAft>
                <a:spcPts val="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i9</a:t>
            </a: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A1D1E-D559-4881-8E95-F29CCE77DFE1}" type="slidenum">
              <a:rPr lang="en-IN" smtClean="0"/>
              <a:pPr/>
              <a:t>24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45585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6389D73-69CE-4DC6-A1B8-E91FE6FE1C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2057400"/>
            <a:ext cx="7619031" cy="466344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52400"/>
            <a:ext cx="8686800" cy="6553200"/>
          </a:xfrm>
        </p:spPr>
        <p:txBody>
          <a:bodyPr>
            <a:noAutofit/>
          </a:bodyPr>
          <a:lstStyle/>
          <a:p>
            <a:pPr marL="203200" marR="6350" indent="0">
              <a:spcAft>
                <a:spcPts val="0"/>
              </a:spcAft>
              <a:buNone/>
            </a:pP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Each of the above  core processors ( brand modifiers ) have various generations (1 to 13)</a:t>
            </a:r>
            <a:endParaRPr lang="en-IN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03200" marR="6350" indent="0">
              <a:spcAft>
                <a:spcPts val="0"/>
              </a:spcAft>
              <a:buNone/>
            </a:pP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 main difference between different generations is the architecture. They also got better RAM support, cache support, and overclocking capabilities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4585024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-1" y="1905000"/>
          <a:ext cx="9144003" cy="3234436"/>
        </p:xfrm>
        <a:graphic>
          <a:graphicData uri="http://schemas.openxmlformats.org/drawingml/2006/table">
            <a:tbl>
              <a:tblPr/>
              <a:tblGrid>
                <a:gridCol w="7156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02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79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79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79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979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979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9795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9795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6160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2951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29514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61602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29514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61602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29514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461602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597954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</a:tblGrid>
              <a:tr h="0">
                <a:tc rowSpan="3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950" b="1" dirty="0">
                          <a:solidFill>
                            <a:srgbClr val="202122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Processor</a:t>
                      </a:r>
                      <a:br>
                        <a:rPr lang="en-US" sz="950" b="1" dirty="0">
                          <a:solidFill>
                            <a:srgbClr val="202122"/>
                          </a:solidFill>
                          <a:latin typeface="Arial"/>
                          <a:ea typeface="Times New Roman"/>
                          <a:cs typeface="Times New Roman"/>
                        </a:rPr>
                      </a:br>
                      <a:r>
                        <a:rPr lang="en-US" sz="950" b="1" dirty="0">
                          <a:solidFill>
                            <a:srgbClr val="202122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family</a:t>
                      </a:r>
                      <a:endParaRPr lang="en-US" sz="1200" b="1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0960" marR="180975" marT="30480" marB="30480"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 rowSpan="2" gridSpan="3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950" b="1" u="none" strike="noStrike" dirty="0">
                          <a:solidFill>
                            <a:srgbClr val="3366CC"/>
                          </a:solidFill>
                          <a:latin typeface="Arial"/>
                          <a:ea typeface="Times New Roman"/>
                          <a:cs typeface="Times New Roman"/>
                          <a:hlinkClick r:id="rId2" tooltip="CPU core"/>
                        </a:rPr>
                        <a:t>Cores</a:t>
                      </a:r>
                      <a:endParaRPr lang="en-US" sz="1200" b="1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950" b="1" u="none" strike="noStrike">
                          <a:solidFill>
                            <a:srgbClr val="3366CC"/>
                          </a:solidFill>
                          <a:latin typeface="Arial"/>
                          <a:ea typeface="Times New Roman"/>
                          <a:cs typeface="Times New Roman"/>
                          <a:hlinkClick r:id="rId3" tooltip="Clock rate"/>
                        </a:rPr>
                        <a:t>Clock rate</a:t>
                      </a:r>
                      <a:r>
                        <a:rPr lang="en-US" sz="950" b="1">
                          <a:solidFill>
                            <a:srgbClr val="202122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 (GHz)</a:t>
                      </a:r>
                      <a:endParaRPr lang="en-US" sz="1200" b="1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0960" marR="180975" marT="30480" marB="30480"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950" b="1">
                          <a:solidFill>
                            <a:srgbClr val="202122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Integrated graphics</a:t>
                      </a:r>
                      <a:endParaRPr lang="en-US" sz="1200" b="1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0960" marR="180975" marT="30480" marB="30480"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950" b="1">
                          <a:solidFill>
                            <a:srgbClr val="202122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Cache</a:t>
                      </a:r>
                      <a:endParaRPr lang="en-US" sz="1200" b="1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0960" marR="180975" marT="30480" marB="30480"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950" b="1">
                          <a:solidFill>
                            <a:srgbClr val="202122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watts</a:t>
                      </a:r>
                      <a:endParaRPr lang="en-US" sz="1200" b="1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0960" marR="180975" marT="30480" marB="30480"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950" b="1">
                          <a:solidFill>
                            <a:srgbClr val="202122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Price</a:t>
                      </a:r>
                      <a:br>
                        <a:rPr lang="en-US" sz="950" b="1">
                          <a:solidFill>
                            <a:srgbClr val="202122"/>
                          </a:solidFill>
                          <a:latin typeface="Arial"/>
                          <a:ea typeface="Times New Roman"/>
                          <a:cs typeface="Times New Roman"/>
                        </a:rPr>
                      </a:br>
                      <a:r>
                        <a:rPr lang="en-US" sz="950" b="1">
                          <a:solidFill>
                            <a:srgbClr val="202122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(USD)</a:t>
                      </a:r>
                      <a:endParaRPr lang="en-US" sz="1200" b="1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0960" marR="180975" marT="30480" marB="30480"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950" b="1">
                          <a:solidFill>
                            <a:srgbClr val="202122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Base</a:t>
                      </a:r>
                      <a:endParaRPr lang="en-US" sz="1200" b="1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950" b="1">
                          <a:solidFill>
                            <a:srgbClr val="202122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Turbo 2.0</a:t>
                      </a:r>
                      <a:endParaRPr lang="en-US" sz="1200" b="1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950" b="1">
                          <a:solidFill>
                            <a:srgbClr val="202122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Max. Turbo</a:t>
                      </a:r>
                      <a:endParaRPr lang="en-US" sz="1200" b="1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0960" marR="180975" marT="30480" marB="30480"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950" b="1">
                          <a:solidFill>
                            <a:srgbClr val="202122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Turbo max. 3.0</a:t>
                      </a:r>
                      <a:endParaRPr lang="en-US" sz="1200" b="1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950" b="1" u="none" strike="noStrike">
                          <a:solidFill>
                            <a:srgbClr val="3366CC"/>
                          </a:solidFill>
                          <a:latin typeface="Arial"/>
                          <a:ea typeface="Times New Roman"/>
                          <a:cs typeface="Times New Roman"/>
                          <a:hlinkClick r:id="rId4" tooltip="Intel Graphics Technology"/>
                        </a:rPr>
                        <a:t>GPU</a:t>
                      </a:r>
                      <a:endParaRPr lang="en-US" sz="1200" b="1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950" b="1">
                          <a:solidFill>
                            <a:srgbClr val="202122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Clock rate, max.</a:t>
                      </a:r>
                      <a:endParaRPr lang="en-US" sz="1200" b="1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950" b="1" u="none" strike="noStrike">
                          <a:solidFill>
                            <a:srgbClr val="3366CC"/>
                          </a:solidFill>
                          <a:latin typeface="Arial"/>
                          <a:ea typeface="Times New Roman"/>
                          <a:cs typeface="Times New Roman"/>
                          <a:hlinkClick r:id="rId5" tooltip="Execution units"/>
                        </a:rPr>
                        <a:t>EUs</a:t>
                      </a:r>
                      <a:endParaRPr lang="en-US" sz="1200" b="1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950" b="1">
                          <a:solidFill>
                            <a:srgbClr val="202122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L2 cache</a:t>
                      </a:r>
                      <a:endParaRPr lang="en-US" sz="1200" b="1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950" b="1">
                          <a:solidFill>
                            <a:srgbClr val="202122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Smart</a:t>
                      </a:r>
                      <a:br>
                        <a:rPr lang="en-US" sz="950" b="1">
                          <a:solidFill>
                            <a:srgbClr val="202122"/>
                          </a:solidFill>
                          <a:latin typeface="Arial"/>
                          <a:ea typeface="Times New Roman"/>
                          <a:cs typeface="Times New Roman"/>
                        </a:rPr>
                      </a:br>
                      <a:r>
                        <a:rPr lang="en-US" sz="950" b="1">
                          <a:solidFill>
                            <a:srgbClr val="202122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cache</a:t>
                      </a:r>
                      <a:endParaRPr lang="en-US" sz="1200" b="1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950" b="1">
                          <a:solidFill>
                            <a:srgbClr val="202122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Base</a:t>
                      </a:r>
                      <a:endParaRPr lang="en-US" sz="1200" b="1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950" b="1">
                          <a:solidFill>
                            <a:srgbClr val="202122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Turbo</a:t>
                      </a:r>
                      <a:endParaRPr lang="en-US" sz="1200" b="1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950" b="1">
                          <a:solidFill>
                            <a:srgbClr val="202122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P</a:t>
                      </a:r>
                      <a:endParaRPr lang="en-US" sz="1200" b="1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0960" marR="180975" marT="30480" marB="30480"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950" b="1">
                          <a:solidFill>
                            <a:srgbClr val="202122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E</a:t>
                      </a:r>
                      <a:endParaRPr lang="en-US" sz="1200" b="1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0960" marR="180975" marT="30480" marB="30480"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950" b="1" u="none" strike="noStrike">
                          <a:solidFill>
                            <a:srgbClr val="3366CC"/>
                          </a:solidFill>
                          <a:latin typeface="Arial"/>
                          <a:ea typeface="Times New Roman"/>
                          <a:cs typeface="Times New Roman"/>
                          <a:hlinkClick r:id="rId6" tooltip="Thread (computing)"/>
                        </a:rPr>
                        <a:t>Threads</a:t>
                      </a:r>
                      <a:endParaRPr lang="en-US" sz="1200" b="1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0960" marR="180975" marT="30480" marB="30480"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950" b="1">
                          <a:solidFill>
                            <a:srgbClr val="202122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P</a:t>
                      </a:r>
                      <a:endParaRPr lang="en-US" sz="1200" b="1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0960" marR="180975" marT="30480" marB="30480"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950" b="1" dirty="0">
                          <a:solidFill>
                            <a:srgbClr val="202122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E</a:t>
                      </a:r>
                      <a:endParaRPr lang="en-US" sz="1200" b="1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0960" marR="180975" marT="30480" marB="30480"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950" b="1">
                          <a:solidFill>
                            <a:srgbClr val="202122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P</a:t>
                      </a:r>
                      <a:endParaRPr lang="en-US" sz="1200" b="1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0960" marR="180975" marT="30480" marB="30480"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950" b="1">
                          <a:solidFill>
                            <a:srgbClr val="202122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E</a:t>
                      </a:r>
                      <a:endParaRPr lang="en-US" sz="1200" b="1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0960" marR="180975" marT="30480" marB="30480"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950" b="1" u="none" strike="noStrike" dirty="0">
                          <a:solidFill>
                            <a:srgbClr val="3366CC"/>
                          </a:solidFill>
                          <a:latin typeface="Arial"/>
                          <a:ea typeface="Times New Roman"/>
                          <a:cs typeface="Times New Roman"/>
                          <a:hlinkClick r:id="rId7" tooltip="List of Intel Core i9 processors"/>
                        </a:rPr>
                        <a:t>Core i9</a:t>
                      </a:r>
                      <a:endParaRPr lang="en-US" sz="1200" b="1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950" b="1">
                          <a:solidFill>
                            <a:srgbClr val="202122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8</a:t>
                      </a:r>
                      <a:endParaRPr lang="en-US" sz="1200" b="1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950" b="1">
                          <a:solidFill>
                            <a:srgbClr val="202122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16</a:t>
                      </a:r>
                      <a:endParaRPr lang="en-US" sz="1200" b="1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950" b="1">
                          <a:solidFill>
                            <a:srgbClr val="202122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32</a:t>
                      </a:r>
                      <a:endParaRPr lang="en-US" sz="1200" b="1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950" b="1">
                          <a:solidFill>
                            <a:srgbClr val="202122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3.0</a:t>
                      </a:r>
                      <a:endParaRPr lang="en-US" sz="1200" b="1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950" b="1" dirty="0">
                          <a:solidFill>
                            <a:srgbClr val="202122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2.2</a:t>
                      </a:r>
                      <a:endParaRPr lang="en-US" sz="1200" b="1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950" b="1">
                          <a:solidFill>
                            <a:srgbClr val="202122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5.5</a:t>
                      </a:r>
                      <a:endParaRPr lang="en-US" sz="1200" b="1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950" b="1">
                          <a:solidFill>
                            <a:srgbClr val="202122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4.3</a:t>
                      </a:r>
                      <a:endParaRPr lang="en-US" sz="1200" b="1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950" b="1">
                          <a:solidFill>
                            <a:srgbClr val="202122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5.8</a:t>
                      </a:r>
                      <a:endParaRPr lang="en-US" sz="1200" b="1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950" b="1">
                          <a:solidFill>
                            <a:srgbClr val="202122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5.7</a:t>
                      </a:r>
                      <a:endParaRPr lang="en-US" sz="1200" b="1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950" b="1" u="none" strike="noStrike">
                          <a:solidFill>
                            <a:srgbClr val="3366CC"/>
                          </a:solidFill>
                          <a:latin typeface="Arial"/>
                          <a:ea typeface="Times New Roman"/>
                          <a:cs typeface="Times New Roman"/>
                          <a:hlinkClick r:id="rId4" tooltip="Intel Graphics Technology"/>
                        </a:rPr>
                        <a:t>UHD 770</a:t>
                      </a:r>
                      <a:endParaRPr lang="en-US" sz="1200" b="1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950" b="1">
                          <a:solidFill>
                            <a:srgbClr val="202122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1.65 GHz</a:t>
                      </a:r>
                      <a:endParaRPr lang="en-US" sz="1200" b="1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950" b="1">
                          <a:solidFill>
                            <a:srgbClr val="202122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32</a:t>
                      </a:r>
                      <a:endParaRPr lang="en-US" sz="1200" b="1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950" b="1">
                          <a:solidFill>
                            <a:srgbClr val="202122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32 MB</a:t>
                      </a:r>
                      <a:endParaRPr lang="en-US" sz="1200" b="1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950" b="1">
                          <a:solidFill>
                            <a:srgbClr val="202122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36 MB</a:t>
                      </a:r>
                      <a:endParaRPr lang="en-US" sz="1200" b="1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950" b="1">
                          <a:solidFill>
                            <a:srgbClr val="202122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125</a:t>
                      </a:r>
                      <a:endParaRPr lang="en-US" sz="1200" b="1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950" b="1">
                          <a:solidFill>
                            <a:srgbClr val="202122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253</a:t>
                      </a:r>
                      <a:endParaRPr lang="en-US" sz="1200" b="1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950" b="1">
                          <a:solidFill>
                            <a:srgbClr val="202122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$589</a:t>
                      </a:r>
                      <a:endParaRPr lang="en-US" sz="1200" b="1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950" b="1" u="none" strike="noStrike" dirty="0">
                          <a:solidFill>
                            <a:srgbClr val="3366CC"/>
                          </a:solidFill>
                          <a:latin typeface="Arial"/>
                          <a:ea typeface="Times New Roman"/>
                          <a:cs typeface="Times New Roman"/>
                          <a:hlinkClick r:id="rId8" tooltip="List of Intel Core i7 processors"/>
                        </a:rPr>
                        <a:t>Core i7</a:t>
                      </a:r>
                      <a:endParaRPr lang="en-US" sz="1200" b="1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950" b="1">
                          <a:solidFill>
                            <a:srgbClr val="202122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8</a:t>
                      </a:r>
                      <a:endParaRPr lang="en-US" sz="1200" b="1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950" b="1">
                          <a:solidFill>
                            <a:srgbClr val="202122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8</a:t>
                      </a:r>
                      <a:endParaRPr lang="en-US" sz="1200" b="1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950" b="1">
                          <a:solidFill>
                            <a:srgbClr val="202122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24</a:t>
                      </a:r>
                      <a:endParaRPr lang="en-US" sz="1200" b="1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950" b="1">
                          <a:solidFill>
                            <a:srgbClr val="202122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3.4</a:t>
                      </a:r>
                      <a:endParaRPr lang="en-US" sz="1200" b="1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950" b="1" dirty="0">
                          <a:solidFill>
                            <a:srgbClr val="202122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2.5</a:t>
                      </a:r>
                      <a:endParaRPr lang="en-US" sz="1200" b="1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950" b="1">
                          <a:solidFill>
                            <a:srgbClr val="202122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5.3</a:t>
                      </a:r>
                      <a:endParaRPr lang="en-US" sz="1200" b="1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950" b="1">
                          <a:solidFill>
                            <a:srgbClr val="202122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4.2</a:t>
                      </a:r>
                      <a:endParaRPr lang="en-US" sz="1200" b="1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950" b="1">
                          <a:solidFill>
                            <a:srgbClr val="202122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5.4</a:t>
                      </a:r>
                      <a:endParaRPr lang="en-US" sz="1200" b="1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950" b="1" u="none" strike="noStrike">
                          <a:solidFill>
                            <a:srgbClr val="3366CC"/>
                          </a:solidFill>
                          <a:latin typeface="Arial"/>
                          <a:ea typeface="Times New Roman"/>
                          <a:cs typeface="Times New Roman"/>
                          <a:hlinkClick r:id="rId4" tooltip="Intel Graphics Technology"/>
                        </a:rPr>
                        <a:t>UHD 770</a:t>
                      </a:r>
                      <a:endParaRPr lang="en-US" sz="1200" b="1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950" b="1">
                          <a:solidFill>
                            <a:srgbClr val="202122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1.6 GHz</a:t>
                      </a:r>
                      <a:endParaRPr lang="en-US" sz="1200" b="1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950" b="1">
                          <a:solidFill>
                            <a:srgbClr val="202122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32</a:t>
                      </a:r>
                      <a:endParaRPr lang="en-US" sz="1200" b="1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950" b="1">
                          <a:solidFill>
                            <a:srgbClr val="202122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24 MB</a:t>
                      </a:r>
                      <a:endParaRPr lang="en-US" sz="1200" b="1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950" b="1">
                          <a:solidFill>
                            <a:srgbClr val="202122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30 MB</a:t>
                      </a:r>
                      <a:endParaRPr lang="en-US" sz="1200" b="1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950" b="1">
                          <a:solidFill>
                            <a:srgbClr val="202122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125</a:t>
                      </a:r>
                      <a:endParaRPr lang="en-US" sz="1200" b="1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950" b="1">
                          <a:solidFill>
                            <a:srgbClr val="202122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253</a:t>
                      </a:r>
                      <a:endParaRPr lang="en-US" sz="1200" b="1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950" b="1">
                          <a:solidFill>
                            <a:srgbClr val="202122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$409</a:t>
                      </a:r>
                      <a:endParaRPr lang="en-US" sz="1200" b="1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950" b="1" u="none" strike="noStrike" dirty="0">
                          <a:solidFill>
                            <a:srgbClr val="3366CC"/>
                          </a:solidFill>
                          <a:latin typeface="Arial"/>
                          <a:ea typeface="Times New Roman"/>
                          <a:cs typeface="Times New Roman"/>
                          <a:hlinkClick r:id="rId9" tooltip="List of Intel Core i5 processors"/>
                        </a:rPr>
                        <a:t>Core i5</a:t>
                      </a:r>
                      <a:endParaRPr lang="en-US" sz="1200" b="1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950" b="1">
                          <a:solidFill>
                            <a:srgbClr val="202122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6</a:t>
                      </a:r>
                      <a:endParaRPr lang="en-US" sz="1200" b="1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950" b="1">
                          <a:solidFill>
                            <a:srgbClr val="202122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8</a:t>
                      </a:r>
                      <a:endParaRPr lang="en-US" sz="1200" b="1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950" b="1">
                          <a:solidFill>
                            <a:srgbClr val="202122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20</a:t>
                      </a:r>
                      <a:endParaRPr lang="en-US" sz="1200" b="1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950" b="1">
                          <a:solidFill>
                            <a:srgbClr val="202122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3.5</a:t>
                      </a:r>
                      <a:endParaRPr lang="en-US" sz="1200" b="1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950" b="1" dirty="0">
                          <a:solidFill>
                            <a:srgbClr val="202122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2.6</a:t>
                      </a:r>
                      <a:endParaRPr lang="en-US" sz="1200" b="1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950" b="1">
                          <a:solidFill>
                            <a:srgbClr val="202122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5.1</a:t>
                      </a:r>
                      <a:endParaRPr lang="en-US" sz="1200" b="1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950" b="1">
                          <a:solidFill>
                            <a:srgbClr val="202122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3.9</a:t>
                      </a:r>
                      <a:endParaRPr lang="en-US" sz="1200" b="1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950" b="1">
                          <a:solidFill>
                            <a:srgbClr val="202122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5.1</a:t>
                      </a:r>
                      <a:endParaRPr lang="en-US" sz="1200" b="1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950" b="1">
                          <a:solidFill>
                            <a:srgbClr val="2C2C2C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—</a:t>
                      </a:r>
                      <a:endParaRPr lang="en-US" sz="1200" b="1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950" b="1">
                          <a:solidFill>
                            <a:srgbClr val="3366CC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UHD 770</a:t>
                      </a:r>
                      <a:endParaRPr lang="en-US" sz="1200" b="1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950" b="1">
                          <a:solidFill>
                            <a:srgbClr val="202122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1.5 GHz</a:t>
                      </a:r>
                      <a:endParaRPr lang="en-US" sz="1200" b="1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950" b="1">
                          <a:solidFill>
                            <a:srgbClr val="202122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32</a:t>
                      </a:r>
                      <a:endParaRPr lang="en-US" sz="1200" b="1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950" b="1">
                          <a:solidFill>
                            <a:srgbClr val="202122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20 MB</a:t>
                      </a:r>
                      <a:endParaRPr lang="en-US" sz="1200" b="1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950" b="1">
                          <a:solidFill>
                            <a:srgbClr val="202122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24 MB</a:t>
                      </a:r>
                      <a:endParaRPr lang="en-US" sz="1200" b="1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950" b="1">
                          <a:solidFill>
                            <a:srgbClr val="202122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125</a:t>
                      </a:r>
                      <a:endParaRPr lang="en-US" sz="1200" b="1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950" b="1">
                          <a:solidFill>
                            <a:srgbClr val="202122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181</a:t>
                      </a:r>
                      <a:endParaRPr lang="en-US" sz="1200" b="1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US" sz="950" b="1" dirty="0">
                          <a:solidFill>
                            <a:srgbClr val="202122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$319</a:t>
                      </a:r>
                      <a:endParaRPr lang="en-US" sz="1200" b="1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A1D1E-D559-4881-8E95-F29CCE77DFE1}" type="slidenum">
              <a:rPr lang="en-IN" smtClean="0"/>
              <a:pPr/>
              <a:t>26</a:t>
            </a:fld>
            <a:endParaRPr lang="en-IN"/>
          </a:p>
        </p:txBody>
      </p:sp>
      <p:sp>
        <p:nvSpPr>
          <p:cNvPr id="6" name="Rectangle 5"/>
          <p:cNvSpPr/>
          <p:nvPr/>
        </p:nvSpPr>
        <p:spPr>
          <a:xfrm>
            <a:off x="609600" y="457200"/>
            <a:ext cx="6477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13th generation Core Desktop (codenamed "Raptor Lake”)</a:t>
            </a:r>
          </a:p>
        </p:txBody>
      </p:sp>
    </p:spTree>
    <p:extLst>
      <p:ext uri="{BB962C8B-B14F-4D97-AF65-F5344CB8AC3E}">
        <p14:creationId xmlns:p14="http://schemas.microsoft.com/office/powerpoint/2010/main" val="28824295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</TotalTime>
  <Words>559</Words>
  <Application>Microsoft Office PowerPoint</Application>
  <PresentationFormat>On-screen Show (4:3)</PresentationFormat>
  <Paragraphs>150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ANA</dc:creator>
  <cp:lastModifiedBy>ANA</cp:lastModifiedBy>
  <cp:revision>33</cp:revision>
  <dcterms:created xsi:type="dcterms:W3CDTF">2022-10-11T04:02:31Z</dcterms:created>
  <dcterms:modified xsi:type="dcterms:W3CDTF">2026-01-27T03:34:43Z</dcterms:modified>
</cp:coreProperties>
</file>
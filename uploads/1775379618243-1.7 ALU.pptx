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6" r:id="rId6"/>
    <p:sldId id="267" r:id="rId7"/>
    <p:sldId id="259" r:id="rId8"/>
    <p:sldId id="26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atus_register" TargetMode="External"/><Relationship Id="rId2" Type="http://schemas.openxmlformats.org/officeDocument/2006/relationships/hyperlink" Target="https://en.wikipedia.org/wiki/Operan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Bitwise_opera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wo's_complement" TargetMode="External"/><Relationship Id="rId2" Type="http://schemas.openxmlformats.org/officeDocument/2006/relationships/hyperlink" Target="https://en.wikipedia.org/wiki/Bitwise_operati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sz="2800" dirty="0"/>
              <a:t>ALU</a:t>
            </a:r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000" dirty="0"/>
              <a:t>An </a:t>
            </a:r>
            <a:r>
              <a:rPr lang="en-US" sz="2000" b="1" dirty="0"/>
              <a:t>arithmetic logic unit</a:t>
            </a:r>
            <a:r>
              <a:rPr lang="en-US" sz="2000" dirty="0"/>
              <a:t> (ALU) is a combinational digital electronic circuit that performs arithmetic and bitwise logical operations on integer binary numbers. </a:t>
            </a:r>
          </a:p>
          <a:p>
            <a:pPr>
              <a:buFont typeface="Arial" charset="0"/>
              <a:buNone/>
            </a:pPr>
            <a:r>
              <a:rPr lang="en-US" sz="2000" dirty="0"/>
              <a:t>Other types  floating-point unit (FPU), which operates on floating point numbers and graphics processing units(GPUs).</a:t>
            </a:r>
          </a:p>
          <a:p>
            <a:pPr>
              <a:buFont typeface="Arial" charset="0"/>
              <a:buNone/>
            </a:pPr>
            <a:r>
              <a:rPr lang="en-US" sz="2000" dirty="0"/>
              <a:t> A single CPU, FPU or GPU may contain multiple ALUs.</a:t>
            </a:r>
          </a:p>
        </p:txBody>
      </p:sp>
      <p:pic>
        <p:nvPicPr>
          <p:cNvPr id="23554" name="Picture 2" descr="https://www.kullabs.com/uploads/alu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886200"/>
            <a:ext cx="4952999" cy="1850897"/>
          </a:xfrm>
          <a:prstGeom prst="rect">
            <a:avLst/>
          </a:prstGeom>
          <a:noFill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7300" y="3886200"/>
            <a:ext cx="40767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dirty="0"/>
              <a:t>The inputs to an ALU are the data to be operated on, called </a:t>
            </a:r>
            <a:r>
              <a:rPr lang="en-US" sz="2400" dirty="0">
                <a:hlinkClick r:id="rId2" tooltip="Operand"/>
              </a:rPr>
              <a:t>operands</a:t>
            </a:r>
            <a:r>
              <a:rPr lang="en-US" sz="2400" dirty="0"/>
              <a:t>, and a code indicating the operation to be performed; </a:t>
            </a:r>
          </a:p>
          <a:p>
            <a:pPr>
              <a:buFont typeface="Arial" charset="0"/>
              <a:buNone/>
            </a:pPr>
            <a:r>
              <a:rPr lang="en-US" sz="2400" dirty="0"/>
              <a:t>the ALU's output is the result of the performed operation. </a:t>
            </a:r>
          </a:p>
          <a:p>
            <a:pPr>
              <a:buFont typeface="Arial" charset="0"/>
              <a:buNone/>
            </a:pPr>
            <a:r>
              <a:rPr lang="en-US" sz="2400" dirty="0"/>
              <a:t>, the ALU also exchanges additional information with a </a:t>
            </a:r>
            <a:r>
              <a:rPr lang="en-US" sz="2400" dirty="0">
                <a:hlinkClick r:id="rId3" tooltip="Status register"/>
              </a:rPr>
              <a:t>status register</a:t>
            </a:r>
            <a:r>
              <a:rPr lang="en-US" sz="2400" dirty="0"/>
              <a:t>, which relates to the result of the current or previous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/>
              <a:t>Arithmetic operations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Add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  <a:r>
              <a:rPr lang="en-US" sz="2400" dirty="0"/>
              <a:t> A and B are summed and the sum appears at Y and carry-out.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Add with carry</a:t>
            </a:r>
            <a:r>
              <a:rPr lang="en-US" sz="2400" dirty="0"/>
              <a:t>: A, B and carry-in are summed and the sum appears at Y and carry-out.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Subtract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  <a:r>
              <a:rPr lang="en-US" sz="2400" dirty="0"/>
              <a:t> B is subtracted from A (or vice-versa) and the difference appears at Y and carry-out. For this function, carry-out is effectively a "borrow" indicator. 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Subtract with borrow</a:t>
            </a:r>
            <a:r>
              <a:rPr lang="en-US" sz="2400" dirty="0"/>
              <a:t>: B is subtracted from A (or vice-versa) with borrow (carry-in) and the difference appears at Y and carry-out (borrow out).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Two's complement (negate)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Increment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  <a:r>
              <a:rPr lang="en-US" sz="2400" dirty="0"/>
              <a:t> A (or B) is increased by one and the resulting value appears at Y.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Decrement</a:t>
            </a:r>
            <a:r>
              <a:rPr lang="en-US" sz="2400" dirty="0"/>
              <a:t>: A (or B) is decreased by one and the resulting value appears at Y.</a:t>
            </a:r>
          </a:p>
          <a:p>
            <a:pPr>
              <a:buFont typeface="Arial" charset="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Bitwise logical operations</a:t>
            </a:r>
          </a:p>
          <a:p>
            <a:r>
              <a:rPr lang="en-US" sz="2400" i="1" dirty="0">
                <a:hlinkClick r:id="rId2" tooltip="Bitwise operation"/>
              </a:rPr>
              <a:t>AND</a:t>
            </a:r>
            <a:r>
              <a:rPr lang="en-US" sz="2400" dirty="0"/>
              <a:t>: the bitwise AND of A and B appears at Y.</a:t>
            </a:r>
          </a:p>
          <a:p>
            <a:r>
              <a:rPr lang="en-US" sz="2400" i="1" dirty="0">
                <a:hlinkClick r:id="rId2" tooltip="Bitwise operation"/>
              </a:rPr>
              <a:t>OR</a:t>
            </a:r>
            <a:r>
              <a:rPr lang="en-US" sz="2400" dirty="0"/>
              <a:t>: the bitwise OR of A and B appears at Y.</a:t>
            </a:r>
          </a:p>
          <a:p>
            <a:r>
              <a:rPr lang="en-US" sz="2400" i="1" dirty="0">
                <a:hlinkClick r:id="rId2" tooltip="Bitwise operation"/>
              </a:rPr>
              <a:t>Exclusive-OR</a:t>
            </a:r>
            <a:r>
              <a:rPr lang="en-US" sz="2400" dirty="0"/>
              <a:t>: the bitwise XOR of A and B appears at Y.</a:t>
            </a:r>
          </a:p>
          <a:p>
            <a:r>
              <a:rPr lang="en-US" sz="2400" i="1" dirty="0">
                <a:hlinkClick r:id="rId2" tooltip="Bitwise operation"/>
              </a:rPr>
              <a:t>NOT</a:t>
            </a:r>
            <a:r>
              <a:rPr lang="en-US" sz="2400" dirty="0"/>
              <a:t>: all bits of A (or B) are inverted and appear at Y.</a:t>
            </a:r>
          </a:p>
          <a:p>
            <a:pPr>
              <a:buFont typeface="Arial" charset="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Bit shift operations</a:t>
            </a:r>
          </a:p>
          <a:p>
            <a:r>
              <a:rPr lang="en-US" sz="2400" dirty="0"/>
              <a:t>ALU shift operations cause operand A (or B) to shift left or right (depending on the opcode) and the shifted operand appears at Y. </a:t>
            </a:r>
          </a:p>
          <a:p>
            <a:pPr>
              <a:buFont typeface="Arial" charset="0"/>
              <a:buNone/>
            </a:pPr>
            <a:endParaRPr lang="en-US" sz="2400" dirty="0"/>
          </a:p>
          <a:p>
            <a:r>
              <a:rPr lang="en-US" sz="2400" i="1" dirty="0">
                <a:hlinkClick r:id="rId2" tooltip="Bitwise operation"/>
              </a:rPr>
              <a:t>Arithmetic shift</a:t>
            </a:r>
            <a:r>
              <a:rPr lang="en-US" sz="2400" dirty="0"/>
              <a:t>: the operand is treated as a </a:t>
            </a:r>
            <a:r>
              <a:rPr lang="en-US" sz="2400" dirty="0">
                <a:hlinkClick r:id="rId3" tooltip="Two's complement"/>
              </a:rPr>
              <a:t>two's complement</a:t>
            </a:r>
            <a:r>
              <a:rPr lang="en-US" sz="2400" dirty="0"/>
              <a:t> integer, meaning that the most significant bit is a "sign" bit and is preserved.</a:t>
            </a:r>
          </a:p>
          <a:p>
            <a:r>
              <a:rPr lang="en-US" sz="2400" i="1" dirty="0">
                <a:hlinkClick r:id="rId2" tooltip="Bitwise operation"/>
              </a:rPr>
              <a:t>Logical shift</a:t>
            </a:r>
            <a:r>
              <a:rPr lang="en-US" sz="2400" dirty="0"/>
              <a:t>: a logic zero is shifted into the operand. This is used to shift unsigned integers.</a:t>
            </a:r>
          </a:p>
          <a:p>
            <a:r>
              <a:rPr lang="en-US" sz="2400" i="1" dirty="0">
                <a:hlinkClick r:id="rId2" tooltip="Bitwise operation"/>
              </a:rPr>
              <a:t>Rotate</a:t>
            </a:r>
            <a:r>
              <a:rPr lang="en-US" sz="2400" dirty="0"/>
              <a:t>: the operand is treated as a circular buffer of bits so its least and most significant bits are effectively adjacent.</a:t>
            </a:r>
          </a:p>
          <a:p>
            <a:pPr>
              <a:buFont typeface="Arial" charset="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28600"/>
            <a:ext cx="44196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4114800"/>
            <a:ext cx="418147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pPr eaLnBrk="1" hangingPunct="1"/>
            <a:endParaRPr lang="en-US" sz="2800" dirty="0"/>
          </a:p>
        </p:txBody>
      </p:sp>
      <p:sp>
        <p:nvSpPr>
          <p:cNvPr id="61443" name="Content Placeholder 4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10200"/>
          </a:xfrm>
        </p:spPr>
        <p:txBody>
          <a:bodyPr/>
          <a:lstStyle/>
          <a:p>
            <a:pPr>
              <a:buFont typeface="Arial" charset="0"/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427</Words>
  <Application>Microsoft Office PowerPoint</Application>
  <PresentationFormat>On-screen Show (4:3)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ALU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HODIT</dc:creator>
  <cp:lastModifiedBy>ANA</cp:lastModifiedBy>
  <cp:revision>12</cp:revision>
  <dcterms:created xsi:type="dcterms:W3CDTF">2006-08-16T00:00:00Z</dcterms:created>
  <dcterms:modified xsi:type="dcterms:W3CDTF">2026-01-27T04:14:29Z</dcterms:modified>
</cp:coreProperties>
</file>
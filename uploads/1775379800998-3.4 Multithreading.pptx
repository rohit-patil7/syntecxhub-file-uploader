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4"/>
  </p:notesMasterIdLst>
  <p:sldIdLst>
    <p:sldId id="384" r:id="rId3"/>
    <p:sldId id="387" r:id="rId4"/>
    <p:sldId id="388" r:id="rId5"/>
    <p:sldId id="389" r:id="rId6"/>
    <p:sldId id="390" r:id="rId7"/>
    <p:sldId id="391" r:id="rId8"/>
    <p:sldId id="392" r:id="rId9"/>
    <p:sldId id="393" r:id="rId10"/>
    <p:sldId id="394" r:id="rId11"/>
    <p:sldId id="395" r:id="rId12"/>
    <p:sldId id="396" r:id="rId13"/>
    <p:sldId id="397" r:id="rId14"/>
    <p:sldId id="398" r:id="rId15"/>
    <p:sldId id="399" r:id="rId16"/>
    <p:sldId id="400" r:id="rId17"/>
    <p:sldId id="401" r:id="rId18"/>
    <p:sldId id="408" r:id="rId19"/>
    <p:sldId id="409" r:id="rId20"/>
    <p:sldId id="410" r:id="rId21"/>
    <p:sldId id="415" r:id="rId22"/>
    <p:sldId id="402" r:id="rId23"/>
    <p:sldId id="404" r:id="rId24"/>
    <p:sldId id="405" r:id="rId25"/>
    <p:sldId id="403" r:id="rId26"/>
    <p:sldId id="406" r:id="rId27"/>
    <p:sldId id="407" r:id="rId28"/>
    <p:sldId id="411" r:id="rId29"/>
    <p:sldId id="412" r:id="rId30"/>
    <p:sldId id="413" r:id="rId31"/>
    <p:sldId id="414" r:id="rId32"/>
    <p:sldId id="381" r:id="rId33"/>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014" autoAdjust="0"/>
  </p:normalViewPr>
  <p:slideViewPr>
    <p:cSldViewPr>
      <p:cViewPr varScale="1">
        <p:scale>
          <a:sx n="65" d="100"/>
          <a:sy n="65" d="100"/>
        </p:scale>
        <p:origin x="2124"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6" rIns="96653" bIns="48326"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53" tIns="48326" rIns="96653" bIns="48326" rtlCol="0"/>
          <a:lstStyle>
            <a:lvl1pPr algn="r">
              <a:defRPr sz="1300"/>
            </a:lvl1pPr>
          </a:lstStyle>
          <a:p>
            <a:fld id="{209AA56D-2B97-4820-A483-5AB4FB9D9B91}" type="datetimeFigureOut">
              <a:rPr lang="en-US" smtClean="0"/>
              <a:pPr/>
              <a:t>9/24/2025</a:t>
            </a:fld>
            <a:endParaRPr lang="en-US"/>
          </a:p>
        </p:txBody>
      </p:sp>
      <p:sp>
        <p:nvSpPr>
          <p:cNvPr id="4" name="Slide Image Placeholder 3"/>
          <p:cNvSpPr>
            <a:spLocks noGrp="1" noRot="1" noChangeAspect="1"/>
          </p:cNvSpPr>
          <p:nvPr>
            <p:ph type="sldImg" idx="2"/>
          </p:nvPr>
        </p:nvSpPr>
        <p:spPr>
          <a:xfrm>
            <a:off x="1257300" y="720725"/>
            <a:ext cx="4802188" cy="3600450"/>
          </a:xfrm>
          <a:prstGeom prst="rect">
            <a:avLst/>
          </a:prstGeom>
          <a:noFill/>
          <a:ln w="12700">
            <a:solidFill>
              <a:prstClr val="black"/>
            </a:solidFill>
          </a:ln>
        </p:spPr>
        <p:txBody>
          <a:bodyPr vert="horz" lIns="96653" tIns="48326" rIns="96653" bIns="48326"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53" tIns="48326" rIns="96653" bIns="4832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53" tIns="48326" rIns="96653" bIns="48326"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53" tIns="48326" rIns="96653" bIns="48326" rtlCol="0" anchor="b"/>
          <a:lstStyle>
            <a:lvl1pPr algn="r">
              <a:defRPr sz="1300"/>
            </a:lvl1pPr>
          </a:lstStyle>
          <a:p>
            <a:fld id="{23256408-1A6B-46EE-9A18-925E31DA396E}" type="slidenum">
              <a:rPr lang="en-US" smtClean="0"/>
              <a:pPr/>
              <a:t>‹#›</a:t>
            </a:fld>
            <a:endParaRPr lang="en-US"/>
          </a:p>
        </p:txBody>
      </p:sp>
    </p:spTree>
    <p:extLst>
      <p:ext uri="{BB962C8B-B14F-4D97-AF65-F5344CB8AC3E}">
        <p14:creationId xmlns:p14="http://schemas.microsoft.com/office/powerpoint/2010/main" val="955743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2:notes"/>
          <p:cNvSpPr txBox="1">
            <a:spLocks noGrp="1"/>
          </p:cNvSpPr>
          <p:nvPr>
            <p:ph type="body" idx="1"/>
          </p:nvPr>
        </p:nvSpPr>
        <p:spPr>
          <a:xfrm>
            <a:off x="731520" y="4560570"/>
            <a:ext cx="5852160" cy="4320540"/>
          </a:xfrm>
          <a:prstGeom prst="rect">
            <a:avLst/>
          </a:prstGeom>
        </p:spPr>
        <p:txBody>
          <a:bodyPr spcFirstLastPara="1" wrap="square" lIns="96645" tIns="48309" rIns="96645" bIns="48309" anchor="t" anchorCtr="0">
            <a:noAutofit/>
          </a:bodyPr>
          <a:lstStyle/>
          <a:p>
            <a:pPr marL="0" indent="0"/>
            <a:endParaRPr dirty="0"/>
          </a:p>
        </p:txBody>
      </p:sp>
      <p:sp>
        <p:nvSpPr>
          <p:cNvPr id="112" name="Google Shape;112;p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start() method</a:t>
            </a:r>
            <a:r>
              <a:rPr lang="en-US" dirty="0"/>
              <a:t> of Thread class is used to start a newly created thread. It performs following tasks: A new thread starts(with new </a:t>
            </a:r>
            <a:r>
              <a:rPr lang="en-US" dirty="0" err="1"/>
              <a:t>callstack</a:t>
            </a:r>
            <a:r>
              <a:rPr lang="en-US" dirty="0"/>
              <a:t>).</a:t>
            </a:r>
          </a:p>
          <a:p>
            <a:r>
              <a:rPr lang="en-US" dirty="0"/>
              <a:t>The thread moves from New state to the </a:t>
            </a:r>
            <a:r>
              <a:rPr lang="en-US" dirty="0" err="1"/>
              <a:t>Runnable</a:t>
            </a:r>
            <a:r>
              <a:rPr lang="en-US" dirty="0"/>
              <a:t> state.</a:t>
            </a:r>
          </a:p>
          <a:p>
            <a:r>
              <a:rPr lang="en-US" dirty="0"/>
              <a:t>When the thread gets a chance to execute, its target run() method will run.</a:t>
            </a:r>
          </a:p>
        </p:txBody>
      </p:sp>
      <p:sp>
        <p:nvSpPr>
          <p:cNvPr id="4" name="Slide Number Placeholder 3"/>
          <p:cNvSpPr>
            <a:spLocks noGrp="1"/>
          </p:cNvSpPr>
          <p:nvPr>
            <p:ph type="sldNum" sz="quarter" idx="10"/>
          </p:nvPr>
        </p:nvSpPr>
        <p:spPr/>
        <p:txBody>
          <a:bodyPr/>
          <a:lstStyle/>
          <a:p>
            <a:fld id="{23256408-1A6B-46EE-9A18-925E31DA396E}" type="slidenum">
              <a:rPr lang="en-US" smtClean="0"/>
              <a:pPr/>
              <a:t>12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Runnable</a:t>
            </a:r>
            <a:r>
              <a:rPr lang="en-US" dirty="0"/>
              <a:t> is an interface in Java used to define a task that can be executed by a thread.</a:t>
            </a:r>
          </a:p>
          <a:p>
            <a:r>
              <a:rPr lang="en-US" dirty="0"/>
              <a:t>It has only one method:</a:t>
            </a:r>
          </a:p>
          <a:p>
            <a:pPr rtl="0"/>
            <a:r>
              <a:rPr lang="en-US" dirty="0"/>
              <a:t>public void run(); </a:t>
            </a:r>
          </a:p>
          <a:p>
            <a:r>
              <a:rPr lang="en-US" dirty="0"/>
              <a:t>When a class implements </a:t>
            </a:r>
            <a:r>
              <a:rPr lang="en-US" b="1" dirty="0"/>
              <a:t>Runnable</a:t>
            </a:r>
            <a:r>
              <a:rPr lang="en-US" dirty="0"/>
              <a:t>, it must provide the implementation of the run() method.</a:t>
            </a:r>
          </a:p>
          <a:p>
            <a:r>
              <a:rPr lang="en-US" dirty="0"/>
              <a:t>You pass an instance of that class to a </a:t>
            </a:r>
            <a:r>
              <a:rPr lang="en-US" b="1" dirty="0"/>
              <a:t>Thread</a:t>
            </a:r>
            <a:r>
              <a:rPr lang="en-US" dirty="0"/>
              <a:t> object, which then executes the run() method in a new thread.</a:t>
            </a:r>
          </a:p>
          <a:p>
            <a:endParaRPr lang="en-IN" dirty="0"/>
          </a:p>
        </p:txBody>
      </p:sp>
      <p:sp>
        <p:nvSpPr>
          <p:cNvPr id="4" name="Slide Number Placeholder 3"/>
          <p:cNvSpPr>
            <a:spLocks noGrp="1"/>
          </p:cNvSpPr>
          <p:nvPr>
            <p:ph type="sldNum" sz="quarter" idx="5"/>
          </p:nvPr>
        </p:nvSpPr>
        <p:spPr/>
        <p:txBody>
          <a:bodyPr/>
          <a:lstStyle/>
          <a:p>
            <a:fld id="{23256408-1A6B-46EE-9A18-925E31DA396E}" type="slidenum">
              <a:rPr lang="en-US" smtClean="0"/>
              <a:pPr/>
              <a:t>13</a:t>
            </a:fld>
            <a:endParaRPr lang="en-US"/>
          </a:p>
        </p:txBody>
      </p:sp>
    </p:spTree>
    <p:extLst>
      <p:ext uri="{BB962C8B-B14F-4D97-AF65-F5344CB8AC3E}">
        <p14:creationId xmlns:p14="http://schemas.microsoft.com/office/powerpoint/2010/main" val="3869972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If you are not extending the Thread </a:t>
            </a:r>
            <a:r>
              <a:rPr lang="en-US" dirty="0" err="1"/>
              <a:t>class,your</a:t>
            </a:r>
            <a:r>
              <a:rPr lang="en-US" dirty="0"/>
              <a:t> class object would not be treated as a thread </a:t>
            </a:r>
            <a:r>
              <a:rPr lang="en-US" dirty="0" err="1"/>
              <a:t>object.So</a:t>
            </a:r>
            <a:r>
              <a:rPr lang="en-US" dirty="0"/>
              <a:t> you need to </a:t>
            </a:r>
            <a:r>
              <a:rPr lang="en-US" dirty="0" err="1"/>
              <a:t>explicitely</a:t>
            </a:r>
            <a:r>
              <a:rPr lang="en-US" dirty="0"/>
              <a:t> create Thread class </a:t>
            </a:r>
            <a:r>
              <a:rPr lang="en-US" dirty="0" err="1"/>
              <a:t>object.We</a:t>
            </a:r>
            <a:r>
              <a:rPr lang="en-US" dirty="0"/>
              <a:t> are passing the object of your class that implements Runnable so that your class run() method may execute.</a:t>
            </a:r>
          </a:p>
          <a:p>
            <a:pPr>
              <a:buFont typeface="+mj-lt"/>
              <a:buAutoNum type="arabicPeriod"/>
            </a:pPr>
            <a:r>
              <a:rPr lang="en-US" dirty="0"/>
              <a:t>The program starts from the main method.</a:t>
            </a:r>
          </a:p>
          <a:p>
            <a:pPr>
              <a:buFont typeface="+mj-lt"/>
              <a:buAutoNum type="arabicPeriod"/>
            </a:pPr>
            <a:r>
              <a:rPr lang="en-US" dirty="0"/>
              <a:t>An object a1 of class ABC is created — this represents the task to run.</a:t>
            </a:r>
          </a:p>
          <a:p>
            <a:pPr>
              <a:buFont typeface="+mj-lt"/>
              <a:buAutoNum type="arabicPeriod"/>
            </a:pPr>
            <a:r>
              <a:rPr lang="en-US" dirty="0"/>
              <a:t>A new Thread object t1 is created, and the Runnable object a1 is passed to it.</a:t>
            </a:r>
          </a:p>
          <a:p>
            <a:pPr>
              <a:buFont typeface="+mj-lt"/>
              <a:buAutoNum type="arabicPeriod"/>
            </a:pPr>
            <a:r>
              <a:rPr lang="en-US" dirty="0"/>
              <a:t>Calling t1.start() tells the JVM to start a new thread.</a:t>
            </a:r>
          </a:p>
          <a:p>
            <a:pPr>
              <a:buFont typeface="+mj-lt"/>
              <a:buAutoNum type="arabicPeriod"/>
            </a:pPr>
            <a:r>
              <a:rPr lang="en-US" dirty="0"/>
              <a:t>This new thread calls the run() method of a1, printing "thread is running...".</a:t>
            </a:r>
          </a:p>
          <a:p>
            <a:pPr>
              <a:buFont typeface="+mj-lt"/>
              <a:buAutoNum type="arabicPeriod"/>
            </a:pPr>
            <a:r>
              <a:rPr lang="en-US" dirty="0"/>
              <a:t>The main thread and this new thread run concurrently.</a:t>
            </a:r>
          </a:p>
          <a:p>
            <a:endParaRPr lang="en-US" dirty="0"/>
          </a:p>
        </p:txBody>
      </p:sp>
      <p:sp>
        <p:nvSpPr>
          <p:cNvPr id="4" name="Slide Number Placeholder 3"/>
          <p:cNvSpPr>
            <a:spLocks noGrp="1"/>
          </p:cNvSpPr>
          <p:nvPr>
            <p:ph type="sldNum" sz="quarter" idx="10"/>
          </p:nvPr>
        </p:nvSpPr>
        <p:spPr/>
        <p:txBody>
          <a:bodyPr/>
          <a:lstStyle/>
          <a:p>
            <a:fld id="{23256408-1A6B-46EE-9A18-925E31DA396E}" type="slidenum">
              <a:rPr lang="en-US" smtClean="0"/>
              <a:pPr/>
              <a:t>14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 </a:t>
            </a:r>
            <a:r>
              <a:rPr lang="en-US" b="1" dirty="0"/>
              <a:t>Daemon Thread</a:t>
            </a:r>
            <a:r>
              <a:rPr lang="en-US" dirty="0"/>
              <a:t> is a background service thread that provides support to user threads. It runs in the background and </a:t>
            </a:r>
            <a:r>
              <a:rPr lang="en-US" b="1" dirty="0"/>
              <a:t>does not prevent the JVM from exiting</a:t>
            </a:r>
            <a:r>
              <a:rPr lang="en-US" dirty="0"/>
              <a:t> once all user (non-daemon) threads are finished.</a:t>
            </a:r>
          </a:p>
        </p:txBody>
      </p:sp>
      <p:sp>
        <p:nvSpPr>
          <p:cNvPr id="4" name="Slide Number Placeholder 3"/>
          <p:cNvSpPr>
            <a:spLocks noGrp="1"/>
          </p:cNvSpPr>
          <p:nvPr>
            <p:ph type="sldNum" sz="quarter" idx="10"/>
          </p:nvPr>
        </p:nvSpPr>
        <p:spPr/>
        <p:txBody>
          <a:bodyPr/>
          <a:lstStyle/>
          <a:p>
            <a:fld id="{23256408-1A6B-46EE-9A18-925E31DA396E}" type="slidenum">
              <a:rPr lang="en-US" smtClean="0"/>
              <a:pPr/>
              <a:t>17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3256408-1A6B-46EE-9A18-925E31DA396E}" type="slidenum">
              <a:rPr lang="en-US" smtClean="0"/>
              <a:pPr/>
              <a:t>19</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If you declare any method as synchronized, it is known as synchronized method.</a:t>
            </a:r>
          </a:p>
          <a:p>
            <a:r>
              <a:rPr lang="en-US" dirty="0"/>
              <a:t>Synchronized method is used to lock an object for any shared resource.</a:t>
            </a:r>
          </a:p>
          <a:p>
            <a:r>
              <a:rPr lang="en-US" dirty="0"/>
              <a:t>When a thread invokes a synchronized method, it automatically acquires the lock for that object and releases it when the thread completes its task.</a:t>
            </a:r>
          </a:p>
          <a:p>
            <a:endParaRPr lang="en-US" dirty="0"/>
          </a:p>
        </p:txBody>
      </p:sp>
      <p:sp>
        <p:nvSpPr>
          <p:cNvPr id="4" name="Slide Number Placeholder 3"/>
          <p:cNvSpPr>
            <a:spLocks noGrp="1"/>
          </p:cNvSpPr>
          <p:nvPr>
            <p:ph type="sldNum" sz="quarter" idx="10"/>
          </p:nvPr>
        </p:nvSpPr>
        <p:spPr/>
        <p:txBody>
          <a:bodyPr/>
          <a:lstStyle/>
          <a:p>
            <a:fld id="{23256408-1A6B-46EE-9A18-925E31DA396E}" type="slidenum">
              <a:rPr lang="en-US" smtClean="0"/>
              <a:pPr/>
              <a:t>24</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1) wait() method</a:t>
            </a:r>
          </a:p>
          <a:p>
            <a:r>
              <a:rPr lang="en-US" dirty="0"/>
              <a:t>Causes current thread to release the lock and wait until either another thread invokes the notify() method or the </a:t>
            </a:r>
            <a:r>
              <a:rPr lang="en-US" dirty="0" err="1"/>
              <a:t>notifyAll</a:t>
            </a:r>
            <a:r>
              <a:rPr lang="en-US" dirty="0"/>
              <a:t>() method for this object, or a specified amount of time has elapsed.</a:t>
            </a:r>
          </a:p>
          <a:p>
            <a:r>
              <a:rPr lang="en-US" dirty="0"/>
              <a:t>The current thread must own this object's monitor, so it must be called from the synchronized method only otherwise it will throw exception.</a:t>
            </a:r>
            <a:endParaRPr lang="en-US" b="1" dirty="0"/>
          </a:p>
          <a:p>
            <a:r>
              <a:rPr lang="en-US" b="1" dirty="0"/>
              <a:t>2) notify() method</a:t>
            </a:r>
          </a:p>
          <a:p>
            <a:r>
              <a:rPr lang="en-US" dirty="0"/>
              <a:t>Wakes up a single thread that is waiting on this object's monitor. If any threads are waiting on this object, one of them is chosen to be awakened. The choice is arbitrary and occurs at the discretion of the implementation. Syntax: </a:t>
            </a:r>
          </a:p>
          <a:p>
            <a:r>
              <a:rPr lang="en-US" dirty="0"/>
              <a:t>public final void notify()</a:t>
            </a:r>
          </a:p>
          <a:p>
            <a:r>
              <a:rPr lang="en-US" b="1" dirty="0"/>
              <a:t>3) </a:t>
            </a:r>
            <a:r>
              <a:rPr lang="en-US" b="1" dirty="0" err="1"/>
              <a:t>notifyAll</a:t>
            </a:r>
            <a:r>
              <a:rPr lang="en-US" b="1" dirty="0"/>
              <a:t>() method</a:t>
            </a:r>
          </a:p>
          <a:p>
            <a:r>
              <a:rPr lang="en-US" dirty="0"/>
              <a:t>Wakes up all threads that are waiting on this object's monitor. Syntax: </a:t>
            </a:r>
          </a:p>
          <a:p>
            <a:r>
              <a:rPr lang="en-US" dirty="0"/>
              <a:t>public final void </a:t>
            </a:r>
            <a:r>
              <a:rPr lang="en-US" dirty="0" err="1"/>
              <a:t>notifyAll</a:t>
            </a:r>
            <a:r>
              <a:rPr lang="en-US" dirty="0"/>
              <a:t>()</a:t>
            </a:r>
          </a:p>
          <a:p>
            <a:endParaRPr lang="en-US" dirty="0"/>
          </a:p>
        </p:txBody>
      </p:sp>
      <p:sp>
        <p:nvSpPr>
          <p:cNvPr id="4" name="Slide Number Placeholder 3"/>
          <p:cNvSpPr>
            <a:spLocks noGrp="1"/>
          </p:cNvSpPr>
          <p:nvPr>
            <p:ph type="sldNum" sz="quarter" idx="10"/>
          </p:nvPr>
        </p:nvSpPr>
        <p:spPr/>
        <p:txBody>
          <a:bodyPr/>
          <a:lstStyle/>
          <a:p>
            <a:fld id="{23256408-1A6B-46EE-9A18-925E31DA396E}" type="slidenum">
              <a:rPr lang="en-US" smtClean="0"/>
              <a:pPr/>
              <a:t>25</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err="1"/>
              <a:t>isAlive</a:t>
            </a:r>
            <a:r>
              <a:rPr lang="en-US" b="1" dirty="0"/>
              <a:t>()</a:t>
            </a:r>
            <a:r>
              <a:rPr lang="en-US" dirty="0"/>
              <a:t> → checks if a thread is still running (true) or finished (false).</a:t>
            </a:r>
          </a:p>
          <a:p>
            <a:r>
              <a:rPr lang="en-US" b="1" dirty="0"/>
              <a:t>join()</a:t>
            </a:r>
            <a:r>
              <a:rPr lang="en-US" dirty="0"/>
              <a:t> → makes the main thread wait until the given thread finishes execution.</a:t>
            </a:r>
          </a:p>
          <a:p>
            <a:r>
              <a:rPr lang="en-US" dirty="0"/>
              <a:t>Before starting, all threads are </a:t>
            </a:r>
            <a:r>
              <a:rPr lang="en-US" b="1" dirty="0"/>
              <a:t>not alive</a:t>
            </a:r>
            <a:r>
              <a:rPr lang="en-US" dirty="0"/>
              <a:t>.</a:t>
            </a:r>
          </a:p>
          <a:p>
            <a:r>
              <a:rPr lang="en-US" dirty="0"/>
              <a:t>After calling start(), they become </a:t>
            </a:r>
            <a:r>
              <a:rPr lang="en-US" b="1" dirty="0"/>
              <a:t>alive</a:t>
            </a:r>
            <a:r>
              <a:rPr lang="en-US" dirty="0"/>
              <a:t>.</a:t>
            </a:r>
          </a:p>
          <a:p>
            <a:r>
              <a:rPr lang="en-US" dirty="0"/>
              <a:t>After join(), main thread waits for them, and once finished, they are </a:t>
            </a:r>
            <a:r>
              <a:rPr lang="en-US" b="1" dirty="0"/>
              <a:t>not alive</a:t>
            </a:r>
            <a:r>
              <a:rPr lang="en-US" dirty="0"/>
              <a:t> again.</a:t>
            </a:r>
          </a:p>
          <a:p>
            <a:r>
              <a:rPr lang="en-US" dirty="0"/>
              <a:t>👉 This way, you can </a:t>
            </a:r>
            <a:r>
              <a:rPr lang="en-US" b="1" dirty="0"/>
              <a:t>manage multiple threads</a:t>
            </a:r>
            <a:r>
              <a:rPr lang="en-US" dirty="0"/>
              <a:t> properly.</a:t>
            </a:r>
          </a:p>
          <a:p>
            <a:endParaRPr lang="en-US" dirty="0"/>
          </a:p>
        </p:txBody>
      </p:sp>
      <p:sp>
        <p:nvSpPr>
          <p:cNvPr id="4" name="Slide Number Placeholder 3"/>
          <p:cNvSpPr>
            <a:spLocks noGrp="1"/>
          </p:cNvSpPr>
          <p:nvPr>
            <p:ph type="sldNum" sz="quarter" idx="10"/>
          </p:nvPr>
        </p:nvSpPr>
        <p:spPr/>
        <p:txBody>
          <a:bodyPr/>
          <a:lstStyle/>
          <a:p>
            <a:fld id="{23256408-1A6B-46EE-9A18-925E31DA396E}" type="slidenum">
              <a:rPr lang="en-US" smtClean="0"/>
              <a:pPr/>
              <a:t>27</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Output behavior:</a:t>
            </a:r>
          </a:p>
          <a:p>
            <a:r>
              <a:rPr lang="en-US" b="1" dirty="0"/>
              <a:t>Before starting</a:t>
            </a:r>
            <a:r>
              <a:rPr lang="en-US" dirty="0"/>
              <a:t> → all threads return false for </a:t>
            </a:r>
            <a:r>
              <a:rPr lang="en-US" dirty="0" err="1"/>
              <a:t>isAlive</a:t>
            </a:r>
            <a:r>
              <a:rPr lang="en-US" dirty="0"/>
              <a:t>().</a:t>
            </a:r>
          </a:p>
          <a:p>
            <a:r>
              <a:rPr lang="en-US" b="1" dirty="0"/>
              <a:t>After starting</a:t>
            </a:r>
            <a:r>
              <a:rPr lang="en-US" dirty="0"/>
              <a:t> → they return true (running/ready to run).</a:t>
            </a:r>
          </a:p>
          <a:p>
            <a:r>
              <a:rPr lang="en-US" b="1" dirty="0"/>
              <a:t>After join</a:t>
            </a:r>
            <a:r>
              <a:rPr lang="en-US" dirty="0"/>
              <a:t> → they return false again (completed).</a:t>
            </a:r>
          </a:p>
          <a:p>
            <a:r>
              <a:rPr lang="en-US" dirty="0"/>
              <a:t>join() ensures the main thread waits until all child threads finish.</a:t>
            </a:r>
          </a:p>
          <a:p>
            <a:endParaRPr lang="en-US" dirty="0"/>
          </a:p>
        </p:txBody>
      </p:sp>
      <p:sp>
        <p:nvSpPr>
          <p:cNvPr id="4" name="Slide Number Placeholder 3"/>
          <p:cNvSpPr>
            <a:spLocks noGrp="1"/>
          </p:cNvSpPr>
          <p:nvPr>
            <p:ph type="sldNum" sz="quarter" idx="10"/>
          </p:nvPr>
        </p:nvSpPr>
        <p:spPr/>
        <p:txBody>
          <a:bodyPr/>
          <a:lstStyle/>
          <a:p>
            <a:fld id="{23256408-1A6B-46EE-9A18-925E31DA396E}" type="slidenum">
              <a:rPr lang="en-US" smtClean="0"/>
              <a:pPr/>
              <a:t>28</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In this above program two thread t1 and t2 are created. t1 starts first and after printing "r1" on console thread t1 goes to sleep for 500 </a:t>
            </a:r>
            <a:r>
              <a:rPr lang="en-US" dirty="0" err="1"/>
              <a:t>ms.</a:t>
            </a:r>
            <a:r>
              <a:rPr lang="en-US" dirty="0"/>
              <a:t> At the same time Thread t2 will start its process and print "r1" on console and then go into sleep for 500 </a:t>
            </a:r>
            <a:r>
              <a:rPr lang="en-US" dirty="0" err="1"/>
              <a:t>ms.</a:t>
            </a:r>
            <a:r>
              <a:rPr lang="en-US" dirty="0"/>
              <a:t> Thread t1 will wake up from sleep and print "r2" on console similarly thread t2 will wake up from sleep and print "r2" on console. So you will get output like r1 </a:t>
            </a:r>
            <a:r>
              <a:rPr lang="en-US" dirty="0" err="1"/>
              <a:t>r1</a:t>
            </a:r>
            <a:r>
              <a:rPr lang="en-US" dirty="0"/>
              <a:t> r2 </a:t>
            </a:r>
            <a:r>
              <a:rPr lang="en-US" dirty="0" err="1"/>
              <a:t>r2</a:t>
            </a:r>
            <a:r>
              <a:rPr lang="en-US" dirty="0"/>
              <a:t>.</a:t>
            </a:r>
          </a:p>
        </p:txBody>
      </p:sp>
      <p:sp>
        <p:nvSpPr>
          <p:cNvPr id="4" name="Slide Number Placeholder 3"/>
          <p:cNvSpPr>
            <a:spLocks noGrp="1"/>
          </p:cNvSpPr>
          <p:nvPr>
            <p:ph type="sldNum" sz="quarter" idx="10"/>
          </p:nvPr>
        </p:nvSpPr>
        <p:spPr/>
        <p:txBody>
          <a:bodyPr/>
          <a:lstStyle/>
          <a:p>
            <a:fld id="{23256408-1A6B-46EE-9A18-925E31DA396E}" type="slidenum">
              <a:rPr lang="en-US" smtClean="0"/>
              <a:pPr/>
              <a:t>29</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In this above program join() method on thread t1 ensures that t1 finishes it process before thread t2 starts.</a:t>
            </a:r>
          </a:p>
        </p:txBody>
      </p:sp>
      <p:sp>
        <p:nvSpPr>
          <p:cNvPr id="4" name="Slide Number Placeholder 3"/>
          <p:cNvSpPr>
            <a:spLocks noGrp="1"/>
          </p:cNvSpPr>
          <p:nvPr>
            <p:ph type="sldNum" sz="quarter" idx="10"/>
          </p:nvPr>
        </p:nvSpPr>
        <p:spPr/>
        <p:txBody>
          <a:bodyPr/>
          <a:lstStyle/>
          <a:p>
            <a:fld id="{23256408-1A6B-46EE-9A18-925E31DA396E}" type="slidenum">
              <a:rPr lang="en-US" smtClean="0"/>
              <a:pPr/>
              <a:t>30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B6BF51C-33BA-4989-A37D-1791FD932442}" type="datetimeFigureOut">
              <a:rPr lang="en-US" smtClean="0"/>
              <a:pPr/>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30D112-FEE3-4E05-BD32-7F752707E364}" type="slidenum">
              <a:rPr lang="en-US" smtClean="0"/>
              <a:pPr/>
              <a:t>‹#›</a:t>
            </a:fld>
            <a:endParaRPr lang="en-US"/>
          </a:p>
        </p:txBody>
      </p:sp>
    </p:spTree>
    <p:extLst>
      <p:ext uri="{BB962C8B-B14F-4D97-AF65-F5344CB8AC3E}">
        <p14:creationId xmlns:p14="http://schemas.microsoft.com/office/powerpoint/2010/main" val="21920746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a:t>Click to edit Master title style</a:t>
            </a:r>
          </a:p>
        </p:txBody>
      </p:sp>
      <p:sp>
        <p:nvSpPr>
          <p:cNvPr id="3" name="Content Placeholder 2"/>
          <p:cNvSpPr>
            <a:spLocks noGrp="1"/>
          </p:cNvSpPr>
          <p:nvPr>
            <p:ph idx="1"/>
          </p:nvPr>
        </p:nvSpPr>
        <p:spPr>
          <a:xfrm>
            <a:off x="457200" y="1295400"/>
            <a:ext cx="8229600" cy="4830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6BF51C-33BA-4989-A37D-1791FD932442}" type="datetimeFigureOut">
              <a:rPr lang="en-US" smtClean="0"/>
              <a:pPr/>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30D112-FEE3-4E05-BD32-7F752707E364}" type="slidenum">
              <a:rPr lang="en-US" smtClean="0"/>
              <a:pPr/>
              <a:t>‹#›</a:t>
            </a:fld>
            <a:endParaRPr lang="en-US"/>
          </a:p>
        </p:txBody>
      </p:sp>
    </p:spTree>
    <p:extLst>
      <p:ext uri="{BB962C8B-B14F-4D97-AF65-F5344CB8AC3E}">
        <p14:creationId xmlns:p14="http://schemas.microsoft.com/office/powerpoint/2010/main" val="42306590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6BF51C-33BA-4989-A37D-1791FD932442}" type="datetimeFigureOut">
              <a:rPr lang="en-US" smtClean="0"/>
              <a:pPr/>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30D112-FEE3-4E05-BD32-7F752707E364}" type="slidenum">
              <a:rPr lang="en-US" smtClean="0"/>
              <a:pPr/>
              <a:t>‹#›</a:t>
            </a:fld>
            <a:endParaRPr lang="en-US"/>
          </a:p>
        </p:txBody>
      </p:sp>
    </p:spTree>
    <p:extLst>
      <p:ext uri="{BB962C8B-B14F-4D97-AF65-F5344CB8AC3E}">
        <p14:creationId xmlns:p14="http://schemas.microsoft.com/office/powerpoint/2010/main" val="1168441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B6BF51C-33BA-4989-A37D-1791FD932442}" type="datetimeFigureOut">
              <a:rPr lang="en-US" smtClean="0"/>
              <a:pPr/>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30D112-FEE3-4E05-BD32-7F752707E364}" type="slidenum">
              <a:rPr lang="en-US" smtClean="0"/>
              <a:pPr/>
              <a:t>‹#›</a:t>
            </a:fld>
            <a:endParaRPr lang="en-US"/>
          </a:p>
        </p:txBody>
      </p:sp>
    </p:spTree>
    <p:extLst>
      <p:ext uri="{BB962C8B-B14F-4D97-AF65-F5344CB8AC3E}">
        <p14:creationId xmlns:p14="http://schemas.microsoft.com/office/powerpoint/2010/main" val="17737318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B6BF51C-33BA-4989-A37D-1791FD932442}" type="datetimeFigureOut">
              <a:rPr lang="en-US" smtClean="0"/>
              <a:pPr/>
              <a:t>9/24/2025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30D112-FEE3-4E05-BD32-7F752707E364}" type="slidenum">
              <a:rPr lang="en-US" smtClean="0"/>
              <a:pPr/>
              <a:t>‹#›</a:t>
            </a:fld>
            <a:endParaRPr lang="en-US"/>
          </a:p>
        </p:txBody>
      </p:sp>
    </p:spTree>
    <p:extLst>
      <p:ext uri="{BB962C8B-B14F-4D97-AF65-F5344CB8AC3E}">
        <p14:creationId xmlns:p14="http://schemas.microsoft.com/office/powerpoint/2010/main" val="90568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B6BF51C-33BA-4989-A37D-1791FD932442}" type="datetimeFigureOut">
              <a:rPr lang="en-US" smtClean="0"/>
              <a:pPr/>
              <a:t>9/24/2025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30D112-FEE3-4E05-BD32-7F752707E364}" type="slidenum">
              <a:rPr lang="en-US" smtClean="0"/>
              <a:pPr/>
              <a:t>‹#›</a:t>
            </a:fld>
            <a:endParaRPr lang="en-US"/>
          </a:p>
        </p:txBody>
      </p:sp>
    </p:spTree>
    <p:extLst>
      <p:ext uri="{BB962C8B-B14F-4D97-AF65-F5344CB8AC3E}">
        <p14:creationId xmlns:p14="http://schemas.microsoft.com/office/powerpoint/2010/main" val="2389089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6BF51C-33BA-4989-A37D-1791FD932442}" type="datetimeFigureOut">
              <a:rPr lang="en-US" smtClean="0"/>
              <a:pPr/>
              <a:t>9/24/2025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430D112-FEE3-4E05-BD32-7F752707E364}" type="slidenum">
              <a:rPr lang="en-US" smtClean="0"/>
              <a:pPr/>
              <a:t>‹#›</a:t>
            </a:fld>
            <a:endParaRPr lang="en-US"/>
          </a:p>
        </p:txBody>
      </p:sp>
    </p:spTree>
    <p:extLst>
      <p:ext uri="{BB962C8B-B14F-4D97-AF65-F5344CB8AC3E}">
        <p14:creationId xmlns:p14="http://schemas.microsoft.com/office/powerpoint/2010/main" val="705931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6BF51C-33BA-4989-A37D-1791FD932442}" type="datetimeFigureOut">
              <a:rPr lang="en-US" smtClean="0"/>
              <a:pPr/>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30D112-FEE3-4E05-BD32-7F752707E364}" type="slidenum">
              <a:rPr lang="en-US" smtClean="0"/>
              <a:pPr/>
              <a:t>‹#›</a:t>
            </a:fld>
            <a:endParaRPr lang="en-US"/>
          </a:p>
        </p:txBody>
      </p:sp>
    </p:spTree>
    <p:extLst>
      <p:ext uri="{BB962C8B-B14F-4D97-AF65-F5344CB8AC3E}">
        <p14:creationId xmlns:p14="http://schemas.microsoft.com/office/powerpoint/2010/main" val="1829021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6BF51C-33BA-4989-A37D-1791FD932442}" type="datetimeFigureOut">
              <a:rPr lang="en-US" smtClean="0"/>
              <a:pPr/>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30D112-FEE3-4E05-BD32-7F752707E364}" type="slidenum">
              <a:rPr lang="en-US" smtClean="0"/>
              <a:pPr/>
              <a:t>‹#›</a:t>
            </a:fld>
            <a:endParaRPr lang="en-US"/>
          </a:p>
        </p:txBody>
      </p:sp>
    </p:spTree>
    <p:extLst>
      <p:ext uri="{BB962C8B-B14F-4D97-AF65-F5344CB8AC3E}">
        <p14:creationId xmlns:p14="http://schemas.microsoft.com/office/powerpoint/2010/main" val="3477358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6BF51C-33BA-4989-A37D-1791FD932442}" type="datetimeFigureOut">
              <a:rPr lang="en-US" smtClean="0"/>
              <a:pPr/>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30D112-FEE3-4E05-BD32-7F752707E364}" type="slidenum">
              <a:rPr lang="en-US" smtClean="0"/>
              <a:pPr/>
              <a:t>‹#›</a:t>
            </a:fld>
            <a:endParaRPr lang="en-US"/>
          </a:p>
        </p:txBody>
      </p:sp>
    </p:spTree>
    <p:extLst>
      <p:ext uri="{BB962C8B-B14F-4D97-AF65-F5344CB8AC3E}">
        <p14:creationId xmlns:p14="http://schemas.microsoft.com/office/powerpoint/2010/main" val="1417519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6BF51C-33BA-4989-A37D-1791FD932442}" type="datetimeFigureOut">
              <a:rPr lang="en-US" smtClean="0"/>
              <a:pPr/>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30D112-FEE3-4E05-BD32-7F752707E364}" type="slidenum">
              <a:rPr lang="en-US" smtClean="0"/>
              <a:pPr/>
              <a:t>‹#›</a:t>
            </a:fld>
            <a:endParaRPr lang="en-US"/>
          </a:p>
        </p:txBody>
      </p:sp>
    </p:spTree>
    <p:extLst>
      <p:ext uri="{BB962C8B-B14F-4D97-AF65-F5344CB8AC3E}">
        <p14:creationId xmlns:p14="http://schemas.microsoft.com/office/powerpoint/2010/main" val="14790555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FA7D214A-46B1-41F1-9C79-F68099C8F1A9}" type="datetime1">
              <a:rPr lang="en-US" smtClean="0"/>
              <a:pPr/>
              <a:t>9/24/2025</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FFEF632-3232-4B5E-A6EE-15636C3A051E}"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90B5405A-AAC8-44AD-B74C-4A4776092F12}" type="datetime1">
              <a:rPr lang="en-US" smtClean="0"/>
              <a:pPr/>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FEF632-3232-4B5E-A6EE-15636C3A051E}"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410E429-66AE-45E2-879A-8C1EB79BDAA9}" type="datetime1">
              <a:rPr lang="en-US" smtClean="0"/>
              <a:pPr/>
              <a:t>9/24/2025</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FFEF632-3232-4B5E-A6EE-15636C3A051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3702AAC8-41C5-447D-B373-BF8FB2543E64}" type="datetime1">
              <a:rPr lang="en-US" smtClean="0"/>
              <a:pPr/>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FEF632-3232-4B5E-A6EE-15636C3A051E}"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FE17431E-6A5F-436D-A8B6-DFA5F5D0415C}" type="datetime1">
              <a:rPr lang="en-US" smtClean="0"/>
              <a:pPr/>
              <a:t>9/24/2025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FFEF632-3232-4B5E-A6EE-15636C3A051E}"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470662E4-D718-4BFC-8900-013D9F40D972}" type="datetime1">
              <a:rPr lang="en-US" smtClean="0"/>
              <a:pPr/>
              <a:t>9/24/2025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FFEF632-3232-4B5E-A6EE-15636C3A051E}" type="slidenum">
              <a:rPr lang="en-US" smtClean="0"/>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6ED983-B491-4C14-8EC2-FD51FC92757B}" type="datetime1">
              <a:rPr lang="en-US" smtClean="0"/>
              <a:pPr/>
              <a:t>9/24/2025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FFEF632-3232-4B5E-A6EE-15636C3A051E}"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5706711F-9362-4CB0-87F6-B32C4CABD4B8}" type="datetime1">
              <a:rPr lang="en-US" smtClean="0"/>
              <a:pPr/>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FEF632-3232-4B5E-A6EE-15636C3A051E}"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C2234C6-5013-44AF-8D5D-D70417B44229}" type="datetime1">
              <a:rPr lang="en-US" smtClean="0"/>
              <a:pPr/>
              <a:t>9/24/2025</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BFFEF632-3232-4B5E-A6EE-15636C3A051E}"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2D42EBE-04A1-464A-9573-55F93313AE22}" type="datetime1">
              <a:rPr lang="en-US" smtClean="0"/>
              <a:pPr/>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FEF632-3232-4B5E-A6EE-15636C3A051E}" type="slidenum">
              <a:rPr lang="en-US" smtClean="0"/>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6CC704F-6263-4474-BF31-07C96423080C}" type="datetime1">
              <a:rPr lang="en-US" smtClean="0"/>
              <a:pPr/>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FEF632-3232-4B5E-A6EE-15636C3A051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6BF51C-33BA-4989-A37D-1791FD932442}" type="datetimeFigureOut">
              <a:rPr lang="en-US" smtClean="0"/>
              <a:pPr/>
              <a:t>9/24/2025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30D112-FEE3-4E05-BD32-7F752707E364}" type="slidenum">
              <a:rPr lang="en-US" smtClean="0"/>
              <a:pPr/>
              <a:t>‹#›</a:t>
            </a:fld>
            <a:endParaRPr lang="en-US"/>
          </a:p>
        </p:txBody>
      </p:sp>
      <p:cxnSp>
        <p:nvCxnSpPr>
          <p:cNvPr id="8" name="Straight Connector 7"/>
          <p:cNvCxnSpPr/>
          <p:nvPr userDrawn="1"/>
        </p:nvCxnSpPr>
        <p:spPr>
          <a:xfrm>
            <a:off x="381000" y="1219200"/>
            <a:ext cx="8534400" cy="158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97108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3200" kern="1200">
          <a:solidFill>
            <a:schemeClr val="tx1"/>
          </a:solidFill>
          <a:latin typeface="Arial" pitchFamily="34" charset="0"/>
          <a:ea typeface="+mj-ea"/>
          <a:cs typeface="Arial" pitchFamily="34" charset="0"/>
        </a:defRPr>
      </a:lvl1pPr>
    </p:titleStyle>
    <p:bodyStyle>
      <a:lvl1pPr marL="342900" indent="-342900" algn="l" defTabSz="914400" rtl="0" eaLnBrk="1" latinLnBrk="0" hangingPunct="1">
        <a:lnSpc>
          <a:spcPct val="150000"/>
        </a:lnSpc>
        <a:spcBef>
          <a:spcPts val="0"/>
        </a:spcBef>
        <a:buFont typeface="Arial" pitchFamily="34" charset="0"/>
        <a:buChar char="•"/>
        <a:defRPr sz="1800" kern="1200">
          <a:solidFill>
            <a:schemeClr val="tx1"/>
          </a:solidFill>
          <a:latin typeface="Arial" pitchFamily="34" charset="0"/>
          <a:ea typeface="+mn-ea"/>
          <a:cs typeface="Arial" pitchFamily="34" charset="0"/>
        </a:defRPr>
      </a:lvl1pPr>
      <a:lvl2pPr marL="742950" indent="-285750" algn="l" defTabSz="914400" rtl="0" eaLnBrk="1" latinLnBrk="0" hangingPunct="1">
        <a:lnSpc>
          <a:spcPct val="150000"/>
        </a:lnSpc>
        <a:spcBef>
          <a:spcPts val="0"/>
        </a:spcBef>
        <a:buFont typeface="Arial" pitchFamily="34" charset="0"/>
        <a:buChar char="–"/>
        <a:defRPr sz="1800" kern="1200">
          <a:solidFill>
            <a:schemeClr val="tx1"/>
          </a:solidFill>
          <a:latin typeface="Arial" pitchFamily="34" charset="0"/>
          <a:ea typeface="+mn-ea"/>
          <a:cs typeface="Arial" pitchFamily="34" charset="0"/>
        </a:defRPr>
      </a:lvl2pPr>
      <a:lvl3pPr marL="1143000" indent="-228600" algn="l" defTabSz="914400" rtl="0" eaLnBrk="1" latinLnBrk="0" hangingPunct="1">
        <a:lnSpc>
          <a:spcPct val="150000"/>
        </a:lnSpc>
        <a:spcBef>
          <a:spcPts val="0"/>
        </a:spcBef>
        <a:buFont typeface="Arial" pitchFamily="34" charset="0"/>
        <a:buChar char="•"/>
        <a:defRPr sz="1800" kern="1200">
          <a:solidFill>
            <a:schemeClr val="tx1"/>
          </a:solidFill>
          <a:latin typeface="Arial" pitchFamily="34" charset="0"/>
          <a:ea typeface="+mn-ea"/>
          <a:cs typeface="Arial" pitchFamily="34" charset="0"/>
        </a:defRPr>
      </a:lvl3pPr>
      <a:lvl4pPr marL="1600200" indent="-228600" algn="l" defTabSz="914400" rtl="0" eaLnBrk="1" latinLnBrk="0" hangingPunct="1">
        <a:lnSpc>
          <a:spcPct val="150000"/>
        </a:lnSpc>
        <a:spcBef>
          <a:spcPts val="0"/>
        </a:spcBef>
        <a:buFont typeface="Arial" pitchFamily="34" charset="0"/>
        <a:buChar char="–"/>
        <a:defRPr sz="1800" kern="1200">
          <a:solidFill>
            <a:schemeClr val="tx1"/>
          </a:solidFill>
          <a:latin typeface="Arial" pitchFamily="34" charset="0"/>
          <a:ea typeface="+mn-ea"/>
          <a:cs typeface="Arial" pitchFamily="34" charset="0"/>
        </a:defRPr>
      </a:lvl4pPr>
      <a:lvl5pPr marL="2057400" indent="-228600" algn="l" defTabSz="914400" rtl="0" eaLnBrk="1" latinLnBrk="0" hangingPunct="1">
        <a:lnSpc>
          <a:spcPct val="150000"/>
        </a:lnSpc>
        <a:spcBef>
          <a:spcPts val="0"/>
        </a:spcBef>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8" name="Rounded Rectangle 7"/>
          <p:cNvSpPr/>
          <p:nvPr userDrawn="1"/>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715962"/>
          </a:xfrm>
          <a:prstGeom prst="rect">
            <a:avLst/>
          </a:prstGeom>
        </p:spPr>
        <p:txBody>
          <a:bodyPr bIns="91440" anchor="b" anchorCtr="0">
            <a:normAutofit/>
          </a:bodyPr>
          <a:lstStyle/>
          <a:p>
            <a:r>
              <a:rPr kumimoji="0" lang="en-US" dirty="0"/>
              <a:t>Click to edit Master title style</a:t>
            </a:r>
          </a:p>
        </p:txBody>
      </p:sp>
      <p:sp>
        <p:nvSpPr>
          <p:cNvPr id="13" name="Text Placeholder 12"/>
          <p:cNvSpPr>
            <a:spLocks noGrp="1"/>
          </p:cNvSpPr>
          <p:nvPr>
            <p:ph type="body" idx="1"/>
          </p:nvPr>
        </p:nvSpPr>
        <p:spPr>
          <a:xfrm>
            <a:off x="914400" y="1143000"/>
            <a:ext cx="7772400" cy="4876800"/>
          </a:xfrm>
          <a:prstGeom prst="rect">
            <a:avLst/>
          </a:prstGeom>
        </p:spPr>
        <p:txBody>
          <a:bodyPr>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9982F5E7-836E-4B6A-AAB8-E6C0AD396812}" type="datetime1">
              <a:rPr lang="en-US" smtClean="0"/>
              <a:pPr/>
              <a:t>9/24/2025</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FFEF632-3232-4B5E-A6EE-15636C3A051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1" latinLnBrk="0" hangingPunct="1">
        <a:spcBef>
          <a:spcPct val="0"/>
        </a:spcBef>
        <a:buNone/>
        <a:defRPr kumimoji="0" sz="2800" b="0" u="none" kern="1200">
          <a:solidFill>
            <a:schemeClr val="tx2"/>
          </a:solidFill>
          <a:latin typeface="Arial" pitchFamily="34" charset="0"/>
          <a:ea typeface="+mj-ea"/>
          <a:cs typeface="Arial" pitchFamily="34" charset="0"/>
        </a:defRPr>
      </a:lvl1pPr>
    </p:titleStyle>
    <p:bodyStyle>
      <a:lvl1pPr marL="274320" indent="-274320" algn="l" rtl="0" eaLnBrk="1" latinLnBrk="0" hangingPunct="1">
        <a:lnSpc>
          <a:spcPct val="150000"/>
        </a:lnSpc>
        <a:spcBef>
          <a:spcPts val="580"/>
        </a:spcBef>
        <a:buClr>
          <a:schemeClr val="accent1"/>
        </a:buClr>
        <a:buSzPct val="85000"/>
        <a:buFont typeface="Wingdings 2"/>
        <a:buChar char=""/>
        <a:defRPr kumimoji="0" sz="1800" kern="1200">
          <a:solidFill>
            <a:schemeClr val="tx1"/>
          </a:solidFill>
          <a:latin typeface="Arial" pitchFamily="34" charset="0"/>
          <a:ea typeface="+mn-ea"/>
          <a:cs typeface="Arial" pitchFamily="34" charset="0"/>
        </a:defRPr>
      </a:lvl1pPr>
      <a:lvl2pPr marL="548640" indent="-228600" algn="l" rtl="0" eaLnBrk="1" latinLnBrk="0" hangingPunct="1">
        <a:lnSpc>
          <a:spcPct val="150000"/>
        </a:lnSpc>
        <a:spcBef>
          <a:spcPts val="370"/>
        </a:spcBef>
        <a:buClr>
          <a:schemeClr val="accent2"/>
        </a:buClr>
        <a:buSzPct val="85000"/>
        <a:buFont typeface="Wingdings 2"/>
        <a:buChar char=""/>
        <a:defRPr kumimoji="0" sz="1800" kern="1200">
          <a:solidFill>
            <a:schemeClr val="tx1"/>
          </a:solidFill>
          <a:latin typeface="Arial" pitchFamily="34" charset="0"/>
          <a:ea typeface="+mn-ea"/>
          <a:cs typeface="Arial" pitchFamily="34" charset="0"/>
        </a:defRPr>
      </a:lvl2pPr>
      <a:lvl3pPr marL="822960" indent="-228600" algn="l" rtl="0" eaLnBrk="1" latinLnBrk="0" hangingPunct="1">
        <a:lnSpc>
          <a:spcPct val="150000"/>
        </a:lnSpc>
        <a:spcBef>
          <a:spcPts val="370"/>
        </a:spcBef>
        <a:buClr>
          <a:schemeClr val="accent1">
            <a:tint val="60000"/>
          </a:schemeClr>
        </a:buClr>
        <a:buSzPct val="85000"/>
        <a:buFont typeface="Wingdings 2"/>
        <a:buChar char=""/>
        <a:defRPr kumimoji="0" sz="1800" kern="1200">
          <a:solidFill>
            <a:schemeClr val="tx1"/>
          </a:solidFill>
          <a:latin typeface="Arial" pitchFamily="34" charset="0"/>
          <a:ea typeface="+mn-ea"/>
          <a:cs typeface="Arial" pitchFamily="34" charset="0"/>
        </a:defRPr>
      </a:lvl3pPr>
      <a:lvl4pPr marL="1097280" indent="-228600" algn="l" rtl="0" eaLnBrk="1" latinLnBrk="0" hangingPunct="1">
        <a:lnSpc>
          <a:spcPct val="150000"/>
        </a:lnSpc>
        <a:spcBef>
          <a:spcPts val="370"/>
        </a:spcBef>
        <a:buClr>
          <a:schemeClr val="accent3"/>
        </a:buClr>
        <a:buSzPct val="80000"/>
        <a:buFont typeface="Wingdings 2"/>
        <a:buChar char=""/>
        <a:defRPr kumimoji="0" sz="1800" kern="1200">
          <a:solidFill>
            <a:schemeClr val="tx1"/>
          </a:solidFill>
          <a:latin typeface="Arial" pitchFamily="34" charset="0"/>
          <a:ea typeface="+mn-ea"/>
          <a:cs typeface="Arial" pitchFamily="34" charset="0"/>
        </a:defRPr>
      </a:lvl4pPr>
      <a:lvl5pPr marL="1371600" indent="-228600" algn="l" rtl="0" eaLnBrk="1" latinLnBrk="0" hangingPunct="1">
        <a:lnSpc>
          <a:spcPct val="150000"/>
        </a:lnSpc>
        <a:spcBef>
          <a:spcPts val="370"/>
        </a:spcBef>
        <a:buClr>
          <a:schemeClr val="accent3"/>
        </a:buClr>
        <a:buFontTx/>
        <a:buChar char="o"/>
        <a:defRPr kumimoji="0" sz="1800" kern="1200">
          <a:solidFill>
            <a:schemeClr val="tx1"/>
          </a:solidFill>
          <a:latin typeface="Arial" pitchFamily="34" charset="0"/>
          <a:ea typeface="+mn-ea"/>
          <a:cs typeface="Arial" pitchFamily="34" charset="0"/>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javatpoint.com/java-tutoria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s://www.javatpoint.com/java-thread-setpriority-method" TargetMode="External"/><Relationship Id="rId13" Type="http://schemas.openxmlformats.org/officeDocument/2006/relationships/hyperlink" Target="https://www.javatpoint.com/java-thread-yield-method" TargetMode="External"/><Relationship Id="rId18" Type="http://schemas.openxmlformats.org/officeDocument/2006/relationships/hyperlink" Target="https://www.javatpoint.com/java-thread-isdaemon-method" TargetMode="External"/><Relationship Id="rId3" Type="http://schemas.openxmlformats.org/officeDocument/2006/relationships/hyperlink" Target="https://www.javatpoint.com/java-thread-run-method" TargetMode="External"/><Relationship Id="rId21" Type="http://schemas.openxmlformats.org/officeDocument/2006/relationships/hyperlink" Target="https://www.javatpoint.com/java-thread-isinterrupted-method" TargetMode="External"/><Relationship Id="rId7" Type="http://schemas.openxmlformats.org/officeDocument/2006/relationships/hyperlink" Target="https://www.javatpoint.com/java-thread-getpriority-method" TargetMode="External"/><Relationship Id="rId12" Type="http://schemas.openxmlformats.org/officeDocument/2006/relationships/hyperlink" Target="https://www.javatpoint.com/java-thread-isalive-method" TargetMode="External"/><Relationship Id="rId17" Type="http://schemas.openxmlformats.org/officeDocument/2006/relationships/hyperlink" Target="https://www.javatpoint.com/java-thread-destroy-method" TargetMode="External"/><Relationship Id="rId2" Type="http://schemas.openxmlformats.org/officeDocument/2006/relationships/hyperlink" Target="https://www.javatpoint.com/java-thread-start-method" TargetMode="External"/><Relationship Id="rId16" Type="http://schemas.openxmlformats.org/officeDocument/2006/relationships/hyperlink" Target="https://www.javatpoint.com/java-thread-stop-method" TargetMode="External"/><Relationship Id="rId20" Type="http://schemas.openxmlformats.org/officeDocument/2006/relationships/hyperlink" Target="https://www.javatpoint.com/java-thread-interrupt-method" TargetMode="External"/><Relationship Id="rId1" Type="http://schemas.openxmlformats.org/officeDocument/2006/relationships/slideLayout" Target="../slideLayouts/slideLayout2.xml"/><Relationship Id="rId6" Type="http://schemas.openxmlformats.org/officeDocument/2006/relationships/hyperlink" Target="https://www.javatpoint.com/java-thread-join-method" TargetMode="External"/><Relationship Id="rId11" Type="http://schemas.openxmlformats.org/officeDocument/2006/relationships/hyperlink" Target="https://www.javatpoint.com/java-thread-getid-method" TargetMode="External"/><Relationship Id="rId5" Type="http://schemas.openxmlformats.org/officeDocument/2006/relationships/hyperlink" Target="https://www.javatpoint.com/java-thread-currentthread-method" TargetMode="External"/><Relationship Id="rId15" Type="http://schemas.openxmlformats.org/officeDocument/2006/relationships/hyperlink" Target="https://www.javatpoint.com/java-thread-resume-method" TargetMode="External"/><Relationship Id="rId10" Type="http://schemas.openxmlformats.org/officeDocument/2006/relationships/hyperlink" Target="https://www.javatpoint.com/java-thread-setname-method" TargetMode="External"/><Relationship Id="rId19" Type="http://schemas.openxmlformats.org/officeDocument/2006/relationships/hyperlink" Target="https://www.javatpoint.com/java-thread-setdaemon-method" TargetMode="External"/><Relationship Id="rId4" Type="http://schemas.openxmlformats.org/officeDocument/2006/relationships/hyperlink" Target="https://www.javatpoint.com/java-thread-sleep-method" TargetMode="External"/><Relationship Id="rId9" Type="http://schemas.openxmlformats.org/officeDocument/2006/relationships/hyperlink" Target="https://www.javatpoint.com/java-thread-getname-method" TargetMode="External"/><Relationship Id="rId14" Type="http://schemas.openxmlformats.org/officeDocument/2006/relationships/hyperlink" Target="https://www.javatpoint.com/java-thread-suspend-method"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p:txBody>
          <a:bodyPr>
            <a:normAutofit/>
          </a:bodyPr>
          <a:lstStyle/>
          <a:p>
            <a:r>
              <a:rPr b="1">
                <a:solidFill>
                  <a:schemeClr val="bg1"/>
                </a:solidFill>
              </a:rPr>
              <a:t>UNIT-V</a:t>
            </a:r>
            <a:br>
              <a:rPr>
                <a:solidFill>
                  <a:schemeClr val="bg1"/>
                </a:solidFill>
              </a:rPr>
            </a:br>
            <a:r>
              <a:rPr b="1"/>
              <a:t>Multithreading in Java</a:t>
            </a:r>
            <a:endParaRPr b="1">
              <a:solidFill>
                <a:schemeClr val="bg1"/>
              </a:solidFill>
            </a:endParaRPr>
          </a:p>
        </p:txBody>
      </p:sp>
      <p:cxnSp>
        <p:nvCxnSpPr>
          <p:cNvPr id="6" name="Straight Connector 5"/>
          <p:cNvCxnSpPr/>
          <p:nvPr/>
        </p:nvCxnSpPr>
        <p:spPr>
          <a:xfrm>
            <a:off x="685800" y="3810000"/>
            <a:ext cx="7772400" cy="0"/>
          </a:xfrm>
          <a:prstGeom prst="line">
            <a:avLst/>
          </a:prstGeom>
          <a:effectLst>
            <a:outerShdw blurRad="50800" dist="38100" dir="2700000" algn="tl" rotWithShape="0">
              <a:prstClr val="black">
                <a:alpha val="40000"/>
              </a:prstClr>
            </a:outerShdw>
            <a:reflection blurRad="6350" stA="50000" endA="300" endPos="55500" dist="50800" dir="5400000" sy="-100000" algn="bl" rotWithShape="0"/>
          </a:effectLst>
        </p:spPr>
        <p:style>
          <a:lnRef idx="2">
            <a:schemeClr val="accent6"/>
          </a:lnRef>
          <a:fillRef idx="0">
            <a:schemeClr val="accent6"/>
          </a:fillRef>
          <a:effectRef idx="1">
            <a:schemeClr val="accent6"/>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5" name="Google Shape;115;p2"/>
          <p:cNvSpPr txBox="1">
            <a:spLocks noGrp="1"/>
          </p:cNvSpPr>
          <p:nvPr>
            <p:ph sz="quarter" idx="1"/>
          </p:nvPr>
        </p:nvSpPr>
        <p:spPr>
          <a:xfrm>
            <a:off x="495946" y="1356360"/>
            <a:ext cx="8190854" cy="5501640"/>
          </a:xfrm>
          <a:prstGeom prst="rect">
            <a:avLst/>
          </a:prstGeom>
          <a:noFill/>
          <a:ln>
            <a:noFill/>
          </a:ln>
        </p:spPr>
        <p:txBody>
          <a:bodyPr spcFirstLastPara="1" wrap="square" lIns="91425" tIns="45700" rIns="91425" bIns="45700" anchor="t" anchorCtr="0">
            <a:noAutofit/>
          </a:bodyPr>
          <a:lstStyle/>
          <a:p>
            <a:pPr marL="0" indent="0" algn="just">
              <a:buNone/>
            </a:pPr>
            <a:r>
              <a:rPr lang="en-US" sz="3200" b="1" i="0" u="none" strike="noStrike" baseline="0" dirty="0" err="1">
                <a:latin typeface="CharterBT-Bold"/>
              </a:rPr>
              <a:t>MultiThreading</a:t>
            </a:r>
            <a:r>
              <a:rPr lang="en-US" sz="3200" b="1" i="0" u="none" strike="noStrike" baseline="0" dirty="0">
                <a:latin typeface="CharterBT-Bold"/>
              </a:rPr>
              <a:t>: </a:t>
            </a:r>
            <a:r>
              <a:rPr lang="en-US" sz="3200" b="0" i="0" u="none" strike="noStrike" baseline="0" dirty="0">
                <a:latin typeface="CharterBT-Roman"/>
              </a:rPr>
              <a:t>Java Thread Model, Main Thread, Creating a Thread , Creating Multiple Threads.</a:t>
            </a:r>
            <a:endParaRPr lang="en-US" sz="3200" dirty="0"/>
          </a:p>
          <a:p>
            <a:pPr marL="0" indent="0" algn="just">
              <a:buNone/>
            </a:pPr>
            <a:endParaRPr lang="en-US" dirty="0"/>
          </a:p>
        </p:txBody>
      </p:sp>
      <p:sp>
        <p:nvSpPr>
          <p:cNvPr id="5" name="Title 4"/>
          <p:cNvSpPr>
            <a:spLocks noGrp="1"/>
          </p:cNvSpPr>
          <p:nvPr>
            <p:ph type="title"/>
          </p:nvPr>
        </p:nvSpPr>
        <p:spPr/>
        <p:txBody>
          <a:bodyPr/>
          <a:lstStyle/>
          <a:p>
            <a:r>
              <a:rPr lang="en-US" dirty="0"/>
              <a:t>Unit 3: Syllabus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1066801" y="260350"/>
            <a:ext cx="7608888" cy="1143000"/>
          </a:xfrm>
        </p:spPr>
        <p:txBody>
          <a:bodyPr/>
          <a:lstStyle/>
          <a:p>
            <a:r>
              <a:rPr lang="en-US" b="1" dirty="0"/>
              <a:t>Multithreading in Java</a:t>
            </a:r>
            <a:endParaRPr lang="en-US" dirty="0"/>
          </a:p>
        </p:txBody>
      </p:sp>
      <p:sp>
        <p:nvSpPr>
          <p:cNvPr id="14339" name="Content Placeholder 2"/>
          <p:cNvSpPr>
            <a:spLocks noGrp="1"/>
          </p:cNvSpPr>
          <p:nvPr>
            <p:ph sz="quarter" idx="1"/>
          </p:nvPr>
        </p:nvSpPr>
        <p:spPr>
          <a:xfrm>
            <a:off x="428625" y="1571625"/>
            <a:ext cx="8229600" cy="4525963"/>
          </a:xfrm>
        </p:spPr>
        <p:txBody>
          <a:bodyPr/>
          <a:lstStyle/>
          <a:p>
            <a:pPr algn="just"/>
            <a:r>
              <a:rPr lang="en-US" b="1" dirty="0"/>
              <a:t>Multithreading in </a:t>
            </a:r>
            <a:r>
              <a:rPr lang="en-US" b="1" dirty="0">
                <a:hlinkClick r:id="rId2"/>
              </a:rPr>
              <a:t>Java</a:t>
            </a:r>
            <a:r>
              <a:rPr lang="en-US" dirty="0"/>
              <a:t> is a process of executing multiple threads simultaneously.</a:t>
            </a:r>
          </a:p>
          <a:p>
            <a:pPr algn="just"/>
            <a:r>
              <a:rPr lang="en-US" dirty="0"/>
              <a:t>A thread is a lightweight sub-process, the smallest unit of processing. Multiprocessing and multithreading, both are used to achieve multitasking.</a:t>
            </a:r>
          </a:p>
          <a:p>
            <a:pPr algn="just"/>
            <a:r>
              <a:rPr lang="en-US" dirty="0"/>
              <a:t>However, we use multithreading than multiprocessing because threads use a shared memory area. They don't allocate separate memory area so saves memory, and context-switching between the threads takes less time than process.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Advantages of Java Multithreading</a:t>
            </a:r>
            <a:endParaRPr lang="en-US" dirty="0"/>
          </a:p>
        </p:txBody>
      </p:sp>
      <p:sp>
        <p:nvSpPr>
          <p:cNvPr id="3" name="Content Placeholder 2"/>
          <p:cNvSpPr>
            <a:spLocks noGrp="1"/>
          </p:cNvSpPr>
          <p:nvPr>
            <p:ph idx="1"/>
          </p:nvPr>
        </p:nvSpPr>
        <p:spPr/>
        <p:txBody>
          <a:bodyPr/>
          <a:lstStyle/>
          <a:p>
            <a:pPr>
              <a:buFont typeface="+mj-lt"/>
              <a:buAutoNum type="arabicPeriod"/>
            </a:pPr>
            <a:r>
              <a:rPr lang="en-US" dirty="0"/>
              <a:t>It </a:t>
            </a:r>
            <a:r>
              <a:rPr lang="en-US" b="1" dirty="0"/>
              <a:t>doesn't block the user</a:t>
            </a:r>
            <a:r>
              <a:rPr lang="en-US" dirty="0"/>
              <a:t> because threads are independent and you can perform multiple operations at the same time.</a:t>
            </a:r>
          </a:p>
          <a:p>
            <a:pPr>
              <a:buFont typeface="+mj-lt"/>
              <a:buAutoNum type="arabicPeriod"/>
            </a:pPr>
            <a:r>
              <a:rPr lang="en-US" dirty="0"/>
              <a:t>You </a:t>
            </a:r>
            <a:r>
              <a:rPr lang="en-US" b="1" dirty="0"/>
              <a:t>can perform many operations together, so it saves time</a:t>
            </a:r>
            <a:r>
              <a:rPr lang="en-US" dirty="0"/>
              <a:t>.</a:t>
            </a:r>
          </a:p>
          <a:p>
            <a:pPr>
              <a:buFont typeface="+mj-lt"/>
              <a:buAutoNum type="arabicPeriod"/>
            </a:pPr>
            <a:r>
              <a:rPr lang="en-US" dirty="0"/>
              <a:t>Threads are </a:t>
            </a:r>
            <a:r>
              <a:rPr lang="en-US" b="1" dirty="0"/>
              <a:t>independent</a:t>
            </a:r>
            <a:r>
              <a:rPr lang="en-US" dirty="0"/>
              <a:t>, so it doesn't affect other threads if an exception occurs in a single thread.</a:t>
            </a:r>
          </a:p>
          <a:p>
            <a:pPr>
              <a:buFont typeface="+mj-lt"/>
              <a:buAutoNum type="arabicPeriod"/>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Multitasking</a:t>
            </a:r>
          </a:p>
        </p:txBody>
      </p:sp>
      <p:sp>
        <p:nvSpPr>
          <p:cNvPr id="3" name="Content Placeholder 2"/>
          <p:cNvSpPr>
            <a:spLocks noGrp="1"/>
          </p:cNvSpPr>
          <p:nvPr>
            <p:ph idx="1"/>
          </p:nvPr>
        </p:nvSpPr>
        <p:spPr/>
        <p:txBody>
          <a:bodyPr/>
          <a:lstStyle/>
          <a:p>
            <a:r>
              <a:rPr lang="en-US" dirty="0"/>
              <a:t>Multitasking is a process of executing multiple tasks simultaneously. We use multitasking to utilize the CPU. Multitasking can be achieved in two ways:</a:t>
            </a:r>
          </a:p>
          <a:p>
            <a:pPr>
              <a:buFont typeface="+mj-lt"/>
              <a:buAutoNum type="arabicPeriod"/>
            </a:pPr>
            <a:r>
              <a:rPr lang="en-US" dirty="0"/>
              <a:t>Process-based Multitasking (Multiprocessing)</a:t>
            </a:r>
          </a:p>
          <a:p>
            <a:pPr>
              <a:buFont typeface="+mj-lt"/>
              <a:buAutoNum type="arabicPeriod"/>
            </a:pPr>
            <a:r>
              <a:rPr lang="en-US" dirty="0"/>
              <a:t>Thread-based Multitasking (</a:t>
            </a:r>
            <a:r>
              <a:rPr lang="en-US" dirty="0">
                <a:solidFill>
                  <a:srgbClr val="FF0000"/>
                </a:solidFill>
              </a:rPr>
              <a:t>Multithreading</a:t>
            </a:r>
            <a:r>
              <a:rPr lang="en-US" dirty="0"/>
              <a:t>)</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What is Thread in java</a:t>
            </a:r>
            <a:endParaRPr lang="en-US" dirty="0"/>
          </a:p>
        </p:txBody>
      </p:sp>
      <p:sp>
        <p:nvSpPr>
          <p:cNvPr id="3" name="Content Placeholder 2"/>
          <p:cNvSpPr>
            <a:spLocks noGrp="1"/>
          </p:cNvSpPr>
          <p:nvPr>
            <p:ph idx="1"/>
          </p:nvPr>
        </p:nvSpPr>
        <p:spPr>
          <a:xfrm>
            <a:off x="228600" y="1295400"/>
            <a:ext cx="4495800" cy="4830763"/>
          </a:xfrm>
        </p:spPr>
        <p:txBody>
          <a:bodyPr/>
          <a:lstStyle/>
          <a:p>
            <a:pPr algn="just"/>
            <a:r>
              <a:rPr lang="en-US" dirty="0"/>
              <a:t>A thread is a lightweight </a:t>
            </a:r>
            <a:r>
              <a:rPr lang="en-US" dirty="0" err="1"/>
              <a:t>subprocess</a:t>
            </a:r>
            <a:r>
              <a:rPr lang="en-US" dirty="0"/>
              <a:t>, </a:t>
            </a:r>
          </a:p>
          <a:p>
            <a:pPr algn="just">
              <a:buNone/>
            </a:pPr>
            <a:r>
              <a:rPr lang="en-US" dirty="0"/>
              <a:t>	the smallest unit of processing. </a:t>
            </a:r>
          </a:p>
          <a:p>
            <a:pPr algn="just">
              <a:buNone/>
            </a:pPr>
            <a:r>
              <a:rPr lang="en-US" dirty="0"/>
              <a:t>	It is a separate path of execution.</a:t>
            </a:r>
          </a:p>
          <a:p>
            <a:pPr algn="just"/>
            <a:r>
              <a:rPr lang="en-US" dirty="0"/>
              <a:t>Threads are independent. </a:t>
            </a:r>
          </a:p>
          <a:p>
            <a:pPr algn="just">
              <a:buNone/>
            </a:pPr>
            <a:r>
              <a:rPr lang="en-US" dirty="0"/>
              <a:t>	If there occurs exception in one thread, </a:t>
            </a:r>
          </a:p>
          <a:p>
            <a:pPr algn="just">
              <a:buNone/>
            </a:pPr>
            <a:r>
              <a:rPr lang="en-US" dirty="0"/>
              <a:t>	it doesn't affect other threads. </a:t>
            </a:r>
          </a:p>
          <a:p>
            <a:pPr algn="just">
              <a:buNone/>
            </a:pPr>
            <a:r>
              <a:rPr lang="en-US" dirty="0"/>
              <a:t>	It uses a shared memory area. </a:t>
            </a:r>
          </a:p>
          <a:p>
            <a:pPr algn="just"/>
            <a:endParaRPr lang="en-US" dirty="0"/>
          </a:p>
        </p:txBody>
      </p:sp>
      <p:sp>
        <p:nvSpPr>
          <p:cNvPr id="1026" name="AutoShape 2" descr="Java Multithreadi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8" name="Picture 4"/>
          <p:cNvPicPr>
            <a:picLocks noChangeAspect="1" noChangeArrowheads="1"/>
          </p:cNvPicPr>
          <p:nvPr/>
        </p:nvPicPr>
        <p:blipFill>
          <a:blip r:embed="rId2"/>
          <a:srcRect/>
          <a:stretch>
            <a:fillRect/>
          </a:stretch>
        </p:blipFill>
        <p:spPr bwMode="auto">
          <a:xfrm>
            <a:off x="4728332" y="1371600"/>
            <a:ext cx="4239456" cy="434340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Java Thread Methods</a:t>
            </a:r>
            <a:endParaRPr lang="en-US" sz="4000" dirty="0"/>
          </a:p>
        </p:txBody>
      </p:sp>
      <p:graphicFrame>
        <p:nvGraphicFramePr>
          <p:cNvPr id="6" name="Table 5"/>
          <p:cNvGraphicFramePr>
            <a:graphicFrameLocks noGrp="1"/>
          </p:cNvGraphicFramePr>
          <p:nvPr/>
        </p:nvGraphicFramePr>
        <p:xfrm>
          <a:off x="152400" y="1295400"/>
          <a:ext cx="8686800" cy="5598165"/>
        </p:xfrm>
        <a:graphic>
          <a:graphicData uri="http://schemas.openxmlformats.org/drawingml/2006/table">
            <a:tbl>
              <a:tblPr/>
              <a:tblGrid>
                <a:gridCol w="361950">
                  <a:extLst>
                    <a:ext uri="{9D8B030D-6E8A-4147-A177-3AD203B41FA5}">
                      <a16:colId xmlns:a16="http://schemas.microsoft.com/office/drawing/2014/main" val="20000"/>
                    </a:ext>
                  </a:extLst>
                </a:gridCol>
                <a:gridCol w="1303020">
                  <a:extLst>
                    <a:ext uri="{9D8B030D-6E8A-4147-A177-3AD203B41FA5}">
                      <a16:colId xmlns:a16="http://schemas.microsoft.com/office/drawing/2014/main" val="20001"/>
                    </a:ext>
                  </a:extLst>
                </a:gridCol>
                <a:gridCol w="1520190">
                  <a:extLst>
                    <a:ext uri="{9D8B030D-6E8A-4147-A177-3AD203B41FA5}">
                      <a16:colId xmlns:a16="http://schemas.microsoft.com/office/drawing/2014/main" val="20002"/>
                    </a:ext>
                  </a:extLst>
                </a:gridCol>
                <a:gridCol w="5501640">
                  <a:extLst>
                    <a:ext uri="{9D8B030D-6E8A-4147-A177-3AD203B41FA5}">
                      <a16:colId xmlns:a16="http://schemas.microsoft.com/office/drawing/2014/main" val="20003"/>
                    </a:ext>
                  </a:extLst>
                </a:gridCol>
              </a:tblGrid>
              <a:tr h="224900">
                <a:tc>
                  <a:txBody>
                    <a:bodyPr/>
                    <a:lstStyle/>
                    <a:p>
                      <a:pPr marL="0" marR="0" algn="ctr">
                        <a:lnSpc>
                          <a:spcPct val="115000"/>
                        </a:lnSpc>
                        <a:spcBef>
                          <a:spcPts val="0"/>
                        </a:spcBef>
                        <a:spcAft>
                          <a:spcPts val="0"/>
                        </a:spcAft>
                      </a:pPr>
                      <a:r>
                        <a:rPr lang="en-US" sz="1200" kern="1200" dirty="0">
                          <a:solidFill>
                            <a:srgbClr val="000000"/>
                          </a:solidFill>
                          <a:latin typeface="Calibri"/>
                          <a:ea typeface="Times New Roman"/>
                          <a:cs typeface="Calibri"/>
                        </a:rPr>
                        <a:t>S.N.</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kern="1200">
                          <a:solidFill>
                            <a:srgbClr val="000000"/>
                          </a:solidFill>
                          <a:latin typeface="Calibri"/>
                          <a:ea typeface="Times New Roman"/>
                          <a:cs typeface="Calibri"/>
                        </a:rPr>
                        <a:t>Modifier and Type</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kern="1200">
                          <a:solidFill>
                            <a:srgbClr val="000000"/>
                          </a:solidFill>
                          <a:latin typeface="Calibri"/>
                          <a:ea typeface="Times New Roman"/>
                          <a:cs typeface="Calibri"/>
                        </a:rPr>
                        <a:t>Method</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kern="1200" dirty="0">
                          <a:solidFill>
                            <a:srgbClr val="000000"/>
                          </a:solidFill>
                          <a:latin typeface="Calibri"/>
                          <a:ea typeface="Times New Roman"/>
                          <a:cs typeface="Calibri"/>
                        </a:rPr>
                        <a:t>Description</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77214">
                <a:tc>
                  <a:txBody>
                    <a:bodyPr/>
                    <a:lstStyle/>
                    <a:p>
                      <a:pPr marL="0" marR="0" algn="ctr">
                        <a:lnSpc>
                          <a:spcPts val="1175"/>
                        </a:lnSpc>
                        <a:spcBef>
                          <a:spcPts val="0"/>
                        </a:spcBef>
                        <a:spcAft>
                          <a:spcPts val="0"/>
                        </a:spcAft>
                      </a:pPr>
                      <a:r>
                        <a:rPr lang="en-US" sz="1200" kern="1200">
                          <a:solidFill>
                            <a:srgbClr val="000000"/>
                          </a:solidFill>
                          <a:latin typeface="Calibri"/>
                          <a:ea typeface="Times New Roman"/>
                          <a:cs typeface="Calibri"/>
                        </a:rPr>
                        <a:t>1)</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ts val="1175"/>
                        </a:lnSpc>
                        <a:spcBef>
                          <a:spcPts val="0"/>
                        </a:spcBef>
                        <a:spcAft>
                          <a:spcPts val="0"/>
                        </a:spcAft>
                      </a:pPr>
                      <a:r>
                        <a:rPr lang="en-US" sz="1200" kern="1200" dirty="0">
                          <a:solidFill>
                            <a:srgbClr val="000000"/>
                          </a:solidFill>
                          <a:latin typeface="Calibri"/>
                          <a:ea typeface="Times New Roman"/>
                          <a:cs typeface="Calibri"/>
                        </a:rPr>
                        <a:t>void</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ts val="1175"/>
                        </a:lnSpc>
                        <a:spcBef>
                          <a:spcPts val="0"/>
                        </a:spcBef>
                        <a:spcAft>
                          <a:spcPts val="0"/>
                        </a:spcAft>
                      </a:pPr>
                      <a:r>
                        <a:rPr lang="en-US" sz="1200" u="sng" kern="1200">
                          <a:solidFill>
                            <a:srgbClr val="0000FF"/>
                          </a:solidFill>
                          <a:latin typeface="Calibri"/>
                          <a:ea typeface="Times New Roman"/>
                          <a:cs typeface="Calibri"/>
                          <a:hlinkClick r:id="rId2"/>
                        </a:rPr>
                        <a:t>start()</a:t>
                      </a:r>
                      <a:r>
                        <a:rPr lang="en-US" sz="1200" kern="1200">
                          <a:solidFill>
                            <a:srgbClr val="000000"/>
                          </a:solidFill>
                          <a:latin typeface="Calibri"/>
                          <a:ea typeface="Times New Roman"/>
                          <a:cs typeface="Calibri"/>
                        </a:rPr>
                        <a:t> </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ts val="1175"/>
                        </a:lnSpc>
                        <a:spcBef>
                          <a:spcPts val="0"/>
                        </a:spcBef>
                        <a:spcAft>
                          <a:spcPts val="0"/>
                        </a:spcAft>
                      </a:pPr>
                      <a:r>
                        <a:rPr lang="en-US" sz="1200" kern="1200" dirty="0">
                          <a:solidFill>
                            <a:srgbClr val="000000"/>
                          </a:solidFill>
                          <a:latin typeface="Calibri"/>
                          <a:ea typeface="Times New Roman"/>
                          <a:cs typeface="Calibri"/>
                        </a:rPr>
                        <a:t>It is used to start the execution of the thread.</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24900">
                <a:tc>
                  <a:txBody>
                    <a:bodyPr/>
                    <a:lstStyle/>
                    <a:p>
                      <a:pPr marL="0" marR="0" algn="ctr">
                        <a:lnSpc>
                          <a:spcPct val="115000"/>
                        </a:lnSpc>
                        <a:spcBef>
                          <a:spcPts val="0"/>
                        </a:spcBef>
                        <a:spcAft>
                          <a:spcPts val="0"/>
                        </a:spcAft>
                      </a:pPr>
                      <a:r>
                        <a:rPr lang="en-US" sz="1200" kern="1200">
                          <a:solidFill>
                            <a:srgbClr val="000000"/>
                          </a:solidFill>
                          <a:latin typeface="Calibri"/>
                          <a:ea typeface="Times New Roman"/>
                          <a:cs typeface="Calibri"/>
                        </a:rPr>
                        <a:t>2)</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kern="1200" dirty="0">
                          <a:solidFill>
                            <a:srgbClr val="000000"/>
                          </a:solidFill>
                          <a:latin typeface="Calibri"/>
                          <a:ea typeface="Times New Roman"/>
                          <a:cs typeface="Calibri"/>
                        </a:rPr>
                        <a:t>void</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u="sng" kern="1200">
                          <a:solidFill>
                            <a:srgbClr val="0000FF"/>
                          </a:solidFill>
                          <a:latin typeface="Calibri"/>
                          <a:ea typeface="Times New Roman"/>
                          <a:cs typeface="Calibri"/>
                          <a:hlinkClick r:id="rId3"/>
                        </a:rPr>
                        <a:t>run()</a:t>
                      </a:r>
                      <a:r>
                        <a:rPr lang="en-US" sz="1200" kern="1200">
                          <a:solidFill>
                            <a:srgbClr val="000000"/>
                          </a:solidFill>
                          <a:latin typeface="Calibri"/>
                          <a:ea typeface="Times New Roman"/>
                          <a:cs typeface="Calibri"/>
                        </a:rPr>
                        <a:t> </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kern="1200" dirty="0">
                          <a:solidFill>
                            <a:srgbClr val="000000"/>
                          </a:solidFill>
                          <a:latin typeface="Calibri"/>
                          <a:ea typeface="Times New Roman"/>
                          <a:cs typeface="Calibri"/>
                        </a:rPr>
                        <a:t>It is used to do an action for a thread.</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44281">
                <a:tc>
                  <a:txBody>
                    <a:bodyPr/>
                    <a:lstStyle/>
                    <a:p>
                      <a:pPr marL="0" marR="0" algn="ctr">
                        <a:lnSpc>
                          <a:spcPts val="1450"/>
                        </a:lnSpc>
                        <a:spcBef>
                          <a:spcPts val="0"/>
                        </a:spcBef>
                        <a:spcAft>
                          <a:spcPts val="0"/>
                        </a:spcAft>
                      </a:pPr>
                      <a:r>
                        <a:rPr lang="en-US" sz="1200" kern="1200">
                          <a:solidFill>
                            <a:srgbClr val="000000"/>
                          </a:solidFill>
                          <a:latin typeface="Calibri"/>
                          <a:ea typeface="Times New Roman"/>
                          <a:cs typeface="Calibri"/>
                        </a:rPr>
                        <a:t>3)</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ts val="1450"/>
                        </a:lnSpc>
                        <a:spcBef>
                          <a:spcPts val="0"/>
                        </a:spcBef>
                        <a:spcAft>
                          <a:spcPts val="0"/>
                        </a:spcAft>
                      </a:pPr>
                      <a:r>
                        <a:rPr lang="en-US" sz="1200" kern="1200">
                          <a:solidFill>
                            <a:srgbClr val="000000"/>
                          </a:solidFill>
                          <a:latin typeface="Calibri"/>
                          <a:ea typeface="Times New Roman"/>
                          <a:cs typeface="Calibri"/>
                        </a:rPr>
                        <a:t>static void</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ts val="1450"/>
                        </a:lnSpc>
                        <a:spcBef>
                          <a:spcPts val="0"/>
                        </a:spcBef>
                        <a:spcAft>
                          <a:spcPts val="0"/>
                        </a:spcAft>
                      </a:pPr>
                      <a:r>
                        <a:rPr lang="en-US" sz="1200" u="sng" kern="1200">
                          <a:solidFill>
                            <a:srgbClr val="0000FF"/>
                          </a:solidFill>
                          <a:latin typeface="Calibri"/>
                          <a:ea typeface="Times New Roman"/>
                          <a:cs typeface="Calibri"/>
                          <a:hlinkClick r:id="rId4"/>
                        </a:rPr>
                        <a:t>sleep()</a:t>
                      </a:r>
                      <a:r>
                        <a:rPr lang="en-US" sz="1200" kern="1200">
                          <a:solidFill>
                            <a:srgbClr val="000000"/>
                          </a:solidFill>
                          <a:latin typeface="Calibri"/>
                          <a:ea typeface="Times New Roman"/>
                          <a:cs typeface="Calibri"/>
                        </a:rPr>
                        <a:t> </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ts val="1450"/>
                        </a:lnSpc>
                        <a:spcBef>
                          <a:spcPts val="0"/>
                        </a:spcBef>
                        <a:spcAft>
                          <a:spcPts val="0"/>
                        </a:spcAft>
                      </a:pPr>
                      <a:r>
                        <a:rPr lang="en-US" sz="1200" kern="1200" dirty="0">
                          <a:solidFill>
                            <a:srgbClr val="000000"/>
                          </a:solidFill>
                          <a:latin typeface="Calibri"/>
                          <a:ea typeface="Times New Roman"/>
                          <a:cs typeface="Calibri"/>
                        </a:rPr>
                        <a:t>It sleeps a thread for the specified amount of time.</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44281">
                <a:tc>
                  <a:txBody>
                    <a:bodyPr/>
                    <a:lstStyle/>
                    <a:p>
                      <a:pPr marL="0" marR="0" algn="ctr">
                        <a:lnSpc>
                          <a:spcPts val="1450"/>
                        </a:lnSpc>
                        <a:spcBef>
                          <a:spcPts val="0"/>
                        </a:spcBef>
                        <a:spcAft>
                          <a:spcPts val="0"/>
                        </a:spcAft>
                      </a:pPr>
                      <a:r>
                        <a:rPr lang="en-US" sz="1200" kern="1200">
                          <a:solidFill>
                            <a:srgbClr val="000000"/>
                          </a:solidFill>
                          <a:latin typeface="Calibri"/>
                          <a:ea typeface="Times New Roman"/>
                          <a:cs typeface="Calibri"/>
                        </a:rPr>
                        <a:t>4)</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ts val="1450"/>
                        </a:lnSpc>
                        <a:spcBef>
                          <a:spcPts val="0"/>
                        </a:spcBef>
                        <a:spcAft>
                          <a:spcPts val="0"/>
                        </a:spcAft>
                      </a:pPr>
                      <a:r>
                        <a:rPr lang="en-US" sz="1200" kern="1200" dirty="0">
                          <a:solidFill>
                            <a:srgbClr val="000000"/>
                          </a:solidFill>
                          <a:latin typeface="Calibri"/>
                          <a:ea typeface="Times New Roman"/>
                          <a:cs typeface="Calibri"/>
                        </a:rPr>
                        <a:t>static Thread</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ts val="1450"/>
                        </a:lnSpc>
                        <a:spcBef>
                          <a:spcPts val="0"/>
                        </a:spcBef>
                        <a:spcAft>
                          <a:spcPts val="0"/>
                        </a:spcAft>
                      </a:pPr>
                      <a:r>
                        <a:rPr lang="en-US" sz="1200" u="sng" kern="1200" dirty="0" err="1">
                          <a:solidFill>
                            <a:srgbClr val="0000FF"/>
                          </a:solidFill>
                          <a:latin typeface="Calibri"/>
                          <a:ea typeface="Times New Roman"/>
                          <a:cs typeface="Calibri"/>
                          <a:hlinkClick r:id="rId5"/>
                        </a:rPr>
                        <a:t>currentThread</a:t>
                      </a:r>
                      <a:r>
                        <a:rPr lang="en-US" sz="1200" u="sng" kern="1200" dirty="0">
                          <a:solidFill>
                            <a:srgbClr val="0000FF"/>
                          </a:solidFill>
                          <a:latin typeface="Calibri"/>
                          <a:ea typeface="Times New Roman"/>
                          <a:cs typeface="Calibri"/>
                          <a:hlinkClick r:id="rId5"/>
                        </a:rPr>
                        <a:t>()</a:t>
                      </a:r>
                      <a:r>
                        <a:rPr lang="en-US" sz="1200" kern="1200" dirty="0">
                          <a:solidFill>
                            <a:srgbClr val="000000"/>
                          </a:solidFill>
                          <a:latin typeface="Calibri"/>
                          <a:ea typeface="Times New Roman"/>
                          <a:cs typeface="Calibri"/>
                        </a:rPr>
                        <a:t> </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ts val="1450"/>
                        </a:lnSpc>
                        <a:spcBef>
                          <a:spcPts val="0"/>
                        </a:spcBef>
                        <a:spcAft>
                          <a:spcPts val="0"/>
                        </a:spcAft>
                      </a:pPr>
                      <a:r>
                        <a:rPr lang="en-US" sz="1200" kern="1200" dirty="0">
                          <a:solidFill>
                            <a:srgbClr val="000000"/>
                          </a:solidFill>
                          <a:latin typeface="Calibri"/>
                          <a:ea typeface="Times New Roman"/>
                          <a:cs typeface="Calibri"/>
                        </a:rPr>
                        <a:t>It returns a reference to the currently executing thread object.</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24900">
                <a:tc>
                  <a:txBody>
                    <a:bodyPr/>
                    <a:lstStyle/>
                    <a:p>
                      <a:pPr marL="0" marR="0" algn="ctr">
                        <a:lnSpc>
                          <a:spcPct val="115000"/>
                        </a:lnSpc>
                        <a:spcBef>
                          <a:spcPts val="0"/>
                        </a:spcBef>
                        <a:spcAft>
                          <a:spcPts val="0"/>
                        </a:spcAft>
                      </a:pPr>
                      <a:r>
                        <a:rPr lang="en-US" sz="1200" kern="1200">
                          <a:solidFill>
                            <a:srgbClr val="000000"/>
                          </a:solidFill>
                          <a:latin typeface="Calibri"/>
                          <a:ea typeface="Times New Roman"/>
                          <a:cs typeface="Calibri"/>
                        </a:rPr>
                        <a:t>5)</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kern="1200">
                          <a:solidFill>
                            <a:srgbClr val="000000"/>
                          </a:solidFill>
                          <a:latin typeface="Calibri"/>
                          <a:ea typeface="Times New Roman"/>
                          <a:cs typeface="Calibri"/>
                        </a:rPr>
                        <a:t>void</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u="sng" kern="1200">
                          <a:solidFill>
                            <a:srgbClr val="0000FF"/>
                          </a:solidFill>
                          <a:latin typeface="Calibri"/>
                          <a:ea typeface="Times New Roman"/>
                          <a:cs typeface="Calibri"/>
                          <a:hlinkClick r:id="rId6"/>
                        </a:rPr>
                        <a:t>join()</a:t>
                      </a:r>
                      <a:r>
                        <a:rPr lang="en-US" sz="1200" kern="1200">
                          <a:solidFill>
                            <a:srgbClr val="000000"/>
                          </a:solidFill>
                          <a:latin typeface="Calibri"/>
                          <a:ea typeface="Times New Roman"/>
                          <a:cs typeface="Calibri"/>
                        </a:rPr>
                        <a:t> </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kern="1200" dirty="0">
                          <a:solidFill>
                            <a:srgbClr val="000000"/>
                          </a:solidFill>
                          <a:latin typeface="Calibri"/>
                          <a:ea typeface="Times New Roman"/>
                          <a:cs typeface="Calibri"/>
                        </a:rPr>
                        <a:t>It waits for a thread to die.</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24900">
                <a:tc>
                  <a:txBody>
                    <a:bodyPr/>
                    <a:lstStyle/>
                    <a:p>
                      <a:pPr marL="0" marR="0" algn="ctr">
                        <a:lnSpc>
                          <a:spcPct val="115000"/>
                        </a:lnSpc>
                        <a:spcBef>
                          <a:spcPts val="0"/>
                        </a:spcBef>
                        <a:spcAft>
                          <a:spcPts val="0"/>
                        </a:spcAft>
                      </a:pPr>
                      <a:r>
                        <a:rPr lang="en-US" sz="1200" kern="1200">
                          <a:solidFill>
                            <a:srgbClr val="000000"/>
                          </a:solidFill>
                          <a:latin typeface="Calibri"/>
                          <a:ea typeface="Times New Roman"/>
                          <a:cs typeface="Calibri"/>
                        </a:rPr>
                        <a:t>6)</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kern="1200">
                          <a:solidFill>
                            <a:srgbClr val="000000"/>
                          </a:solidFill>
                          <a:latin typeface="Calibri"/>
                          <a:ea typeface="Times New Roman"/>
                          <a:cs typeface="Calibri"/>
                        </a:rPr>
                        <a:t>int</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u="sng" kern="1200" dirty="0" err="1">
                          <a:solidFill>
                            <a:srgbClr val="0000FF"/>
                          </a:solidFill>
                          <a:latin typeface="Calibri"/>
                          <a:ea typeface="Times New Roman"/>
                          <a:cs typeface="Calibri"/>
                          <a:hlinkClick r:id="rId7"/>
                        </a:rPr>
                        <a:t>getPriority</a:t>
                      </a:r>
                      <a:r>
                        <a:rPr lang="en-US" sz="1200" u="sng" kern="1200" dirty="0">
                          <a:solidFill>
                            <a:srgbClr val="0000FF"/>
                          </a:solidFill>
                          <a:latin typeface="Calibri"/>
                          <a:ea typeface="Times New Roman"/>
                          <a:cs typeface="Calibri"/>
                          <a:hlinkClick r:id="rId7"/>
                        </a:rPr>
                        <a:t>()</a:t>
                      </a:r>
                      <a:r>
                        <a:rPr lang="en-US" sz="1200" kern="1200" dirty="0">
                          <a:solidFill>
                            <a:srgbClr val="000000"/>
                          </a:solidFill>
                          <a:latin typeface="Calibri"/>
                          <a:ea typeface="Times New Roman"/>
                          <a:cs typeface="Calibri"/>
                        </a:rPr>
                        <a:t> </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kern="1200" dirty="0">
                          <a:solidFill>
                            <a:srgbClr val="000000"/>
                          </a:solidFill>
                          <a:latin typeface="Calibri"/>
                          <a:ea typeface="Times New Roman"/>
                          <a:cs typeface="Calibri"/>
                        </a:rPr>
                        <a:t>It returns the priority of the thread.</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24900">
                <a:tc>
                  <a:txBody>
                    <a:bodyPr/>
                    <a:lstStyle/>
                    <a:p>
                      <a:pPr marL="0" marR="0" algn="ctr">
                        <a:lnSpc>
                          <a:spcPct val="115000"/>
                        </a:lnSpc>
                        <a:spcBef>
                          <a:spcPts val="0"/>
                        </a:spcBef>
                        <a:spcAft>
                          <a:spcPts val="0"/>
                        </a:spcAft>
                      </a:pPr>
                      <a:r>
                        <a:rPr lang="en-US" sz="1200" kern="1200">
                          <a:solidFill>
                            <a:srgbClr val="000000"/>
                          </a:solidFill>
                          <a:latin typeface="Calibri"/>
                          <a:ea typeface="Times New Roman"/>
                          <a:cs typeface="Calibri"/>
                        </a:rPr>
                        <a:t>7)</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kern="1200">
                          <a:solidFill>
                            <a:srgbClr val="000000"/>
                          </a:solidFill>
                          <a:latin typeface="Calibri"/>
                          <a:ea typeface="Times New Roman"/>
                          <a:cs typeface="Calibri"/>
                        </a:rPr>
                        <a:t>void</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u="sng" kern="1200" dirty="0" err="1">
                          <a:solidFill>
                            <a:srgbClr val="0000FF"/>
                          </a:solidFill>
                          <a:latin typeface="Calibri"/>
                          <a:ea typeface="Times New Roman"/>
                          <a:cs typeface="Calibri"/>
                          <a:hlinkClick r:id="rId8"/>
                        </a:rPr>
                        <a:t>setPriority</a:t>
                      </a:r>
                      <a:r>
                        <a:rPr lang="en-US" sz="1200" u="sng" kern="1200" dirty="0">
                          <a:solidFill>
                            <a:srgbClr val="0000FF"/>
                          </a:solidFill>
                          <a:latin typeface="Calibri"/>
                          <a:ea typeface="Times New Roman"/>
                          <a:cs typeface="Calibri"/>
                          <a:hlinkClick r:id="rId8"/>
                        </a:rPr>
                        <a:t>()</a:t>
                      </a:r>
                      <a:r>
                        <a:rPr lang="en-US" sz="1200" kern="1200" dirty="0">
                          <a:solidFill>
                            <a:srgbClr val="000000"/>
                          </a:solidFill>
                          <a:latin typeface="Calibri"/>
                          <a:ea typeface="Times New Roman"/>
                          <a:cs typeface="Calibri"/>
                        </a:rPr>
                        <a:t> </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kern="1200" dirty="0">
                          <a:solidFill>
                            <a:srgbClr val="000000"/>
                          </a:solidFill>
                          <a:latin typeface="Calibri"/>
                          <a:ea typeface="Times New Roman"/>
                          <a:cs typeface="Calibri"/>
                        </a:rPr>
                        <a:t>It changes the priority of the thread.</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24900">
                <a:tc>
                  <a:txBody>
                    <a:bodyPr/>
                    <a:lstStyle/>
                    <a:p>
                      <a:pPr marL="0" marR="0" algn="ctr">
                        <a:lnSpc>
                          <a:spcPct val="115000"/>
                        </a:lnSpc>
                        <a:spcBef>
                          <a:spcPts val="0"/>
                        </a:spcBef>
                        <a:spcAft>
                          <a:spcPts val="0"/>
                        </a:spcAft>
                      </a:pPr>
                      <a:r>
                        <a:rPr lang="en-US" sz="1200" kern="1200">
                          <a:solidFill>
                            <a:srgbClr val="000000"/>
                          </a:solidFill>
                          <a:latin typeface="Calibri"/>
                          <a:ea typeface="Times New Roman"/>
                          <a:cs typeface="Calibri"/>
                        </a:rPr>
                        <a:t>8)</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kern="1200">
                          <a:solidFill>
                            <a:srgbClr val="000000"/>
                          </a:solidFill>
                          <a:latin typeface="Calibri"/>
                          <a:ea typeface="Times New Roman"/>
                          <a:cs typeface="Calibri"/>
                        </a:rPr>
                        <a:t>String</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u="sng" kern="1200" dirty="0" err="1">
                          <a:solidFill>
                            <a:srgbClr val="0000FF"/>
                          </a:solidFill>
                          <a:latin typeface="Calibri"/>
                          <a:ea typeface="Times New Roman"/>
                          <a:cs typeface="Calibri"/>
                          <a:hlinkClick r:id="rId9"/>
                        </a:rPr>
                        <a:t>getName</a:t>
                      </a:r>
                      <a:r>
                        <a:rPr lang="en-US" sz="1200" u="sng" kern="1200" dirty="0">
                          <a:solidFill>
                            <a:srgbClr val="0000FF"/>
                          </a:solidFill>
                          <a:latin typeface="Calibri"/>
                          <a:ea typeface="Times New Roman"/>
                          <a:cs typeface="Calibri"/>
                          <a:hlinkClick r:id="rId9"/>
                        </a:rPr>
                        <a:t>()</a:t>
                      </a:r>
                      <a:r>
                        <a:rPr lang="en-US" sz="1200" kern="1200" dirty="0">
                          <a:solidFill>
                            <a:srgbClr val="000000"/>
                          </a:solidFill>
                          <a:latin typeface="Calibri"/>
                          <a:ea typeface="Times New Roman"/>
                          <a:cs typeface="Calibri"/>
                        </a:rPr>
                        <a:t> </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kern="1200" dirty="0">
                          <a:solidFill>
                            <a:srgbClr val="000000"/>
                          </a:solidFill>
                          <a:latin typeface="Calibri"/>
                          <a:ea typeface="Times New Roman"/>
                          <a:cs typeface="Calibri"/>
                        </a:rPr>
                        <a:t>It returns the name of the thread.</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24900">
                <a:tc>
                  <a:txBody>
                    <a:bodyPr/>
                    <a:lstStyle/>
                    <a:p>
                      <a:pPr marL="0" marR="0" algn="ctr">
                        <a:lnSpc>
                          <a:spcPct val="115000"/>
                        </a:lnSpc>
                        <a:spcBef>
                          <a:spcPts val="0"/>
                        </a:spcBef>
                        <a:spcAft>
                          <a:spcPts val="0"/>
                        </a:spcAft>
                      </a:pPr>
                      <a:r>
                        <a:rPr lang="en-US" sz="1200" kern="1200">
                          <a:solidFill>
                            <a:srgbClr val="000000"/>
                          </a:solidFill>
                          <a:latin typeface="Calibri"/>
                          <a:ea typeface="Times New Roman"/>
                          <a:cs typeface="Calibri"/>
                        </a:rPr>
                        <a:t>9)</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kern="1200">
                          <a:solidFill>
                            <a:srgbClr val="000000"/>
                          </a:solidFill>
                          <a:latin typeface="Calibri"/>
                          <a:ea typeface="Times New Roman"/>
                          <a:cs typeface="Calibri"/>
                        </a:rPr>
                        <a:t>void</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u="sng" kern="1200">
                          <a:solidFill>
                            <a:srgbClr val="0000FF"/>
                          </a:solidFill>
                          <a:latin typeface="Calibri"/>
                          <a:ea typeface="Times New Roman"/>
                          <a:cs typeface="Calibri"/>
                          <a:hlinkClick r:id="rId10"/>
                        </a:rPr>
                        <a:t>setName()</a:t>
                      </a:r>
                      <a:r>
                        <a:rPr lang="en-US" sz="1200" kern="1200">
                          <a:solidFill>
                            <a:srgbClr val="000000"/>
                          </a:solidFill>
                          <a:latin typeface="Calibri"/>
                          <a:ea typeface="Times New Roman"/>
                          <a:cs typeface="Calibri"/>
                        </a:rPr>
                        <a:t> </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kern="1200" dirty="0">
                          <a:solidFill>
                            <a:srgbClr val="000000"/>
                          </a:solidFill>
                          <a:latin typeface="Calibri"/>
                          <a:ea typeface="Times New Roman"/>
                          <a:cs typeface="Calibri"/>
                        </a:rPr>
                        <a:t>It changes the name of the thread.</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24900">
                <a:tc>
                  <a:txBody>
                    <a:bodyPr/>
                    <a:lstStyle/>
                    <a:p>
                      <a:pPr marL="0" marR="0" algn="ctr">
                        <a:lnSpc>
                          <a:spcPct val="115000"/>
                        </a:lnSpc>
                        <a:spcBef>
                          <a:spcPts val="0"/>
                        </a:spcBef>
                        <a:spcAft>
                          <a:spcPts val="0"/>
                        </a:spcAft>
                      </a:pPr>
                      <a:r>
                        <a:rPr lang="en-US" sz="1200" kern="1200">
                          <a:solidFill>
                            <a:srgbClr val="000000"/>
                          </a:solidFill>
                          <a:latin typeface="Calibri"/>
                          <a:ea typeface="Times New Roman"/>
                          <a:cs typeface="Calibri"/>
                        </a:rPr>
                        <a:t>10)</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kern="1200">
                          <a:solidFill>
                            <a:srgbClr val="000000"/>
                          </a:solidFill>
                          <a:latin typeface="Calibri"/>
                          <a:ea typeface="Times New Roman"/>
                          <a:cs typeface="Calibri"/>
                        </a:rPr>
                        <a:t>long</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u="sng" kern="1200">
                          <a:solidFill>
                            <a:srgbClr val="0000FF"/>
                          </a:solidFill>
                          <a:latin typeface="Calibri"/>
                          <a:ea typeface="Times New Roman"/>
                          <a:cs typeface="Calibri"/>
                          <a:hlinkClick r:id="rId11"/>
                        </a:rPr>
                        <a:t>getId()</a:t>
                      </a:r>
                      <a:r>
                        <a:rPr lang="en-US" sz="1200" kern="1200">
                          <a:solidFill>
                            <a:srgbClr val="000000"/>
                          </a:solidFill>
                          <a:latin typeface="Calibri"/>
                          <a:ea typeface="Times New Roman"/>
                          <a:cs typeface="Calibri"/>
                        </a:rPr>
                        <a:t> </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kern="1200" dirty="0">
                          <a:solidFill>
                            <a:srgbClr val="000000"/>
                          </a:solidFill>
                          <a:latin typeface="Calibri"/>
                          <a:ea typeface="Times New Roman"/>
                          <a:cs typeface="Calibri"/>
                        </a:rPr>
                        <a:t>It returns the id of the thread.</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24900">
                <a:tc>
                  <a:txBody>
                    <a:bodyPr/>
                    <a:lstStyle/>
                    <a:p>
                      <a:pPr marL="0" marR="0" algn="ctr">
                        <a:lnSpc>
                          <a:spcPct val="115000"/>
                        </a:lnSpc>
                        <a:spcBef>
                          <a:spcPts val="0"/>
                        </a:spcBef>
                        <a:spcAft>
                          <a:spcPts val="0"/>
                        </a:spcAft>
                      </a:pPr>
                      <a:r>
                        <a:rPr lang="en-US" sz="1200" kern="1200">
                          <a:solidFill>
                            <a:srgbClr val="000000"/>
                          </a:solidFill>
                          <a:latin typeface="Calibri"/>
                          <a:ea typeface="Times New Roman"/>
                          <a:cs typeface="Calibri"/>
                        </a:rPr>
                        <a:t>11)</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kern="1200">
                          <a:solidFill>
                            <a:srgbClr val="000000"/>
                          </a:solidFill>
                          <a:latin typeface="Calibri"/>
                          <a:ea typeface="Times New Roman"/>
                          <a:cs typeface="Calibri"/>
                        </a:rPr>
                        <a:t>boolean</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u="sng" kern="1200">
                          <a:solidFill>
                            <a:srgbClr val="0000FF"/>
                          </a:solidFill>
                          <a:latin typeface="Calibri"/>
                          <a:ea typeface="Times New Roman"/>
                          <a:cs typeface="Calibri"/>
                          <a:hlinkClick r:id="rId12"/>
                        </a:rPr>
                        <a:t>isAlive()</a:t>
                      </a:r>
                      <a:r>
                        <a:rPr lang="en-US" sz="1200" kern="1200">
                          <a:solidFill>
                            <a:srgbClr val="000000"/>
                          </a:solidFill>
                          <a:latin typeface="Calibri"/>
                          <a:ea typeface="Times New Roman"/>
                          <a:cs typeface="Calibri"/>
                        </a:rPr>
                        <a:t> </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kern="1200">
                          <a:solidFill>
                            <a:srgbClr val="000000"/>
                          </a:solidFill>
                          <a:latin typeface="Calibri"/>
                          <a:ea typeface="Times New Roman"/>
                          <a:cs typeface="Calibri"/>
                        </a:rPr>
                        <a:t>It tests if the thread is alive.</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377816">
                <a:tc>
                  <a:txBody>
                    <a:bodyPr/>
                    <a:lstStyle/>
                    <a:p>
                      <a:pPr marL="0" marR="0" algn="ctr">
                        <a:lnSpc>
                          <a:spcPct val="115000"/>
                        </a:lnSpc>
                        <a:spcBef>
                          <a:spcPts val="0"/>
                        </a:spcBef>
                        <a:spcAft>
                          <a:spcPts val="0"/>
                        </a:spcAft>
                      </a:pPr>
                      <a:r>
                        <a:rPr lang="en-US" sz="1200" kern="1200">
                          <a:solidFill>
                            <a:srgbClr val="000000"/>
                          </a:solidFill>
                          <a:latin typeface="Calibri"/>
                          <a:ea typeface="Times New Roman"/>
                          <a:cs typeface="Calibri"/>
                        </a:rPr>
                        <a:t>12)</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kern="1200">
                          <a:solidFill>
                            <a:srgbClr val="000000"/>
                          </a:solidFill>
                          <a:latin typeface="Calibri"/>
                          <a:ea typeface="Times New Roman"/>
                          <a:cs typeface="Calibri"/>
                        </a:rPr>
                        <a:t>static void</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u="sng" kern="1200">
                          <a:solidFill>
                            <a:srgbClr val="0000FF"/>
                          </a:solidFill>
                          <a:latin typeface="Calibri"/>
                          <a:ea typeface="Times New Roman"/>
                          <a:cs typeface="Calibri"/>
                          <a:hlinkClick r:id="rId13"/>
                        </a:rPr>
                        <a:t>yield()</a:t>
                      </a:r>
                      <a:r>
                        <a:rPr lang="en-US" sz="1200" kern="1200">
                          <a:solidFill>
                            <a:srgbClr val="000000"/>
                          </a:solidFill>
                          <a:latin typeface="Calibri"/>
                          <a:ea typeface="Times New Roman"/>
                          <a:cs typeface="Calibri"/>
                        </a:rPr>
                        <a:t> </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kern="1200" dirty="0">
                          <a:solidFill>
                            <a:srgbClr val="000000"/>
                          </a:solidFill>
                          <a:latin typeface="Calibri"/>
                          <a:ea typeface="Times New Roman"/>
                          <a:cs typeface="Calibri"/>
                        </a:rPr>
                        <a:t>It causes the currently executing thread object to pause and allow other threads to execute temporarily.</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24900">
                <a:tc>
                  <a:txBody>
                    <a:bodyPr/>
                    <a:lstStyle/>
                    <a:p>
                      <a:pPr marL="0" marR="0" algn="ctr">
                        <a:lnSpc>
                          <a:spcPct val="115000"/>
                        </a:lnSpc>
                        <a:spcBef>
                          <a:spcPts val="0"/>
                        </a:spcBef>
                        <a:spcAft>
                          <a:spcPts val="0"/>
                        </a:spcAft>
                      </a:pPr>
                      <a:r>
                        <a:rPr lang="en-US" sz="1200" kern="1200">
                          <a:solidFill>
                            <a:srgbClr val="000000"/>
                          </a:solidFill>
                          <a:latin typeface="Calibri"/>
                          <a:ea typeface="Times New Roman"/>
                          <a:cs typeface="Calibri"/>
                        </a:rPr>
                        <a:t>13)</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kern="1200">
                          <a:solidFill>
                            <a:srgbClr val="000000"/>
                          </a:solidFill>
                          <a:latin typeface="Calibri"/>
                          <a:ea typeface="Times New Roman"/>
                          <a:cs typeface="Calibri"/>
                        </a:rPr>
                        <a:t>void</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u="sng" kern="1200">
                          <a:solidFill>
                            <a:srgbClr val="0000FF"/>
                          </a:solidFill>
                          <a:latin typeface="Calibri"/>
                          <a:ea typeface="Times New Roman"/>
                          <a:cs typeface="Calibri"/>
                          <a:hlinkClick r:id="rId14"/>
                        </a:rPr>
                        <a:t>suspend()</a:t>
                      </a:r>
                      <a:r>
                        <a:rPr lang="en-US" sz="1200" kern="1200">
                          <a:solidFill>
                            <a:srgbClr val="000000"/>
                          </a:solidFill>
                          <a:latin typeface="Calibri"/>
                          <a:ea typeface="Times New Roman"/>
                          <a:cs typeface="Calibri"/>
                        </a:rPr>
                        <a:t> </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kern="1200">
                          <a:solidFill>
                            <a:srgbClr val="000000"/>
                          </a:solidFill>
                          <a:latin typeface="Calibri"/>
                          <a:ea typeface="Times New Roman"/>
                          <a:cs typeface="Calibri"/>
                        </a:rPr>
                        <a:t>It is used to suspend the thread.</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77214">
                <a:tc>
                  <a:txBody>
                    <a:bodyPr/>
                    <a:lstStyle/>
                    <a:p>
                      <a:pPr marL="0" marR="0" algn="ctr">
                        <a:lnSpc>
                          <a:spcPts val="1175"/>
                        </a:lnSpc>
                        <a:spcBef>
                          <a:spcPts val="0"/>
                        </a:spcBef>
                        <a:spcAft>
                          <a:spcPts val="0"/>
                        </a:spcAft>
                      </a:pPr>
                      <a:r>
                        <a:rPr lang="en-US" sz="1200" kern="1200">
                          <a:solidFill>
                            <a:srgbClr val="000000"/>
                          </a:solidFill>
                          <a:latin typeface="Calibri"/>
                          <a:ea typeface="Times New Roman"/>
                          <a:cs typeface="Calibri"/>
                        </a:rPr>
                        <a:t>14)</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ts val="1175"/>
                        </a:lnSpc>
                        <a:spcBef>
                          <a:spcPts val="0"/>
                        </a:spcBef>
                        <a:spcAft>
                          <a:spcPts val="0"/>
                        </a:spcAft>
                      </a:pPr>
                      <a:r>
                        <a:rPr lang="en-US" sz="1200" kern="1200">
                          <a:solidFill>
                            <a:srgbClr val="000000"/>
                          </a:solidFill>
                          <a:latin typeface="Calibri"/>
                          <a:ea typeface="Times New Roman"/>
                          <a:cs typeface="Calibri"/>
                        </a:rPr>
                        <a:t>void</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ts val="1175"/>
                        </a:lnSpc>
                        <a:spcBef>
                          <a:spcPts val="0"/>
                        </a:spcBef>
                        <a:spcAft>
                          <a:spcPts val="0"/>
                        </a:spcAft>
                      </a:pPr>
                      <a:r>
                        <a:rPr lang="en-US" sz="1200" u="sng" kern="1200">
                          <a:solidFill>
                            <a:srgbClr val="0000FF"/>
                          </a:solidFill>
                          <a:latin typeface="Calibri"/>
                          <a:ea typeface="Times New Roman"/>
                          <a:cs typeface="Calibri"/>
                          <a:hlinkClick r:id="rId15"/>
                        </a:rPr>
                        <a:t>resume()</a:t>
                      </a:r>
                      <a:r>
                        <a:rPr lang="en-US" sz="1200" kern="1200">
                          <a:solidFill>
                            <a:srgbClr val="000000"/>
                          </a:solidFill>
                          <a:latin typeface="Calibri"/>
                          <a:ea typeface="Times New Roman"/>
                          <a:cs typeface="Calibri"/>
                        </a:rPr>
                        <a:t> </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ts val="1175"/>
                        </a:lnSpc>
                        <a:spcBef>
                          <a:spcPts val="0"/>
                        </a:spcBef>
                        <a:spcAft>
                          <a:spcPts val="0"/>
                        </a:spcAft>
                      </a:pPr>
                      <a:r>
                        <a:rPr lang="en-US" sz="1200" kern="1200" dirty="0">
                          <a:solidFill>
                            <a:srgbClr val="000000"/>
                          </a:solidFill>
                          <a:latin typeface="Calibri"/>
                          <a:ea typeface="Times New Roman"/>
                          <a:cs typeface="Calibri"/>
                        </a:rPr>
                        <a:t>It is used to resume the suspended thread.</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224900">
                <a:tc>
                  <a:txBody>
                    <a:bodyPr/>
                    <a:lstStyle/>
                    <a:p>
                      <a:pPr marL="0" marR="0" algn="ctr">
                        <a:lnSpc>
                          <a:spcPct val="115000"/>
                        </a:lnSpc>
                        <a:spcBef>
                          <a:spcPts val="0"/>
                        </a:spcBef>
                        <a:spcAft>
                          <a:spcPts val="0"/>
                        </a:spcAft>
                      </a:pPr>
                      <a:r>
                        <a:rPr lang="en-US" sz="1200" kern="1200">
                          <a:solidFill>
                            <a:srgbClr val="000000"/>
                          </a:solidFill>
                          <a:latin typeface="Calibri"/>
                          <a:ea typeface="Times New Roman"/>
                          <a:cs typeface="Calibri"/>
                        </a:rPr>
                        <a:t>15)</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kern="1200">
                          <a:solidFill>
                            <a:srgbClr val="000000"/>
                          </a:solidFill>
                          <a:latin typeface="Calibri"/>
                          <a:ea typeface="Times New Roman"/>
                          <a:cs typeface="Calibri"/>
                        </a:rPr>
                        <a:t>void</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u="sng" kern="1200">
                          <a:solidFill>
                            <a:srgbClr val="0000FF"/>
                          </a:solidFill>
                          <a:latin typeface="Calibri"/>
                          <a:ea typeface="Times New Roman"/>
                          <a:cs typeface="Calibri"/>
                          <a:hlinkClick r:id="rId16"/>
                        </a:rPr>
                        <a:t>stop()</a:t>
                      </a:r>
                      <a:r>
                        <a:rPr lang="en-US" sz="1200" kern="1200">
                          <a:solidFill>
                            <a:srgbClr val="000000"/>
                          </a:solidFill>
                          <a:latin typeface="Calibri"/>
                          <a:ea typeface="Times New Roman"/>
                          <a:cs typeface="Calibri"/>
                        </a:rPr>
                        <a:t> </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kern="1200" dirty="0">
                          <a:solidFill>
                            <a:srgbClr val="000000"/>
                          </a:solidFill>
                          <a:latin typeface="Calibri"/>
                          <a:ea typeface="Times New Roman"/>
                          <a:cs typeface="Calibri"/>
                        </a:rPr>
                        <a:t>It is used to stop the thread.</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344281">
                <a:tc>
                  <a:txBody>
                    <a:bodyPr/>
                    <a:lstStyle/>
                    <a:p>
                      <a:pPr marL="0" marR="0" algn="ctr">
                        <a:lnSpc>
                          <a:spcPts val="1450"/>
                        </a:lnSpc>
                        <a:spcBef>
                          <a:spcPts val="0"/>
                        </a:spcBef>
                        <a:spcAft>
                          <a:spcPts val="0"/>
                        </a:spcAft>
                      </a:pPr>
                      <a:r>
                        <a:rPr lang="en-US" sz="1200" kern="1200">
                          <a:solidFill>
                            <a:srgbClr val="000000"/>
                          </a:solidFill>
                          <a:latin typeface="Calibri"/>
                          <a:ea typeface="Times New Roman"/>
                          <a:cs typeface="Calibri"/>
                        </a:rPr>
                        <a:t>16)</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ts val="1450"/>
                        </a:lnSpc>
                        <a:spcBef>
                          <a:spcPts val="0"/>
                        </a:spcBef>
                        <a:spcAft>
                          <a:spcPts val="0"/>
                        </a:spcAft>
                      </a:pPr>
                      <a:r>
                        <a:rPr lang="en-US" sz="1200" kern="1200">
                          <a:solidFill>
                            <a:srgbClr val="000000"/>
                          </a:solidFill>
                          <a:latin typeface="Calibri"/>
                          <a:ea typeface="Times New Roman"/>
                          <a:cs typeface="Calibri"/>
                        </a:rPr>
                        <a:t>void</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ts val="1450"/>
                        </a:lnSpc>
                        <a:spcBef>
                          <a:spcPts val="0"/>
                        </a:spcBef>
                        <a:spcAft>
                          <a:spcPts val="0"/>
                        </a:spcAft>
                      </a:pPr>
                      <a:r>
                        <a:rPr lang="en-US" sz="1200" u="sng" kern="1200">
                          <a:solidFill>
                            <a:srgbClr val="0000FF"/>
                          </a:solidFill>
                          <a:latin typeface="Calibri"/>
                          <a:ea typeface="Times New Roman"/>
                          <a:cs typeface="Calibri"/>
                          <a:hlinkClick r:id="rId17"/>
                        </a:rPr>
                        <a:t>destroy()</a:t>
                      </a:r>
                      <a:r>
                        <a:rPr lang="en-US" sz="1200" kern="1200">
                          <a:solidFill>
                            <a:srgbClr val="000000"/>
                          </a:solidFill>
                          <a:latin typeface="Calibri"/>
                          <a:ea typeface="Times New Roman"/>
                          <a:cs typeface="Calibri"/>
                        </a:rPr>
                        <a:t> </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ts val="1450"/>
                        </a:lnSpc>
                        <a:spcBef>
                          <a:spcPts val="0"/>
                        </a:spcBef>
                        <a:spcAft>
                          <a:spcPts val="0"/>
                        </a:spcAft>
                      </a:pPr>
                      <a:r>
                        <a:rPr lang="en-US" sz="1200" kern="1200" dirty="0">
                          <a:solidFill>
                            <a:srgbClr val="000000"/>
                          </a:solidFill>
                          <a:latin typeface="Calibri"/>
                          <a:ea typeface="Times New Roman"/>
                          <a:cs typeface="Calibri"/>
                        </a:rPr>
                        <a:t>It is used to destroy the thread group and all of its subgroups.</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277214">
                <a:tc>
                  <a:txBody>
                    <a:bodyPr/>
                    <a:lstStyle/>
                    <a:p>
                      <a:pPr marL="0" marR="0" algn="ctr">
                        <a:lnSpc>
                          <a:spcPts val="1175"/>
                        </a:lnSpc>
                        <a:spcBef>
                          <a:spcPts val="0"/>
                        </a:spcBef>
                        <a:spcAft>
                          <a:spcPts val="0"/>
                        </a:spcAft>
                      </a:pPr>
                      <a:r>
                        <a:rPr lang="en-US" sz="1200" kern="1200">
                          <a:solidFill>
                            <a:srgbClr val="000000"/>
                          </a:solidFill>
                          <a:latin typeface="Calibri"/>
                          <a:ea typeface="Times New Roman"/>
                          <a:cs typeface="Calibri"/>
                        </a:rPr>
                        <a:t>17)</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ts val="1175"/>
                        </a:lnSpc>
                        <a:spcBef>
                          <a:spcPts val="0"/>
                        </a:spcBef>
                        <a:spcAft>
                          <a:spcPts val="0"/>
                        </a:spcAft>
                      </a:pPr>
                      <a:r>
                        <a:rPr lang="en-US" sz="1200" kern="1200">
                          <a:solidFill>
                            <a:srgbClr val="000000"/>
                          </a:solidFill>
                          <a:latin typeface="Calibri"/>
                          <a:ea typeface="Times New Roman"/>
                          <a:cs typeface="Calibri"/>
                        </a:rPr>
                        <a:t>boolean</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ts val="1175"/>
                        </a:lnSpc>
                        <a:spcBef>
                          <a:spcPts val="0"/>
                        </a:spcBef>
                        <a:spcAft>
                          <a:spcPts val="0"/>
                        </a:spcAft>
                      </a:pPr>
                      <a:r>
                        <a:rPr lang="en-US" sz="1200" u="sng" kern="1200">
                          <a:solidFill>
                            <a:srgbClr val="0000FF"/>
                          </a:solidFill>
                          <a:latin typeface="Calibri"/>
                          <a:ea typeface="Times New Roman"/>
                          <a:cs typeface="Calibri"/>
                          <a:hlinkClick r:id="rId18"/>
                        </a:rPr>
                        <a:t>isDaemon()</a:t>
                      </a:r>
                      <a:r>
                        <a:rPr lang="en-US" sz="1200" kern="1200">
                          <a:solidFill>
                            <a:srgbClr val="000000"/>
                          </a:solidFill>
                          <a:latin typeface="Calibri"/>
                          <a:ea typeface="Times New Roman"/>
                          <a:cs typeface="Calibri"/>
                        </a:rPr>
                        <a:t> </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ts val="1175"/>
                        </a:lnSpc>
                        <a:spcBef>
                          <a:spcPts val="0"/>
                        </a:spcBef>
                        <a:spcAft>
                          <a:spcPts val="0"/>
                        </a:spcAft>
                      </a:pPr>
                      <a:r>
                        <a:rPr lang="en-US" sz="1200" kern="1200" dirty="0">
                          <a:solidFill>
                            <a:srgbClr val="000000"/>
                          </a:solidFill>
                          <a:latin typeface="Calibri"/>
                          <a:ea typeface="Times New Roman"/>
                          <a:cs typeface="Calibri"/>
                        </a:rPr>
                        <a:t>It tests if the thread is a daemon thread.</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277214">
                <a:tc>
                  <a:txBody>
                    <a:bodyPr/>
                    <a:lstStyle/>
                    <a:p>
                      <a:pPr marL="0" marR="0" algn="ctr">
                        <a:lnSpc>
                          <a:spcPts val="1175"/>
                        </a:lnSpc>
                        <a:spcBef>
                          <a:spcPts val="0"/>
                        </a:spcBef>
                        <a:spcAft>
                          <a:spcPts val="0"/>
                        </a:spcAft>
                      </a:pPr>
                      <a:r>
                        <a:rPr lang="en-US" sz="1200" kern="1200">
                          <a:solidFill>
                            <a:srgbClr val="000000"/>
                          </a:solidFill>
                          <a:latin typeface="Calibri"/>
                          <a:ea typeface="Times New Roman"/>
                          <a:cs typeface="Calibri"/>
                        </a:rPr>
                        <a:t>18)</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ts val="1175"/>
                        </a:lnSpc>
                        <a:spcBef>
                          <a:spcPts val="0"/>
                        </a:spcBef>
                        <a:spcAft>
                          <a:spcPts val="0"/>
                        </a:spcAft>
                      </a:pPr>
                      <a:r>
                        <a:rPr lang="en-US" sz="1200" kern="1200">
                          <a:solidFill>
                            <a:srgbClr val="000000"/>
                          </a:solidFill>
                          <a:latin typeface="Calibri"/>
                          <a:ea typeface="Times New Roman"/>
                          <a:cs typeface="Calibri"/>
                        </a:rPr>
                        <a:t>void</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ts val="1175"/>
                        </a:lnSpc>
                        <a:spcBef>
                          <a:spcPts val="0"/>
                        </a:spcBef>
                        <a:spcAft>
                          <a:spcPts val="0"/>
                        </a:spcAft>
                      </a:pPr>
                      <a:r>
                        <a:rPr lang="en-US" sz="1200" u="sng" kern="1200">
                          <a:solidFill>
                            <a:srgbClr val="0000FF"/>
                          </a:solidFill>
                          <a:latin typeface="Calibri"/>
                          <a:ea typeface="Times New Roman"/>
                          <a:cs typeface="Calibri"/>
                          <a:hlinkClick r:id="rId19"/>
                        </a:rPr>
                        <a:t>setDaemon()</a:t>
                      </a:r>
                      <a:r>
                        <a:rPr lang="en-US" sz="1200" kern="1200">
                          <a:solidFill>
                            <a:srgbClr val="000000"/>
                          </a:solidFill>
                          <a:latin typeface="Calibri"/>
                          <a:ea typeface="Times New Roman"/>
                          <a:cs typeface="Calibri"/>
                        </a:rPr>
                        <a:t> </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ts val="1175"/>
                        </a:lnSpc>
                        <a:spcBef>
                          <a:spcPts val="0"/>
                        </a:spcBef>
                        <a:spcAft>
                          <a:spcPts val="0"/>
                        </a:spcAft>
                      </a:pPr>
                      <a:r>
                        <a:rPr lang="en-US" sz="1200" kern="1200" dirty="0">
                          <a:solidFill>
                            <a:srgbClr val="000000"/>
                          </a:solidFill>
                          <a:latin typeface="Calibri"/>
                          <a:ea typeface="Times New Roman"/>
                          <a:cs typeface="Calibri"/>
                        </a:rPr>
                        <a:t>It marks the thread as daemon or user thread.</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r h="224900">
                <a:tc>
                  <a:txBody>
                    <a:bodyPr/>
                    <a:lstStyle/>
                    <a:p>
                      <a:pPr marL="0" marR="0" algn="ctr">
                        <a:lnSpc>
                          <a:spcPct val="115000"/>
                        </a:lnSpc>
                        <a:spcBef>
                          <a:spcPts val="0"/>
                        </a:spcBef>
                        <a:spcAft>
                          <a:spcPts val="0"/>
                        </a:spcAft>
                      </a:pPr>
                      <a:r>
                        <a:rPr lang="en-US" sz="1200" kern="1200">
                          <a:solidFill>
                            <a:srgbClr val="000000"/>
                          </a:solidFill>
                          <a:latin typeface="Calibri"/>
                          <a:ea typeface="Times New Roman"/>
                          <a:cs typeface="Calibri"/>
                        </a:rPr>
                        <a:t>19)</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kern="1200">
                          <a:solidFill>
                            <a:srgbClr val="000000"/>
                          </a:solidFill>
                          <a:latin typeface="Calibri"/>
                          <a:ea typeface="Times New Roman"/>
                          <a:cs typeface="Calibri"/>
                        </a:rPr>
                        <a:t>void</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u="sng" kern="1200" dirty="0">
                          <a:solidFill>
                            <a:srgbClr val="0000FF"/>
                          </a:solidFill>
                          <a:latin typeface="Calibri"/>
                          <a:ea typeface="Times New Roman"/>
                          <a:cs typeface="Calibri"/>
                          <a:hlinkClick r:id="rId20"/>
                        </a:rPr>
                        <a:t>interrupt()</a:t>
                      </a:r>
                      <a:r>
                        <a:rPr lang="en-US" sz="1200" kern="1200" dirty="0">
                          <a:solidFill>
                            <a:srgbClr val="000000"/>
                          </a:solidFill>
                          <a:latin typeface="Calibri"/>
                          <a:ea typeface="Times New Roman"/>
                          <a:cs typeface="Calibri"/>
                        </a:rPr>
                        <a:t> </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kern="1200" dirty="0">
                          <a:solidFill>
                            <a:srgbClr val="000000"/>
                          </a:solidFill>
                          <a:latin typeface="Calibri"/>
                          <a:ea typeface="Times New Roman"/>
                          <a:cs typeface="Calibri"/>
                        </a:rPr>
                        <a:t>It interrupts the thread.</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344281">
                <a:tc>
                  <a:txBody>
                    <a:bodyPr/>
                    <a:lstStyle/>
                    <a:p>
                      <a:pPr marL="0" marR="0" algn="ctr">
                        <a:lnSpc>
                          <a:spcPts val="1450"/>
                        </a:lnSpc>
                        <a:spcBef>
                          <a:spcPts val="0"/>
                        </a:spcBef>
                        <a:spcAft>
                          <a:spcPts val="0"/>
                        </a:spcAft>
                      </a:pPr>
                      <a:r>
                        <a:rPr lang="en-US" sz="1200" kern="1200">
                          <a:solidFill>
                            <a:srgbClr val="000000"/>
                          </a:solidFill>
                          <a:latin typeface="Calibri"/>
                          <a:ea typeface="Times New Roman"/>
                          <a:cs typeface="Calibri"/>
                        </a:rPr>
                        <a:t>20)</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ts val="1450"/>
                        </a:lnSpc>
                        <a:spcBef>
                          <a:spcPts val="0"/>
                        </a:spcBef>
                        <a:spcAft>
                          <a:spcPts val="0"/>
                        </a:spcAft>
                      </a:pPr>
                      <a:r>
                        <a:rPr lang="en-US" sz="1200" kern="1200">
                          <a:solidFill>
                            <a:srgbClr val="000000"/>
                          </a:solidFill>
                          <a:latin typeface="Calibri"/>
                          <a:ea typeface="Times New Roman"/>
                          <a:cs typeface="Calibri"/>
                        </a:rPr>
                        <a:t>boolean</a:t>
                      </a:r>
                      <a:endParaRPr lang="en-US" sz="120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ts val="1450"/>
                        </a:lnSpc>
                        <a:spcBef>
                          <a:spcPts val="0"/>
                        </a:spcBef>
                        <a:spcAft>
                          <a:spcPts val="0"/>
                        </a:spcAft>
                      </a:pPr>
                      <a:r>
                        <a:rPr lang="en-US" sz="1200" u="sng" kern="1200" dirty="0" err="1">
                          <a:solidFill>
                            <a:srgbClr val="0000FF"/>
                          </a:solidFill>
                          <a:latin typeface="Calibri"/>
                          <a:ea typeface="Times New Roman"/>
                          <a:cs typeface="Calibri"/>
                          <a:hlinkClick r:id="rId21"/>
                        </a:rPr>
                        <a:t>isinterrupted</a:t>
                      </a:r>
                      <a:r>
                        <a:rPr lang="en-US" sz="1200" u="sng" kern="1200" dirty="0">
                          <a:solidFill>
                            <a:srgbClr val="0000FF"/>
                          </a:solidFill>
                          <a:latin typeface="Calibri"/>
                          <a:ea typeface="Times New Roman"/>
                          <a:cs typeface="Calibri"/>
                          <a:hlinkClick r:id="rId21"/>
                        </a:rPr>
                        <a:t>()</a:t>
                      </a:r>
                      <a:r>
                        <a:rPr lang="en-US" sz="1200" kern="1200" dirty="0">
                          <a:solidFill>
                            <a:srgbClr val="000000"/>
                          </a:solidFill>
                          <a:latin typeface="Calibri"/>
                          <a:ea typeface="Times New Roman"/>
                          <a:cs typeface="Calibri"/>
                        </a:rPr>
                        <a:t> </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ts val="1450"/>
                        </a:lnSpc>
                        <a:spcBef>
                          <a:spcPts val="0"/>
                        </a:spcBef>
                        <a:spcAft>
                          <a:spcPts val="0"/>
                        </a:spcAft>
                      </a:pPr>
                      <a:r>
                        <a:rPr lang="en-US" sz="1200" kern="1200" dirty="0">
                          <a:solidFill>
                            <a:srgbClr val="000000"/>
                          </a:solidFill>
                          <a:latin typeface="Calibri"/>
                          <a:ea typeface="Times New Roman"/>
                          <a:cs typeface="Calibri"/>
                        </a:rPr>
                        <a:t>It tests whether the thread has been interrupted.</a:t>
                      </a:r>
                      <a:endParaRPr lang="en-US" sz="1200" dirty="0">
                        <a:latin typeface="Calibri"/>
                        <a:ea typeface="Calibri"/>
                        <a:cs typeface="Times New Roman"/>
                      </a:endParaRPr>
                    </a:p>
                  </a:txBody>
                  <a:tcPr marL="5080" marR="5080" marT="2540" marB="25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Life cycle of a Thread (Thread States)</a:t>
            </a:r>
            <a:endParaRPr lang="en-US" dirty="0"/>
          </a:p>
        </p:txBody>
      </p:sp>
      <p:sp>
        <p:nvSpPr>
          <p:cNvPr id="3" name="Content Placeholder 2"/>
          <p:cNvSpPr>
            <a:spLocks noGrp="1"/>
          </p:cNvSpPr>
          <p:nvPr>
            <p:ph idx="1"/>
          </p:nvPr>
        </p:nvSpPr>
        <p:spPr>
          <a:xfrm>
            <a:off x="228600" y="1295400"/>
            <a:ext cx="8458200" cy="4830763"/>
          </a:xfrm>
        </p:spPr>
        <p:txBody>
          <a:bodyPr>
            <a:normAutofit/>
          </a:bodyPr>
          <a:lstStyle/>
          <a:p>
            <a:pPr>
              <a:buFont typeface="+mj-lt"/>
              <a:buAutoNum type="arabicPeriod"/>
            </a:pPr>
            <a:r>
              <a:rPr lang="en-US" b="1" dirty="0"/>
              <a:t>New: </a:t>
            </a:r>
            <a:r>
              <a:rPr lang="en-US" dirty="0"/>
              <a:t>The thread is in new state if you create an instance of Thread class but before the invocation of start() method. </a:t>
            </a:r>
          </a:p>
          <a:p>
            <a:pPr>
              <a:buFont typeface="+mj-lt"/>
              <a:buAutoNum type="arabicPeriod"/>
            </a:pPr>
            <a:r>
              <a:rPr lang="en-US" b="1" dirty="0" err="1"/>
              <a:t>Runnable</a:t>
            </a:r>
            <a:r>
              <a:rPr lang="en-US" b="1" dirty="0"/>
              <a:t>: </a:t>
            </a:r>
            <a:r>
              <a:rPr lang="en-US" dirty="0"/>
              <a:t>The thread is in </a:t>
            </a:r>
            <a:r>
              <a:rPr lang="en-US" dirty="0" err="1"/>
              <a:t>runnable</a:t>
            </a:r>
            <a:r>
              <a:rPr lang="en-US" dirty="0"/>
              <a:t> state after invocation of start() method, but the thread scheduler has not selected it to be the running thread. </a:t>
            </a:r>
          </a:p>
          <a:p>
            <a:pPr>
              <a:buFont typeface="+mj-lt"/>
              <a:buAutoNum type="arabicPeriod"/>
            </a:pPr>
            <a:r>
              <a:rPr lang="en-US" b="1" dirty="0"/>
              <a:t>Running: </a:t>
            </a:r>
            <a:r>
              <a:rPr lang="en-US" dirty="0"/>
              <a:t>The thread is in running state if the thread scheduler has selected it. </a:t>
            </a:r>
          </a:p>
          <a:p>
            <a:pPr>
              <a:buFont typeface="+mj-lt"/>
              <a:buAutoNum type="arabicPeriod"/>
            </a:pPr>
            <a:r>
              <a:rPr lang="en-US" b="1" dirty="0"/>
              <a:t>Non-</a:t>
            </a:r>
            <a:r>
              <a:rPr lang="en-US" b="1" dirty="0" err="1"/>
              <a:t>Runnable</a:t>
            </a:r>
            <a:r>
              <a:rPr lang="en-US" b="1" dirty="0"/>
              <a:t> (Blocked): </a:t>
            </a:r>
            <a:r>
              <a:rPr lang="en-US" dirty="0"/>
              <a:t>This is the state when the thread is still alive, but is currently not eligible to run. </a:t>
            </a:r>
          </a:p>
          <a:p>
            <a:pPr>
              <a:buFont typeface="+mj-lt"/>
              <a:buAutoNum type="arabicPeriod"/>
            </a:pPr>
            <a:r>
              <a:rPr lang="en-US" b="1" dirty="0"/>
              <a:t>Terminated: </a:t>
            </a:r>
            <a:r>
              <a:rPr lang="en-US" dirty="0"/>
              <a:t>A thread is in terminated or dead state when its run() method exits. </a:t>
            </a:r>
          </a:p>
          <a:p>
            <a:pPr>
              <a:buFont typeface="+mj-lt"/>
              <a:buAutoNum type="arabicPeriod"/>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ChangeAspect="1" noChangeArrowheads="1"/>
          </p:cNvPicPr>
          <p:nvPr/>
        </p:nvPicPr>
        <p:blipFill>
          <a:blip r:embed="rId2"/>
          <a:srcRect/>
          <a:stretch>
            <a:fillRect/>
          </a:stretch>
        </p:blipFill>
        <p:spPr bwMode="auto">
          <a:xfrm>
            <a:off x="1143000" y="1600200"/>
            <a:ext cx="7091363" cy="4517157"/>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r>
              <a:rPr lang="en-US" b="1" dirty="0"/>
              <a:t>Life cycle of a Thread (Thread States)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How to create thread</a:t>
            </a:r>
            <a:endParaRPr lang="en-US" dirty="0"/>
          </a:p>
        </p:txBody>
      </p:sp>
      <p:sp>
        <p:nvSpPr>
          <p:cNvPr id="3" name="Content Placeholder 2"/>
          <p:cNvSpPr>
            <a:spLocks noGrp="1"/>
          </p:cNvSpPr>
          <p:nvPr>
            <p:ph idx="1"/>
          </p:nvPr>
        </p:nvSpPr>
        <p:spPr/>
        <p:txBody>
          <a:bodyPr/>
          <a:lstStyle/>
          <a:p>
            <a:pPr>
              <a:buNone/>
            </a:pPr>
            <a:r>
              <a:rPr lang="en-US" dirty="0"/>
              <a:t>There are two ways to create a thread:</a:t>
            </a:r>
          </a:p>
          <a:p>
            <a:pPr>
              <a:buFont typeface="+mj-lt"/>
              <a:buAutoNum type="arabicPeriod"/>
            </a:pPr>
            <a:r>
              <a:rPr lang="en-US" dirty="0"/>
              <a:t>By extending Thread class</a:t>
            </a:r>
          </a:p>
          <a:p>
            <a:pPr>
              <a:buFont typeface="+mj-lt"/>
              <a:buAutoNum type="arabicPeriod"/>
            </a:pPr>
            <a:r>
              <a:rPr lang="en-US" dirty="0"/>
              <a:t>By implementing </a:t>
            </a:r>
            <a:r>
              <a:rPr lang="en-US" dirty="0" err="1"/>
              <a:t>Runnable</a:t>
            </a:r>
            <a:r>
              <a:rPr lang="en-US" dirty="0"/>
              <a:t> interface.</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1. Thread class</a:t>
            </a:r>
            <a:endParaRPr lang="en-US" dirty="0"/>
          </a:p>
        </p:txBody>
      </p:sp>
      <p:sp>
        <p:nvSpPr>
          <p:cNvPr id="3" name="Content Placeholder 2"/>
          <p:cNvSpPr>
            <a:spLocks noGrp="1"/>
          </p:cNvSpPr>
          <p:nvPr>
            <p:ph idx="1"/>
          </p:nvPr>
        </p:nvSpPr>
        <p:spPr>
          <a:xfrm>
            <a:off x="457200" y="1295400"/>
            <a:ext cx="8229600" cy="5562600"/>
          </a:xfrm>
        </p:spPr>
        <p:txBody>
          <a:bodyPr>
            <a:noAutofit/>
          </a:bodyPr>
          <a:lstStyle/>
          <a:p>
            <a:pPr>
              <a:buNone/>
            </a:pPr>
            <a:r>
              <a:rPr lang="en-US" sz="1200" b="1" dirty="0"/>
              <a:t>Commonly used methods of Thread class:</a:t>
            </a:r>
          </a:p>
          <a:p>
            <a:pPr>
              <a:buFont typeface="+mj-lt"/>
              <a:buAutoNum type="arabicPeriod"/>
            </a:pPr>
            <a:r>
              <a:rPr lang="en-US" sz="1200" b="1" dirty="0"/>
              <a:t>public void run(): </a:t>
            </a:r>
            <a:r>
              <a:rPr lang="en-US" sz="1200" dirty="0"/>
              <a:t>is used to perform action for a thread.</a:t>
            </a:r>
          </a:p>
          <a:p>
            <a:pPr>
              <a:buFont typeface="+mj-lt"/>
              <a:buAutoNum type="arabicPeriod"/>
            </a:pPr>
            <a:r>
              <a:rPr lang="en-US" sz="1200" b="1" dirty="0"/>
              <a:t>public void start(): </a:t>
            </a:r>
            <a:r>
              <a:rPr lang="en-US" sz="1200" dirty="0"/>
              <a:t>starts the execution of the thread.JVM calls the run() method on the thread.</a:t>
            </a:r>
          </a:p>
          <a:p>
            <a:pPr>
              <a:buFont typeface="+mj-lt"/>
              <a:buAutoNum type="arabicPeriod"/>
            </a:pPr>
            <a:r>
              <a:rPr lang="en-US" sz="1200" b="1" dirty="0"/>
              <a:t>public void sleep(long </a:t>
            </a:r>
            <a:r>
              <a:rPr lang="en-US" sz="1200" b="1" dirty="0" err="1"/>
              <a:t>miliseconds</a:t>
            </a:r>
            <a:r>
              <a:rPr lang="en-US" sz="1200" b="1" dirty="0"/>
              <a:t>): </a:t>
            </a:r>
            <a:r>
              <a:rPr lang="en-US" sz="1200" dirty="0"/>
              <a:t>Causes the currently executing thread to sleep (temporarily cease execution) for the specified number of milliseconds.</a:t>
            </a:r>
          </a:p>
          <a:p>
            <a:pPr>
              <a:buFont typeface="+mj-lt"/>
              <a:buAutoNum type="arabicPeriod"/>
            </a:pPr>
            <a:r>
              <a:rPr lang="en-US" sz="1200" b="1" dirty="0"/>
              <a:t>public void join(): </a:t>
            </a:r>
            <a:r>
              <a:rPr lang="en-US" sz="1200" dirty="0"/>
              <a:t>waits for a thread to die.</a:t>
            </a:r>
          </a:p>
          <a:p>
            <a:pPr>
              <a:buFont typeface="+mj-lt"/>
              <a:buAutoNum type="arabicPeriod"/>
            </a:pPr>
            <a:r>
              <a:rPr lang="en-US" sz="1200" b="1" dirty="0"/>
              <a:t>public void join(long </a:t>
            </a:r>
            <a:r>
              <a:rPr lang="en-US" sz="1200" b="1" dirty="0" err="1"/>
              <a:t>miliseconds</a:t>
            </a:r>
            <a:r>
              <a:rPr lang="en-US" sz="1200" b="1" dirty="0"/>
              <a:t>): </a:t>
            </a:r>
            <a:r>
              <a:rPr lang="en-US" sz="1200" dirty="0"/>
              <a:t>waits for a thread to die for the specified </a:t>
            </a:r>
            <a:r>
              <a:rPr lang="en-US" sz="1200" dirty="0" err="1"/>
              <a:t>miliseconds</a:t>
            </a:r>
            <a:r>
              <a:rPr lang="en-US" sz="1200" dirty="0"/>
              <a:t>.</a:t>
            </a:r>
          </a:p>
          <a:p>
            <a:pPr>
              <a:buFont typeface="+mj-lt"/>
              <a:buAutoNum type="arabicPeriod"/>
            </a:pPr>
            <a:r>
              <a:rPr lang="en-US" sz="1200" b="1" dirty="0"/>
              <a:t>public </a:t>
            </a:r>
            <a:r>
              <a:rPr lang="en-US" sz="1200" b="1" dirty="0" err="1"/>
              <a:t>int</a:t>
            </a:r>
            <a:r>
              <a:rPr lang="en-US" sz="1200" b="1" dirty="0"/>
              <a:t> </a:t>
            </a:r>
            <a:r>
              <a:rPr lang="en-US" sz="1200" b="1" dirty="0" err="1"/>
              <a:t>getPriority</a:t>
            </a:r>
            <a:r>
              <a:rPr lang="en-US" sz="1200" b="1" dirty="0"/>
              <a:t>(): </a:t>
            </a:r>
            <a:r>
              <a:rPr lang="en-US" sz="1200" dirty="0"/>
              <a:t>returns the priority of the thread.</a:t>
            </a:r>
          </a:p>
          <a:p>
            <a:pPr>
              <a:buFont typeface="+mj-lt"/>
              <a:buAutoNum type="arabicPeriod"/>
            </a:pPr>
            <a:r>
              <a:rPr lang="en-US" sz="1200" b="1" dirty="0"/>
              <a:t>public </a:t>
            </a:r>
            <a:r>
              <a:rPr lang="en-US" sz="1200" b="1" dirty="0" err="1"/>
              <a:t>int</a:t>
            </a:r>
            <a:r>
              <a:rPr lang="en-US" sz="1200" b="1" dirty="0"/>
              <a:t> </a:t>
            </a:r>
            <a:r>
              <a:rPr lang="en-US" sz="1200" b="1" dirty="0" err="1"/>
              <a:t>setPriority</a:t>
            </a:r>
            <a:r>
              <a:rPr lang="en-US" sz="1200" b="1" dirty="0"/>
              <a:t>(</a:t>
            </a:r>
            <a:r>
              <a:rPr lang="en-US" sz="1200" b="1" dirty="0" err="1"/>
              <a:t>int</a:t>
            </a:r>
            <a:r>
              <a:rPr lang="en-US" sz="1200" b="1" dirty="0"/>
              <a:t> priority): </a:t>
            </a:r>
            <a:r>
              <a:rPr lang="en-US" sz="1200" dirty="0"/>
              <a:t>changes the priority of the thread.</a:t>
            </a:r>
          </a:p>
          <a:p>
            <a:pPr>
              <a:buFont typeface="+mj-lt"/>
              <a:buAutoNum type="arabicPeriod"/>
            </a:pPr>
            <a:r>
              <a:rPr lang="en-US" sz="1200" b="1" dirty="0"/>
              <a:t>public String </a:t>
            </a:r>
            <a:r>
              <a:rPr lang="en-US" sz="1200" b="1" dirty="0" err="1"/>
              <a:t>getName</a:t>
            </a:r>
            <a:r>
              <a:rPr lang="en-US" sz="1200" b="1" dirty="0"/>
              <a:t>(): </a:t>
            </a:r>
            <a:r>
              <a:rPr lang="en-US" sz="1200" dirty="0"/>
              <a:t>returns the name of the thread.</a:t>
            </a:r>
          </a:p>
          <a:p>
            <a:pPr>
              <a:buFont typeface="+mj-lt"/>
              <a:buAutoNum type="arabicPeriod"/>
            </a:pPr>
            <a:r>
              <a:rPr lang="en-US" sz="1200" b="1" dirty="0"/>
              <a:t>public void </a:t>
            </a:r>
            <a:r>
              <a:rPr lang="en-US" sz="1200" b="1" dirty="0" err="1"/>
              <a:t>setName</a:t>
            </a:r>
            <a:r>
              <a:rPr lang="en-US" sz="1200" b="1" dirty="0"/>
              <a:t>(String name): </a:t>
            </a:r>
            <a:r>
              <a:rPr lang="en-US" sz="1200" dirty="0"/>
              <a:t>changes the name of the thread.</a:t>
            </a:r>
          </a:p>
          <a:p>
            <a:pPr>
              <a:buFont typeface="+mj-lt"/>
              <a:buAutoNum type="arabicPeriod"/>
            </a:pPr>
            <a:r>
              <a:rPr lang="en-US" sz="1200" b="1" dirty="0"/>
              <a:t>public Thread </a:t>
            </a:r>
            <a:r>
              <a:rPr lang="en-US" sz="1200" b="1" dirty="0" err="1"/>
              <a:t>currentThread</a:t>
            </a:r>
            <a:r>
              <a:rPr lang="en-US" sz="1200" b="1" dirty="0"/>
              <a:t>(): </a:t>
            </a:r>
            <a:r>
              <a:rPr lang="en-US" sz="1200" dirty="0"/>
              <a:t>returns the reference of currently executing thread.</a:t>
            </a:r>
          </a:p>
          <a:p>
            <a:pPr>
              <a:buFont typeface="+mj-lt"/>
              <a:buAutoNum type="arabicPeriod"/>
            </a:pPr>
            <a:r>
              <a:rPr lang="en-US" sz="1200" b="1" dirty="0"/>
              <a:t>public </a:t>
            </a:r>
            <a:r>
              <a:rPr lang="en-US" sz="1200" b="1" dirty="0" err="1"/>
              <a:t>int</a:t>
            </a:r>
            <a:r>
              <a:rPr lang="en-US" sz="1200" b="1" dirty="0"/>
              <a:t> </a:t>
            </a:r>
            <a:r>
              <a:rPr lang="en-US" sz="1200" b="1" dirty="0" err="1"/>
              <a:t>getId</a:t>
            </a:r>
            <a:r>
              <a:rPr lang="en-US" sz="1200" b="1" dirty="0"/>
              <a:t>(): </a:t>
            </a:r>
            <a:r>
              <a:rPr lang="en-US" sz="1200" dirty="0"/>
              <a:t>returns the id of the thread.</a:t>
            </a:r>
          </a:p>
          <a:p>
            <a:pPr>
              <a:buFont typeface="+mj-lt"/>
              <a:buAutoNum type="arabicPeriod"/>
            </a:pPr>
            <a:r>
              <a:rPr lang="en-US" sz="1200" b="1" dirty="0"/>
              <a:t>public </a:t>
            </a:r>
            <a:r>
              <a:rPr lang="en-US" sz="1200" b="1" dirty="0" err="1"/>
              <a:t>Thread.State</a:t>
            </a:r>
            <a:r>
              <a:rPr lang="en-US" sz="1200" b="1" dirty="0"/>
              <a:t> </a:t>
            </a:r>
            <a:r>
              <a:rPr lang="en-US" sz="1200" b="1" dirty="0" err="1"/>
              <a:t>getState</a:t>
            </a:r>
            <a:r>
              <a:rPr lang="en-US" sz="1200" b="1" dirty="0"/>
              <a:t>(): </a:t>
            </a:r>
            <a:r>
              <a:rPr lang="en-US" sz="1200" dirty="0"/>
              <a:t>returns the state of the thread.</a:t>
            </a:r>
          </a:p>
          <a:p>
            <a:pPr>
              <a:buFont typeface="+mj-lt"/>
              <a:buAutoNum type="arabicPeriod"/>
            </a:pPr>
            <a:r>
              <a:rPr lang="en-US" sz="1200" b="1" dirty="0"/>
              <a:t>public </a:t>
            </a:r>
            <a:r>
              <a:rPr lang="en-US" sz="1200" b="1" dirty="0" err="1"/>
              <a:t>boolean</a:t>
            </a:r>
            <a:r>
              <a:rPr lang="en-US" sz="1200" b="1" dirty="0"/>
              <a:t> </a:t>
            </a:r>
            <a:r>
              <a:rPr lang="en-US" sz="1200" b="1" dirty="0" err="1"/>
              <a:t>isAlive</a:t>
            </a:r>
            <a:r>
              <a:rPr lang="en-US" sz="1200" b="1" dirty="0"/>
              <a:t>(): </a:t>
            </a:r>
            <a:r>
              <a:rPr lang="en-US" sz="1200" dirty="0"/>
              <a:t>tests if the thread is alive.</a:t>
            </a:r>
          </a:p>
          <a:p>
            <a:pPr>
              <a:buFont typeface="+mj-lt"/>
              <a:buAutoNum type="arabicPeriod"/>
            </a:pPr>
            <a:r>
              <a:rPr lang="en-US" sz="1200" b="1" dirty="0"/>
              <a:t>public void yield(): </a:t>
            </a:r>
            <a:r>
              <a:rPr lang="en-US" sz="1200" dirty="0"/>
              <a:t>causes the currently executing thread object to temporarily pause and allow other threads to execute.</a:t>
            </a:r>
          </a:p>
          <a:p>
            <a:pPr>
              <a:buFont typeface="+mj-lt"/>
              <a:buAutoNum type="arabicPeriod"/>
            </a:pPr>
            <a:r>
              <a:rPr lang="en-US" sz="1200" b="1" dirty="0"/>
              <a:t>public void suspend(): </a:t>
            </a:r>
            <a:r>
              <a:rPr lang="en-US" sz="1200" dirty="0"/>
              <a:t>is used to suspend the thread(</a:t>
            </a:r>
            <a:r>
              <a:rPr lang="en-US" sz="1200" dirty="0" err="1"/>
              <a:t>depricated</a:t>
            </a:r>
            <a:r>
              <a:rPr lang="en-US" sz="1200" dirty="0"/>
              <a:t>).</a:t>
            </a:r>
          </a:p>
          <a:p>
            <a:pPr>
              <a:buFont typeface="+mj-lt"/>
              <a:buAutoNum type="arabicPeriod"/>
            </a:pPr>
            <a:r>
              <a:rPr lang="en-US" sz="1200" b="1" dirty="0"/>
              <a:t>public void resume(): </a:t>
            </a:r>
            <a:r>
              <a:rPr lang="en-US" sz="1200" dirty="0"/>
              <a:t>is used to resume the suspended thread(</a:t>
            </a:r>
            <a:r>
              <a:rPr lang="en-US" sz="1200" dirty="0" err="1"/>
              <a:t>depricated</a:t>
            </a:r>
            <a:r>
              <a:rPr lang="en-US" sz="1200" dirty="0"/>
              <a:t>).</a:t>
            </a:r>
          </a:p>
          <a:p>
            <a:pPr>
              <a:buFont typeface="+mj-lt"/>
              <a:buAutoNum type="arabicPeriod"/>
            </a:pPr>
            <a:r>
              <a:rPr lang="en-US" sz="1200" b="1" dirty="0"/>
              <a:t>public void stop(): </a:t>
            </a:r>
            <a:r>
              <a:rPr lang="en-US" sz="1200" dirty="0"/>
              <a:t>is used to stop the thread(</a:t>
            </a:r>
            <a:r>
              <a:rPr lang="en-US" sz="1200" dirty="0" err="1"/>
              <a:t>depricated</a:t>
            </a:r>
            <a:r>
              <a:rPr lang="en-US" sz="1200" dirty="0"/>
              <a:t>).</a:t>
            </a:r>
          </a:p>
          <a:p>
            <a:pPr>
              <a:buFont typeface="+mj-lt"/>
              <a:buAutoNum type="arabicPeriod"/>
            </a:pP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944562"/>
          </a:xfrm>
        </p:spPr>
        <p:txBody>
          <a:bodyPr>
            <a:normAutofit fontScale="90000"/>
          </a:bodyPr>
          <a:lstStyle/>
          <a:p>
            <a:r>
              <a:rPr lang="en-US" b="1" dirty="0"/>
              <a:t>Java Thread Example by extending Thread class</a:t>
            </a:r>
            <a:endParaRPr lang="en-US" dirty="0"/>
          </a:p>
        </p:txBody>
      </p:sp>
      <p:sp>
        <p:nvSpPr>
          <p:cNvPr id="3" name="Content Placeholder 2"/>
          <p:cNvSpPr>
            <a:spLocks noGrp="1"/>
          </p:cNvSpPr>
          <p:nvPr>
            <p:ph idx="1"/>
          </p:nvPr>
        </p:nvSpPr>
        <p:spPr>
          <a:xfrm>
            <a:off x="457200" y="1295400"/>
            <a:ext cx="5334000" cy="4830763"/>
          </a:xfrm>
          <a:solidFill>
            <a:schemeClr val="bg1">
              <a:lumMod val="95000"/>
            </a:schemeClr>
          </a:solidFill>
          <a:ln>
            <a:solidFill>
              <a:schemeClr val="accent1"/>
            </a:solidFill>
          </a:ln>
        </p:spPr>
        <p:txBody>
          <a:bodyPr/>
          <a:lstStyle/>
          <a:p>
            <a:pPr>
              <a:buNone/>
            </a:pPr>
            <a:r>
              <a:rPr lang="en-US" dirty="0"/>
              <a:t>class Multi extends Thread {  </a:t>
            </a:r>
          </a:p>
          <a:p>
            <a:pPr>
              <a:buNone/>
            </a:pPr>
            <a:r>
              <a:rPr lang="en-US" dirty="0"/>
              <a:t>	public void run() {  </a:t>
            </a:r>
          </a:p>
          <a:p>
            <a:pPr>
              <a:buNone/>
            </a:pPr>
            <a:r>
              <a:rPr lang="en-US" dirty="0"/>
              <a:t>		</a:t>
            </a:r>
            <a:r>
              <a:rPr lang="en-US" dirty="0" err="1"/>
              <a:t>System.out.println</a:t>
            </a:r>
            <a:r>
              <a:rPr lang="en-US" dirty="0"/>
              <a:t>("thread is running...");  </a:t>
            </a:r>
          </a:p>
          <a:p>
            <a:pPr>
              <a:buNone/>
            </a:pPr>
            <a:r>
              <a:rPr lang="en-US" dirty="0"/>
              <a:t>	}  </a:t>
            </a:r>
          </a:p>
          <a:p>
            <a:pPr>
              <a:buNone/>
            </a:pPr>
            <a:r>
              <a:rPr lang="en-US" dirty="0"/>
              <a:t>	public static void main(String </a:t>
            </a:r>
            <a:r>
              <a:rPr lang="en-US" dirty="0" err="1"/>
              <a:t>args</a:t>
            </a:r>
            <a:r>
              <a:rPr lang="en-US" dirty="0"/>
              <a:t>[]) {  </a:t>
            </a:r>
          </a:p>
          <a:p>
            <a:pPr>
              <a:buNone/>
            </a:pPr>
            <a:r>
              <a:rPr lang="en-US" dirty="0"/>
              <a:t>		Multi t1=new Multi();  </a:t>
            </a:r>
          </a:p>
          <a:p>
            <a:pPr>
              <a:buNone/>
            </a:pPr>
            <a:r>
              <a:rPr lang="en-US" dirty="0"/>
              <a:t>		t1.start();   </a:t>
            </a:r>
          </a:p>
          <a:p>
            <a:pPr>
              <a:buNone/>
            </a:pPr>
            <a:r>
              <a:rPr lang="en-US" dirty="0"/>
              <a:t>	}  </a:t>
            </a:r>
          </a:p>
          <a:p>
            <a:pPr>
              <a:buNone/>
            </a:pPr>
            <a:r>
              <a:rPr lang="en-US" dirty="0"/>
              <a:t>} </a:t>
            </a:r>
          </a:p>
        </p:txBody>
      </p:sp>
      <p:sp>
        <p:nvSpPr>
          <p:cNvPr id="4" name="TextBox 3"/>
          <p:cNvSpPr txBox="1"/>
          <p:nvPr/>
        </p:nvSpPr>
        <p:spPr>
          <a:xfrm>
            <a:off x="6172200" y="5297269"/>
            <a:ext cx="2057400" cy="646331"/>
          </a:xfrm>
          <a:prstGeom prst="rect">
            <a:avLst/>
          </a:prstGeom>
          <a:solidFill>
            <a:schemeClr val="accent6">
              <a:lumMod val="40000"/>
              <a:lumOff val="60000"/>
            </a:schemeClr>
          </a:solidFill>
          <a:ln>
            <a:solidFill>
              <a:schemeClr val="accent1"/>
            </a:solidFill>
          </a:ln>
        </p:spPr>
        <p:txBody>
          <a:bodyPr wrap="square" rtlCol="0">
            <a:spAutoFit/>
          </a:bodyPr>
          <a:lstStyle/>
          <a:p>
            <a:r>
              <a:rPr lang="en-US" u="sng" dirty="0"/>
              <a:t>Output:</a:t>
            </a:r>
          </a:p>
          <a:p>
            <a:r>
              <a:rPr lang="en-US" dirty="0"/>
              <a:t>thread is running...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2. </a:t>
            </a:r>
            <a:r>
              <a:rPr lang="en-US" b="1" dirty="0" err="1"/>
              <a:t>Runnable</a:t>
            </a:r>
            <a:r>
              <a:rPr lang="en-US" b="1" dirty="0"/>
              <a:t> interface</a:t>
            </a:r>
            <a:endParaRPr lang="en-US" dirty="0"/>
          </a:p>
        </p:txBody>
      </p:sp>
      <p:sp>
        <p:nvSpPr>
          <p:cNvPr id="3" name="Content Placeholder 2"/>
          <p:cNvSpPr>
            <a:spLocks noGrp="1"/>
          </p:cNvSpPr>
          <p:nvPr>
            <p:ph idx="1"/>
          </p:nvPr>
        </p:nvSpPr>
        <p:spPr/>
        <p:txBody>
          <a:bodyPr/>
          <a:lstStyle/>
          <a:p>
            <a:r>
              <a:rPr lang="en-US" dirty="0"/>
              <a:t>The </a:t>
            </a:r>
            <a:r>
              <a:rPr lang="en-US" dirty="0" err="1"/>
              <a:t>Runnable</a:t>
            </a:r>
            <a:r>
              <a:rPr lang="en-US" dirty="0"/>
              <a:t> interface should be implemented by any class whose instances are intended to be executed by a thread. </a:t>
            </a:r>
            <a:r>
              <a:rPr lang="en-US" dirty="0" err="1"/>
              <a:t>Runnable</a:t>
            </a:r>
            <a:r>
              <a:rPr lang="en-US" dirty="0"/>
              <a:t> interface have only one method named run(). </a:t>
            </a:r>
          </a:p>
          <a:p>
            <a:r>
              <a:rPr lang="en-US" b="1" dirty="0"/>
              <a:t>public void run(): </a:t>
            </a:r>
            <a:r>
              <a:rPr lang="en-US" dirty="0"/>
              <a:t>is used to perform action for a thread.</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Java Thread Example by implementing </a:t>
            </a:r>
            <a:r>
              <a:rPr lang="en-US" b="1" dirty="0" err="1"/>
              <a:t>Runnable</a:t>
            </a:r>
            <a:r>
              <a:rPr lang="en-US" b="1" dirty="0"/>
              <a:t> interface</a:t>
            </a:r>
            <a:endParaRPr lang="en-US" dirty="0"/>
          </a:p>
        </p:txBody>
      </p:sp>
      <p:sp>
        <p:nvSpPr>
          <p:cNvPr id="3" name="Content Placeholder 2"/>
          <p:cNvSpPr>
            <a:spLocks noGrp="1"/>
          </p:cNvSpPr>
          <p:nvPr>
            <p:ph idx="1"/>
          </p:nvPr>
        </p:nvSpPr>
        <p:spPr>
          <a:xfrm>
            <a:off x="381000" y="1295400"/>
            <a:ext cx="5257800" cy="4830763"/>
          </a:xfrm>
          <a:solidFill>
            <a:schemeClr val="bg1">
              <a:lumMod val="95000"/>
            </a:schemeClr>
          </a:solidFill>
          <a:ln>
            <a:solidFill>
              <a:schemeClr val="accent1"/>
            </a:solidFill>
          </a:ln>
        </p:spPr>
        <p:txBody>
          <a:bodyPr/>
          <a:lstStyle/>
          <a:p>
            <a:pPr>
              <a:buNone/>
            </a:pPr>
            <a:r>
              <a:rPr lang="en-US" dirty="0"/>
              <a:t>class ABC implements </a:t>
            </a:r>
            <a:r>
              <a:rPr lang="en-US" dirty="0" err="1"/>
              <a:t>Runnable</a:t>
            </a:r>
            <a:r>
              <a:rPr lang="en-US" dirty="0"/>
              <a:t> { </a:t>
            </a:r>
          </a:p>
          <a:p>
            <a:pPr>
              <a:buNone/>
            </a:pPr>
            <a:r>
              <a:rPr lang="en-US" dirty="0"/>
              <a:t>	public void run() {</a:t>
            </a:r>
          </a:p>
          <a:p>
            <a:pPr>
              <a:buNone/>
            </a:pPr>
            <a:r>
              <a:rPr lang="en-US" dirty="0"/>
              <a:t>		</a:t>
            </a:r>
            <a:r>
              <a:rPr lang="en-US" dirty="0" err="1"/>
              <a:t>System.out.println</a:t>
            </a:r>
            <a:r>
              <a:rPr lang="en-US" dirty="0"/>
              <a:t>("thread is running...");</a:t>
            </a:r>
          </a:p>
          <a:p>
            <a:pPr>
              <a:buNone/>
            </a:pPr>
            <a:r>
              <a:rPr lang="en-US" dirty="0"/>
              <a:t>	}</a:t>
            </a:r>
          </a:p>
          <a:p>
            <a:pPr>
              <a:buNone/>
            </a:pPr>
            <a:r>
              <a:rPr lang="en-US" dirty="0"/>
              <a:t>	public static void main(String </a:t>
            </a:r>
            <a:r>
              <a:rPr lang="en-US" dirty="0" err="1"/>
              <a:t>args</a:t>
            </a:r>
            <a:r>
              <a:rPr lang="en-US" dirty="0"/>
              <a:t>[]) {</a:t>
            </a:r>
          </a:p>
          <a:p>
            <a:pPr>
              <a:buNone/>
            </a:pPr>
            <a:r>
              <a:rPr lang="en-US" dirty="0"/>
              <a:t>		ABC a1=new ABC();</a:t>
            </a:r>
          </a:p>
          <a:p>
            <a:pPr>
              <a:buNone/>
            </a:pPr>
            <a:r>
              <a:rPr lang="en-US" dirty="0"/>
              <a:t>		Thread t1 =new Thread(a1);</a:t>
            </a:r>
          </a:p>
          <a:p>
            <a:pPr>
              <a:buNone/>
            </a:pPr>
            <a:r>
              <a:rPr lang="en-US" dirty="0"/>
              <a:t>		t1.start();   </a:t>
            </a:r>
          </a:p>
          <a:p>
            <a:pPr>
              <a:buNone/>
            </a:pPr>
            <a:r>
              <a:rPr lang="en-US" dirty="0"/>
              <a:t>	}  </a:t>
            </a:r>
          </a:p>
          <a:p>
            <a:pPr>
              <a:buNone/>
            </a:pPr>
            <a:r>
              <a:rPr lang="en-US" dirty="0"/>
              <a:t>} </a:t>
            </a:r>
          </a:p>
        </p:txBody>
      </p:sp>
      <p:sp>
        <p:nvSpPr>
          <p:cNvPr id="5" name="TextBox 4"/>
          <p:cNvSpPr txBox="1"/>
          <p:nvPr/>
        </p:nvSpPr>
        <p:spPr>
          <a:xfrm>
            <a:off x="6705600" y="5525869"/>
            <a:ext cx="2057400" cy="646331"/>
          </a:xfrm>
          <a:prstGeom prst="rect">
            <a:avLst/>
          </a:prstGeom>
          <a:solidFill>
            <a:schemeClr val="accent6">
              <a:lumMod val="40000"/>
              <a:lumOff val="60000"/>
            </a:schemeClr>
          </a:solidFill>
          <a:ln>
            <a:solidFill>
              <a:schemeClr val="accent1"/>
            </a:solidFill>
          </a:ln>
        </p:spPr>
        <p:txBody>
          <a:bodyPr wrap="square" rtlCol="0">
            <a:spAutoFit/>
          </a:bodyPr>
          <a:lstStyle/>
          <a:p>
            <a:r>
              <a:rPr lang="en-US" u="sng" dirty="0"/>
              <a:t>Output:</a:t>
            </a:r>
          </a:p>
          <a:p>
            <a:r>
              <a:rPr lang="en-US" dirty="0"/>
              <a:t>thread is running...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Thread Priority</a:t>
            </a:r>
            <a:endParaRPr lang="en-US" dirty="0"/>
          </a:p>
        </p:txBody>
      </p:sp>
      <p:sp>
        <p:nvSpPr>
          <p:cNvPr id="3" name="Content Placeholder 2"/>
          <p:cNvSpPr>
            <a:spLocks noGrp="1"/>
          </p:cNvSpPr>
          <p:nvPr>
            <p:ph idx="1"/>
          </p:nvPr>
        </p:nvSpPr>
        <p:spPr>
          <a:xfrm>
            <a:off x="457200" y="1295400"/>
            <a:ext cx="8229600" cy="5562600"/>
          </a:xfrm>
        </p:spPr>
        <p:txBody>
          <a:bodyPr>
            <a:normAutofit/>
          </a:bodyPr>
          <a:lstStyle/>
          <a:p>
            <a:r>
              <a:rPr lang="en-US" dirty="0"/>
              <a:t>Each thread have a priority. Priorities are represented by a number between 1 and 10. In most cases, thread scheduler schedules the threads according to their priority (known as preemptive scheduling). But it is not guaranteed because it depends on JVM specification that which scheduling it chooses.</a:t>
            </a:r>
          </a:p>
          <a:p>
            <a:endParaRPr lang="en-US" dirty="0"/>
          </a:p>
          <a:p>
            <a:pPr>
              <a:buNone/>
            </a:pPr>
            <a:r>
              <a:rPr lang="en-US" b="1" u="sng" dirty="0">
                <a:solidFill>
                  <a:srgbClr val="0070C0"/>
                </a:solidFill>
              </a:rPr>
              <a:t>3 constants defined in Thread class:</a:t>
            </a:r>
          </a:p>
          <a:p>
            <a:pPr lvl="1">
              <a:buFont typeface="+mj-lt"/>
              <a:buAutoNum type="arabicPeriod"/>
            </a:pPr>
            <a:r>
              <a:rPr lang="en-US" dirty="0"/>
              <a:t>public static </a:t>
            </a:r>
            <a:r>
              <a:rPr lang="en-US" dirty="0" err="1"/>
              <a:t>int</a:t>
            </a:r>
            <a:r>
              <a:rPr lang="en-US" dirty="0"/>
              <a:t> MIN_PRIORITY </a:t>
            </a:r>
          </a:p>
          <a:p>
            <a:pPr lvl="1">
              <a:buFont typeface="+mj-lt"/>
              <a:buAutoNum type="arabicPeriod"/>
            </a:pPr>
            <a:r>
              <a:rPr lang="en-US" dirty="0"/>
              <a:t>public static </a:t>
            </a:r>
            <a:r>
              <a:rPr lang="en-US" dirty="0" err="1"/>
              <a:t>int</a:t>
            </a:r>
            <a:r>
              <a:rPr lang="en-US" dirty="0"/>
              <a:t> NORM_PRIORITY</a:t>
            </a:r>
          </a:p>
          <a:p>
            <a:pPr lvl="1">
              <a:buFont typeface="+mj-lt"/>
              <a:buAutoNum type="arabicPeriod"/>
            </a:pPr>
            <a:r>
              <a:rPr lang="en-US" dirty="0"/>
              <a:t>public static </a:t>
            </a:r>
            <a:r>
              <a:rPr lang="en-US" dirty="0" err="1"/>
              <a:t>int</a:t>
            </a:r>
            <a:r>
              <a:rPr lang="en-US" dirty="0"/>
              <a:t> MAX_PRIORITY</a:t>
            </a:r>
          </a:p>
          <a:p>
            <a:endParaRPr lang="en-US" dirty="0"/>
          </a:p>
          <a:p>
            <a:r>
              <a:rPr lang="en-US" dirty="0"/>
              <a:t>Default priority of a thread is 5 (NORM_PRIORITY). The value of MIN_PRIORITY is 1 and the value of MAX_PRIORITY is 10.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Example of priority of a Thread</a:t>
            </a:r>
            <a:endParaRPr lang="en-US" dirty="0"/>
          </a:p>
        </p:txBody>
      </p:sp>
      <p:sp>
        <p:nvSpPr>
          <p:cNvPr id="3" name="Content Placeholder 2"/>
          <p:cNvSpPr>
            <a:spLocks noGrp="1"/>
          </p:cNvSpPr>
          <p:nvPr>
            <p:ph idx="1"/>
          </p:nvPr>
        </p:nvSpPr>
        <p:spPr>
          <a:xfrm>
            <a:off x="0" y="1295400"/>
            <a:ext cx="9144000" cy="5562600"/>
          </a:xfrm>
          <a:solidFill>
            <a:schemeClr val="bg1">
              <a:lumMod val="95000"/>
            </a:schemeClr>
          </a:solidFill>
          <a:ln>
            <a:solidFill>
              <a:schemeClr val="accent1"/>
            </a:solidFill>
          </a:ln>
        </p:spPr>
        <p:txBody>
          <a:bodyPr>
            <a:noAutofit/>
          </a:bodyPr>
          <a:lstStyle/>
          <a:p>
            <a:pPr>
              <a:buNone/>
            </a:pPr>
            <a:r>
              <a:rPr lang="en-US" sz="1700" dirty="0"/>
              <a:t>class TestMultiPriority1 extends Thread {</a:t>
            </a:r>
          </a:p>
          <a:p>
            <a:pPr>
              <a:buNone/>
            </a:pPr>
            <a:r>
              <a:rPr lang="en-US" sz="1700" dirty="0"/>
              <a:t>	public void run() {</a:t>
            </a:r>
          </a:p>
          <a:p>
            <a:pPr>
              <a:buNone/>
            </a:pPr>
            <a:r>
              <a:rPr lang="en-US" sz="1700" dirty="0"/>
              <a:t>	     </a:t>
            </a:r>
            <a:r>
              <a:rPr lang="en-US" sz="1700" dirty="0" err="1"/>
              <a:t>System.out.println</a:t>
            </a:r>
            <a:r>
              <a:rPr lang="en-US" sz="1700" dirty="0"/>
              <a:t>("running thread name is:"+</a:t>
            </a:r>
            <a:r>
              <a:rPr lang="en-US" sz="1700" dirty="0" err="1"/>
              <a:t>Thread.currentThread</a:t>
            </a:r>
            <a:r>
              <a:rPr lang="en-US" sz="1700" dirty="0"/>
              <a:t>().</a:t>
            </a:r>
            <a:r>
              <a:rPr lang="en-US" sz="1700" dirty="0" err="1"/>
              <a:t>getName</a:t>
            </a:r>
            <a:r>
              <a:rPr lang="en-US" sz="1700" dirty="0"/>
              <a:t>());     </a:t>
            </a:r>
          </a:p>
          <a:p>
            <a:pPr>
              <a:buNone/>
            </a:pPr>
            <a:r>
              <a:rPr lang="en-US" sz="1700" dirty="0"/>
              <a:t>	    </a:t>
            </a:r>
            <a:r>
              <a:rPr lang="en-US" sz="1700" dirty="0" err="1"/>
              <a:t>System.out.println</a:t>
            </a:r>
            <a:r>
              <a:rPr lang="en-US" sz="1700" dirty="0"/>
              <a:t>("running thread priority is:"+</a:t>
            </a:r>
            <a:r>
              <a:rPr lang="en-US" sz="1700" dirty="0" err="1"/>
              <a:t>Thread.currentThread</a:t>
            </a:r>
            <a:r>
              <a:rPr lang="en-US" sz="1700" dirty="0"/>
              <a:t>().</a:t>
            </a:r>
            <a:r>
              <a:rPr lang="en-US" sz="1700" dirty="0" err="1"/>
              <a:t>getPriority</a:t>
            </a:r>
            <a:r>
              <a:rPr lang="en-US" sz="1700" dirty="0"/>
              <a:t>());</a:t>
            </a:r>
          </a:p>
          <a:p>
            <a:pPr>
              <a:buNone/>
            </a:pPr>
            <a:r>
              <a:rPr lang="en-US" sz="1700" dirty="0"/>
              <a:t>  	}</a:t>
            </a:r>
          </a:p>
          <a:p>
            <a:pPr>
              <a:buNone/>
            </a:pPr>
            <a:r>
              <a:rPr lang="en-US" sz="1700" dirty="0"/>
              <a:t>	public static void main(String </a:t>
            </a:r>
            <a:r>
              <a:rPr lang="en-US" sz="1700" dirty="0" err="1"/>
              <a:t>args</a:t>
            </a:r>
            <a:r>
              <a:rPr lang="en-US" sz="1700" dirty="0"/>
              <a:t>[]) {</a:t>
            </a:r>
          </a:p>
          <a:p>
            <a:pPr>
              <a:buNone/>
            </a:pPr>
            <a:r>
              <a:rPr lang="en-US" sz="1700" dirty="0"/>
              <a:t>		TestMultiPriority1 m1=new TestMultiPriority1(); </a:t>
            </a:r>
          </a:p>
          <a:p>
            <a:pPr>
              <a:buNone/>
            </a:pPr>
            <a:r>
              <a:rPr lang="en-US" sz="1700" dirty="0"/>
              <a:t>		TestMultiPriority1 m2=new TestMultiPriority1();</a:t>
            </a:r>
          </a:p>
          <a:p>
            <a:pPr>
              <a:buNone/>
            </a:pPr>
            <a:r>
              <a:rPr lang="en-US" sz="1700" dirty="0"/>
              <a:t>		m1.setPriority(</a:t>
            </a:r>
            <a:r>
              <a:rPr lang="en-US" sz="1700" dirty="0" err="1"/>
              <a:t>Thread.MIN_PRIORITY</a:t>
            </a:r>
            <a:r>
              <a:rPr lang="en-US" sz="1700" dirty="0"/>
              <a:t>); </a:t>
            </a:r>
          </a:p>
          <a:p>
            <a:pPr>
              <a:buNone/>
            </a:pPr>
            <a:r>
              <a:rPr lang="en-US" sz="1700" dirty="0"/>
              <a:t>		m2.setPriority(</a:t>
            </a:r>
            <a:r>
              <a:rPr lang="en-US" sz="1700" dirty="0" err="1"/>
              <a:t>Thread.MAX_PRIORITY</a:t>
            </a:r>
            <a:r>
              <a:rPr lang="en-US" sz="1700" dirty="0"/>
              <a:t>); </a:t>
            </a:r>
          </a:p>
          <a:p>
            <a:pPr>
              <a:buNone/>
            </a:pPr>
            <a:r>
              <a:rPr lang="en-US" sz="1700" dirty="0"/>
              <a:t>		m1.start();</a:t>
            </a:r>
          </a:p>
          <a:p>
            <a:pPr>
              <a:buNone/>
            </a:pPr>
            <a:r>
              <a:rPr lang="en-US" sz="1700" dirty="0"/>
              <a:t>		m2.start();</a:t>
            </a:r>
          </a:p>
          <a:p>
            <a:pPr>
              <a:buNone/>
            </a:pPr>
            <a:r>
              <a:rPr lang="en-US" sz="1700" dirty="0"/>
              <a:t>	}</a:t>
            </a:r>
          </a:p>
          <a:p>
            <a:pPr>
              <a:buNone/>
            </a:pPr>
            <a:r>
              <a:rPr lang="en-US" sz="1700" dirty="0"/>
              <a:t>} </a:t>
            </a:r>
          </a:p>
        </p:txBody>
      </p:sp>
      <p:sp>
        <p:nvSpPr>
          <p:cNvPr id="4" name="TextBox 3"/>
          <p:cNvSpPr txBox="1"/>
          <p:nvPr/>
        </p:nvSpPr>
        <p:spPr>
          <a:xfrm>
            <a:off x="5334000" y="5152072"/>
            <a:ext cx="3581400" cy="1477328"/>
          </a:xfrm>
          <a:prstGeom prst="rect">
            <a:avLst/>
          </a:prstGeom>
          <a:solidFill>
            <a:schemeClr val="accent6">
              <a:lumMod val="20000"/>
              <a:lumOff val="80000"/>
            </a:schemeClr>
          </a:solidFill>
          <a:ln>
            <a:solidFill>
              <a:schemeClr val="accent1"/>
            </a:solidFill>
          </a:ln>
        </p:spPr>
        <p:txBody>
          <a:bodyPr wrap="square" rtlCol="0">
            <a:spAutoFit/>
          </a:bodyPr>
          <a:lstStyle/>
          <a:p>
            <a:r>
              <a:rPr lang="en-US" u="sng" dirty="0"/>
              <a:t>Output:</a:t>
            </a:r>
          </a:p>
          <a:p>
            <a:r>
              <a:rPr lang="en-US" dirty="0"/>
              <a:t>running thread name is:Thread-0 running thread priority is:10 running thread name is:Thread-1 running thread priority is:1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 thread: </a:t>
            </a:r>
            <a:r>
              <a:rPr lang="en-US" b="1" dirty="0"/>
              <a:t>Daemon Thread </a:t>
            </a:r>
            <a:endParaRPr lang="en-US" dirty="0"/>
          </a:p>
        </p:txBody>
      </p:sp>
      <p:sp>
        <p:nvSpPr>
          <p:cNvPr id="3" name="Content Placeholder 2"/>
          <p:cNvSpPr>
            <a:spLocks noGrp="1"/>
          </p:cNvSpPr>
          <p:nvPr>
            <p:ph idx="1"/>
          </p:nvPr>
        </p:nvSpPr>
        <p:spPr/>
        <p:txBody>
          <a:bodyPr/>
          <a:lstStyle/>
          <a:p>
            <a:r>
              <a:rPr lang="en-US" b="1" dirty="0"/>
              <a:t>Daemon thread in java</a:t>
            </a:r>
            <a:r>
              <a:rPr lang="en-US" dirty="0"/>
              <a:t> is a service provider thread that provides services to the user thread. Its life depend on the mercy of user threads i.e. when all the user threads dies, JVM terminates this thread automatically.</a:t>
            </a:r>
          </a:p>
          <a:p>
            <a:r>
              <a:rPr lang="en-US" dirty="0"/>
              <a:t>There are many java daemon threads running automatically e.g. </a:t>
            </a:r>
            <a:r>
              <a:rPr lang="en-US" dirty="0" err="1"/>
              <a:t>gc</a:t>
            </a:r>
            <a:r>
              <a:rPr lang="en-US" dirty="0"/>
              <a:t>, </a:t>
            </a:r>
            <a:r>
              <a:rPr lang="en-US" dirty="0" err="1"/>
              <a:t>finalizer</a:t>
            </a:r>
            <a:r>
              <a:rPr lang="en-US" dirty="0"/>
              <a:t> etc. </a:t>
            </a:r>
          </a:p>
          <a:p>
            <a:r>
              <a:rPr lang="en-US" dirty="0"/>
              <a:t>You can see all the detail by typing the </a:t>
            </a:r>
            <a:r>
              <a:rPr lang="en-US" dirty="0" err="1"/>
              <a:t>jconsole</a:t>
            </a:r>
            <a:r>
              <a:rPr lang="en-US" dirty="0"/>
              <a:t> in the command prompt. The </a:t>
            </a:r>
            <a:r>
              <a:rPr lang="en-US" dirty="0" err="1"/>
              <a:t>jconsole</a:t>
            </a:r>
            <a:r>
              <a:rPr lang="en-US" dirty="0"/>
              <a:t> tool provides information about the loaded classes, memory usage, running threads etc.</a:t>
            </a:r>
          </a:p>
          <a:p>
            <a:endParaRPr lang="en-US" dirty="0"/>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Daemon Thread</a:t>
            </a:r>
            <a:endParaRPr lang="en-US" dirty="0"/>
          </a:p>
        </p:txBody>
      </p:sp>
      <p:sp>
        <p:nvSpPr>
          <p:cNvPr id="3" name="Content Placeholder 2"/>
          <p:cNvSpPr>
            <a:spLocks noGrp="1"/>
          </p:cNvSpPr>
          <p:nvPr>
            <p:ph idx="1"/>
          </p:nvPr>
        </p:nvSpPr>
        <p:spPr/>
        <p:txBody>
          <a:bodyPr/>
          <a:lstStyle/>
          <a:p>
            <a:r>
              <a:rPr lang="en-US" dirty="0"/>
              <a:t>It provides services to user threads for background supporting tasks. It has no role in life than to serve user threads.</a:t>
            </a:r>
          </a:p>
          <a:p>
            <a:r>
              <a:rPr lang="en-US" dirty="0"/>
              <a:t>Its life depends on user threads.</a:t>
            </a:r>
          </a:p>
          <a:p>
            <a:r>
              <a:rPr lang="en-US" dirty="0"/>
              <a:t>It is a low priority thread.</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Example of Daemon thread in java</a:t>
            </a:r>
            <a:endParaRPr lang="en-US" dirty="0"/>
          </a:p>
        </p:txBody>
      </p:sp>
      <p:sp>
        <p:nvSpPr>
          <p:cNvPr id="3" name="Content Placeholder 2"/>
          <p:cNvSpPr>
            <a:spLocks noGrp="1"/>
          </p:cNvSpPr>
          <p:nvPr>
            <p:ph idx="1"/>
          </p:nvPr>
        </p:nvSpPr>
        <p:spPr>
          <a:xfrm>
            <a:off x="228600" y="1066800"/>
            <a:ext cx="5181600" cy="5791200"/>
          </a:xfrm>
          <a:solidFill>
            <a:schemeClr val="bg1">
              <a:lumMod val="95000"/>
            </a:schemeClr>
          </a:solidFill>
          <a:ln>
            <a:solidFill>
              <a:schemeClr val="accent1"/>
            </a:solidFill>
          </a:ln>
        </p:spPr>
        <p:txBody>
          <a:bodyPr>
            <a:noAutofit/>
          </a:bodyPr>
          <a:lstStyle/>
          <a:p>
            <a:pPr>
              <a:buNone/>
            </a:pPr>
            <a:r>
              <a:rPr lang="en-US" sz="1200" dirty="0"/>
              <a:t>public class TestDaemonThread1 extends Thread{  </a:t>
            </a:r>
          </a:p>
          <a:p>
            <a:pPr>
              <a:buNone/>
            </a:pPr>
            <a:r>
              <a:rPr lang="en-US" sz="1200" dirty="0"/>
              <a:t> public void run(){  </a:t>
            </a:r>
          </a:p>
          <a:p>
            <a:pPr>
              <a:buNone/>
            </a:pPr>
            <a:r>
              <a:rPr lang="en-US" sz="1200" dirty="0"/>
              <a:t>  if(</a:t>
            </a:r>
            <a:r>
              <a:rPr lang="en-US" sz="1200" dirty="0" err="1"/>
              <a:t>Thread.currentThread</a:t>
            </a:r>
            <a:r>
              <a:rPr lang="en-US" sz="1200" dirty="0"/>
              <a:t>().</a:t>
            </a:r>
            <a:r>
              <a:rPr lang="en-US" sz="1200" dirty="0" err="1"/>
              <a:t>isDaemon</a:t>
            </a:r>
            <a:r>
              <a:rPr lang="en-US" sz="1200" dirty="0"/>
              <a:t>()){//checking for daemon thread  </a:t>
            </a:r>
          </a:p>
          <a:p>
            <a:pPr>
              <a:buNone/>
            </a:pPr>
            <a:r>
              <a:rPr lang="en-US" sz="1200" dirty="0"/>
              <a:t>   </a:t>
            </a:r>
            <a:r>
              <a:rPr lang="en-US" sz="1200" dirty="0" err="1"/>
              <a:t>System.out.println</a:t>
            </a:r>
            <a:r>
              <a:rPr lang="en-US" sz="1200" dirty="0"/>
              <a:t>("daemon thread work");  </a:t>
            </a:r>
          </a:p>
          <a:p>
            <a:pPr>
              <a:buNone/>
            </a:pPr>
            <a:r>
              <a:rPr lang="en-US" sz="1200" dirty="0"/>
              <a:t>  }  </a:t>
            </a:r>
          </a:p>
          <a:p>
            <a:pPr>
              <a:buNone/>
            </a:pPr>
            <a:r>
              <a:rPr lang="en-US" sz="1200" dirty="0"/>
              <a:t>  else{  </a:t>
            </a:r>
          </a:p>
          <a:p>
            <a:pPr>
              <a:buNone/>
            </a:pPr>
            <a:r>
              <a:rPr lang="en-US" sz="1200" dirty="0"/>
              <a:t>  </a:t>
            </a:r>
            <a:r>
              <a:rPr lang="en-US" sz="1200" dirty="0" err="1"/>
              <a:t>System.out.println</a:t>
            </a:r>
            <a:r>
              <a:rPr lang="en-US" sz="1200" dirty="0"/>
              <a:t>("user thread work");  </a:t>
            </a:r>
          </a:p>
          <a:p>
            <a:pPr>
              <a:buNone/>
            </a:pPr>
            <a:r>
              <a:rPr lang="en-US" sz="1200" dirty="0"/>
              <a:t> }  </a:t>
            </a:r>
          </a:p>
          <a:p>
            <a:pPr>
              <a:buNone/>
            </a:pPr>
            <a:r>
              <a:rPr lang="en-US" sz="1200" dirty="0"/>
              <a:t> }  </a:t>
            </a:r>
          </a:p>
          <a:p>
            <a:pPr>
              <a:buNone/>
            </a:pPr>
            <a:r>
              <a:rPr lang="en-US" sz="1200" dirty="0"/>
              <a:t> public static void main(String[] </a:t>
            </a:r>
            <a:r>
              <a:rPr lang="en-US" sz="1200" dirty="0" err="1"/>
              <a:t>args</a:t>
            </a:r>
            <a:r>
              <a:rPr lang="en-US" sz="1200" dirty="0"/>
              <a:t>){  </a:t>
            </a:r>
          </a:p>
          <a:p>
            <a:pPr>
              <a:buNone/>
            </a:pPr>
            <a:r>
              <a:rPr lang="en-US" sz="1200" dirty="0"/>
              <a:t>  TestDaemonThread1 t1=new TestDaemonThread1();//creating thread  </a:t>
            </a:r>
          </a:p>
          <a:p>
            <a:pPr>
              <a:buNone/>
            </a:pPr>
            <a:r>
              <a:rPr lang="en-US" sz="1200" dirty="0"/>
              <a:t>  TestDaemonThread1 t2=new TestDaemonThread1();  </a:t>
            </a:r>
          </a:p>
          <a:p>
            <a:pPr>
              <a:buNone/>
            </a:pPr>
            <a:r>
              <a:rPr lang="en-US" sz="1200" dirty="0"/>
              <a:t>  TestDaemonThread1 t3=new TestDaemonThread1();  </a:t>
            </a:r>
          </a:p>
          <a:p>
            <a:pPr>
              <a:buNone/>
            </a:pPr>
            <a:r>
              <a:rPr lang="en-US" sz="1200" dirty="0"/>
              <a:t>  </a:t>
            </a:r>
          </a:p>
          <a:p>
            <a:pPr>
              <a:buNone/>
            </a:pPr>
            <a:r>
              <a:rPr lang="en-US" sz="1200" dirty="0"/>
              <a:t>  t1.setDaemon(true);//now t1 is daemon thread  </a:t>
            </a:r>
          </a:p>
          <a:p>
            <a:pPr>
              <a:buNone/>
            </a:pPr>
            <a:r>
              <a:rPr lang="en-US" sz="1200" dirty="0"/>
              <a:t>    </a:t>
            </a:r>
          </a:p>
          <a:p>
            <a:pPr>
              <a:buNone/>
            </a:pPr>
            <a:r>
              <a:rPr lang="en-US" sz="1200" dirty="0"/>
              <a:t>  t1.start();//starting threads  </a:t>
            </a:r>
          </a:p>
          <a:p>
            <a:pPr>
              <a:buNone/>
            </a:pPr>
            <a:r>
              <a:rPr lang="en-US" sz="1200" dirty="0"/>
              <a:t>  t2.start();  </a:t>
            </a:r>
          </a:p>
          <a:p>
            <a:pPr>
              <a:buNone/>
            </a:pPr>
            <a:r>
              <a:rPr lang="en-US" sz="1200" dirty="0"/>
              <a:t>  t3.start();  </a:t>
            </a:r>
          </a:p>
          <a:p>
            <a:pPr>
              <a:buNone/>
            </a:pPr>
            <a:r>
              <a:rPr lang="en-US" sz="1200" dirty="0"/>
              <a:t> }  </a:t>
            </a:r>
          </a:p>
          <a:p>
            <a:pPr>
              <a:buNone/>
            </a:pPr>
            <a:r>
              <a:rPr lang="en-US" sz="1200" dirty="0"/>
              <a:t>}  </a:t>
            </a:r>
          </a:p>
        </p:txBody>
      </p:sp>
      <p:sp>
        <p:nvSpPr>
          <p:cNvPr id="4" name="TextBox 3"/>
          <p:cNvSpPr txBox="1"/>
          <p:nvPr/>
        </p:nvSpPr>
        <p:spPr>
          <a:xfrm>
            <a:off x="5638800" y="5181600"/>
            <a:ext cx="3276600" cy="1477328"/>
          </a:xfrm>
          <a:prstGeom prst="rect">
            <a:avLst/>
          </a:prstGeom>
          <a:solidFill>
            <a:schemeClr val="accent6">
              <a:lumMod val="20000"/>
              <a:lumOff val="80000"/>
            </a:schemeClr>
          </a:solidFill>
          <a:ln>
            <a:solidFill>
              <a:schemeClr val="accent1"/>
            </a:solidFill>
          </a:ln>
        </p:spPr>
        <p:txBody>
          <a:bodyPr wrap="square" rtlCol="0">
            <a:spAutoFit/>
          </a:bodyPr>
          <a:lstStyle/>
          <a:p>
            <a:r>
              <a:rPr lang="en-US" b="1" u="sng" dirty="0"/>
              <a:t>Output: </a:t>
            </a:r>
          </a:p>
          <a:p>
            <a:r>
              <a:rPr lang="en-US" dirty="0"/>
              <a:t>daemon thread work </a:t>
            </a:r>
          </a:p>
          <a:p>
            <a:r>
              <a:rPr lang="en-US" dirty="0"/>
              <a:t>user thread work </a:t>
            </a:r>
          </a:p>
          <a:p>
            <a:r>
              <a:rPr lang="en-US" dirty="0"/>
              <a:t>user thread work </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381000" y="1600200"/>
            <a:ext cx="7924799" cy="4419599"/>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Synchronization</a:t>
            </a:r>
          </a:p>
        </p:txBody>
      </p:sp>
      <p:sp>
        <p:nvSpPr>
          <p:cNvPr id="3" name="Content Placeholder 2"/>
          <p:cNvSpPr>
            <a:spLocks noGrp="1"/>
          </p:cNvSpPr>
          <p:nvPr>
            <p:ph idx="1"/>
          </p:nvPr>
        </p:nvSpPr>
        <p:spPr/>
        <p:txBody>
          <a:bodyPr>
            <a:normAutofit fontScale="92500" lnSpcReduction="20000"/>
          </a:bodyPr>
          <a:lstStyle/>
          <a:p>
            <a:r>
              <a:rPr lang="en-US" dirty="0"/>
              <a:t>Synchronization in java is the capability </a:t>
            </a:r>
            <a:r>
              <a:rPr lang="en-US" i="1" dirty="0"/>
              <a:t>to control the access of multiple threads to any shared resource</a:t>
            </a:r>
            <a:r>
              <a:rPr lang="en-US" dirty="0"/>
              <a:t>.</a:t>
            </a:r>
          </a:p>
          <a:p>
            <a:r>
              <a:rPr lang="en-US" dirty="0"/>
              <a:t>Java Synchronization is better option where we want to allow only one thread to access the shared resource.</a:t>
            </a:r>
          </a:p>
          <a:p>
            <a:endParaRPr lang="en-US" u="sng" dirty="0"/>
          </a:p>
          <a:p>
            <a:pPr>
              <a:buNone/>
            </a:pPr>
            <a:r>
              <a:rPr lang="en-US" b="1" u="sng" dirty="0">
                <a:solidFill>
                  <a:srgbClr val="0070C0"/>
                </a:solidFill>
              </a:rPr>
              <a:t>Why use Synchronization</a:t>
            </a:r>
          </a:p>
          <a:p>
            <a:r>
              <a:rPr lang="en-US" dirty="0"/>
              <a:t>The synchronization is mainly used to</a:t>
            </a:r>
          </a:p>
          <a:p>
            <a:pPr marL="800100" lvl="1" indent="-342900">
              <a:buFont typeface="+mj-lt"/>
              <a:buAutoNum type="arabicPeriod"/>
            </a:pPr>
            <a:r>
              <a:rPr lang="en-US" dirty="0"/>
              <a:t>To prevent thread interference.</a:t>
            </a:r>
          </a:p>
          <a:p>
            <a:pPr marL="800100" lvl="1" indent="-342900">
              <a:buFont typeface="+mj-lt"/>
              <a:buAutoNum type="arabicPeriod"/>
            </a:pPr>
            <a:r>
              <a:rPr lang="en-US" dirty="0"/>
              <a:t>To prevent consistency problem.</a:t>
            </a:r>
          </a:p>
          <a:p>
            <a:pPr marL="800100" lvl="1" indent="-342900">
              <a:buFont typeface="+mj-lt"/>
              <a:buAutoNum type="arabicPeriod"/>
            </a:pPr>
            <a:endParaRPr lang="en-US" dirty="0"/>
          </a:p>
          <a:p>
            <a:pPr>
              <a:buNone/>
            </a:pPr>
            <a:r>
              <a:rPr lang="en-US" b="1" u="sng" dirty="0">
                <a:solidFill>
                  <a:srgbClr val="0070C0"/>
                </a:solidFill>
              </a:rPr>
              <a:t>Types of Synchronization</a:t>
            </a:r>
          </a:p>
          <a:p>
            <a:r>
              <a:rPr lang="en-US" dirty="0"/>
              <a:t>There are two types of synchronization</a:t>
            </a:r>
          </a:p>
          <a:p>
            <a:pPr lvl="1">
              <a:buFont typeface="+mj-lt"/>
              <a:buAutoNum type="arabicPeriod"/>
            </a:pPr>
            <a:r>
              <a:rPr lang="en-US" dirty="0"/>
              <a:t>Process Synchronization</a:t>
            </a:r>
          </a:p>
          <a:p>
            <a:pPr lvl="1">
              <a:buFont typeface="+mj-lt"/>
              <a:buAutoNum type="arabicPeriod"/>
            </a:pPr>
            <a:r>
              <a:rPr lang="en-US" dirty="0">
                <a:solidFill>
                  <a:srgbClr val="FF0000"/>
                </a:solidFill>
              </a:rPr>
              <a:t>Thread Synchronization</a:t>
            </a:r>
          </a:p>
          <a:p>
            <a:pPr marL="800100" lvl="1" indent="-342900">
              <a:buFont typeface="+mj-lt"/>
              <a:buAutoNum type="arabicPeriod"/>
            </a:pPr>
            <a:endParaRPr lang="en-US" dirty="0"/>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 synchronization</a:t>
            </a:r>
          </a:p>
        </p:txBody>
      </p:sp>
      <p:sp>
        <p:nvSpPr>
          <p:cNvPr id="3" name="Content Placeholder 2"/>
          <p:cNvSpPr>
            <a:spLocks noGrp="1"/>
          </p:cNvSpPr>
          <p:nvPr>
            <p:ph idx="1"/>
          </p:nvPr>
        </p:nvSpPr>
        <p:spPr>
          <a:xfrm>
            <a:off x="457200" y="1295400"/>
            <a:ext cx="8229600" cy="5562600"/>
          </a:xfrm>
        </p:spPr>
        <p:txBody>
          <a:bodyPr>
            <a:normAutofit fontScale="92500" lnSpcReduction="10000"/>
          </a:bodyPr>
          <a:lstStyle/>
          <a:p>
            <a:pPr>
              <a:buNone/>
            </a:pPr>
            <a:r>
              <a:rPr lang="en-US" dirty="0"/>
              <a:t>There are two types of thread synchronization mutual exclusive and inter-thread communication. </a:t>
            </a:r>
          </a:p>
          <a:p>
            <a:pPr>
              <a:buFont typeface="+mj-lt"/>
              <a:buAutoNum type="arabicPeriod"/>
            </a:pPr>
            <a:r>
              <a:rPr lang="en-US" u="sng" dirty="0">
                <a:solidFill>
                  <a:srgbClr val="0070C0"/>
                </a:solidFill>
              </a:rPr>
              <a:t>Mutual Exclusive </a:t>
            </a:r>
          </a:p>
          <a:p>
            <a:pPr marL="800100" lvl="1" indent="-342900">
              <a:buFont typeface="+mj-lt"/>
              <a:buAutoNum type="arabicPeriod"/>
            </a:pPr>
            <a:r>
              <a:rPr lang="en-US" dirty="0"/>
              <a:t>Synchronized method.</a:t>
            </a:r>
          </a:p>
          <a:p>
            <a:pPr marL="800100" lvl="1" indent="-342900">
              <a:buFont typeface="+mj-lt"/>
              <a:buAutoNum type="arabicPeriod"/>
            </a:pPr>
            <a:r>
              <a:rPr lang="en-US" dirty="0"/>
              <a:t>Synchronized block.</a:t>
            </a:r>
          </a:p>
          <a:p>
            <a:pPr marL="800100" lvl="1" indent="-342900">
              <a:buFont typeface="+mj-lt"/>
              <a:buAutoNum type="arabicPeriod"/>
            </a:pPr>
            <a:r>
              <a:rPr lang="en-US" dirty="0"/>
              <a:t>static synchronization.</a:t>
            </a:r>
            <a:endParaRPr lang="en-US" u="sng" dirty="0">
              <a:solidFill>
                <a:srgbClr val="0070C0"/>
              </a:solidFill>
            </a:endParaRPr>
          </a:p>
          <a:p>
            <a:pPr>
              <a:buFont typeface="+mj-lt"/>
              <a:buAutoNum type="arabicPeriod"/>
            </a:pPr>
            <a:r>
              <a:rPr lang="en-US" u="sng" dirty="0">
                <a:solidFill>
                  <a:srgbClr val="0070C0"/>
                </a:solidFill>
              </a:rPr>
              <a:t>Cooperation (Inter-thread communication in java)</a:t>
            </a:r>
          </a:p>
          <a:p>
            <a:pPr>
              <a:buFont typeface="+mj-lt"/>
              <a:buAutoNum type="arabicPeriod"/>
            </a:pPr>
            <a:endParaRPr lang="en-US" u="sng" dirty="0">
              <a:solidFill>
                <a:srgbClr val="0070C0"/>
              </a:solidFill>
            </a:endParaRPr>
          </a:p>
          <a:p>
            <a:pPr>
              <a:buNone/>
            </a:pPr>
            <a:r>
              <a:rPr lang="en-US" b="1" u="sng" dirty="0"/>
              <a:t>Concept of Lock in Java</a:t>
            </a:r>
          </a:p>
          <a:p>
            <a:pPr algn="just"/>
            <a:r>
              <a:rPr lang="en-US" dirty="0"/>
              <a:t>Synchronization is built around an internal entity known as the lock or monitor. Every object has an lock associated with it. By convention, a thread that needs consistent access to an object's fields has to acquire the object's lock before accessing them, and then release the lock when it's done with them. </a:t>
            </a:r>
          </a:p>
          <a:p>
            <a:pPr algn="just"/>
            <a:r>
              <a:rPr lang="en-US" dirty="0"/>
              <a:t>From Java 5 the package </a:t>
            </a:r>
            <a:r>
              <a:rPr lang="en-US" dirty="0" err="1"/>
              <a:t>java.util.concurrent.locks</a:t>
            </a:r>
            <a:r>
              <a:rPr lang="en-US" dirty="0"/>
              <a:t> contains several lock implementations.</a:t>
            </a:r>
            <a:endParaRPr lang="en-US" u="sng" dirty="0">
              <a:solidFill>
                <a:srgbClr val="0070C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Understanding the problem without Synchronization</a:t>
            </a:r>
            <a:endParaRPr lang="en-US" dirty="0"/>
          </a:p>
        </p:txBody>
      </p:sp>
      <p:sp>
        <p:nvSpPr>
          <p:cNvPr id="3" name="Content Placeholder 2"/>
          <p:cNvSpPr>
            <a:spLocks noGrp="1"/>
          </p:cNvSpPr>
          <p:nvPr>
            <p:ph idx="1"/>
          </p:nvPr>
        </p:nvSpPr>
        <p:spPr>
          <a:xfrm>
            <a:off x="0" y="1219200"/>
            <a:ext cx="4114800" cy="5562600"/>
          </a:xfrm>
          <a:solidFill>
            <a:schemeClr val="bg1">
              <a:lumMod val="95000"/>
            </a:schemeClr>
          </a:solidFill>
          <a:ln>
            <a:solidFill>
              <a:schemeClr val="accent1"/>
            </a:solidFill>
          </a:ln>
        </p:spPr>
        <p:txBody>
          <a:bodyPr>
            <a:noAutofit/>
          </a:bodyPr>
          <a:lstStyle/>
          <a:p>
            <a:pPr>
              <a:buNone/>
            </a:pPr>
            <a:r>
              <a:rPr lang="en-US" sz="1200" dirty="0"/>
              <a:t>class Table {  </a:t>
            </a:r>
          </a:p>
          <a:p>
            <a:pPr>
              <a:buNone/>
            </a:pPr>
            <a:r>
              <a:rPr lang="en-US" sz="1200" dirty="0"/>
              <a:t>	void </a:t>
            </a:r>
            <a:r>
              <a:rPr lang="en-US" sz="1200" dirty="0" err="1"/>
              <a:t>printTable</a:t>
            </a:r>
            <a:r>
              <a:rPr lang="en-US" sz="1200" dirty="0"/>
              <a:t>(</a:t>
            </a:r>
            <a:r>
              <a:rPr lang="en-US" sz="1200" dirty="0" err="1"/>
              <a:t>int</a:t>
            </a:r>
            <a:r>
              <a:rPr lang="en-US" sz="1200" dirty="0"/>
              <a:t> n) {   //method not synchronized  </a:t>
            </a:r>
          </a:p>
          <a:p>
            <a:pPr>
              <a:buNone/>
            </a:pPr>
            <a:r>
              <a:rPr lang="en-US" sz="1200" dirty="0"/>
              <a:t>	   for(</a:t>
            </a:r>
            <a:r>
              <a:rPr lang="en-US" sz="1200" dirty="0" err="1"/>
              <a:t>int</a:t>
            </a:r>
            <a:r>
              <a:rPr lang="en-US" sz="1200" dirty="0"/>
              <a:t> </a:t>
            </a:r>
            <a:r>
              <a:rPr lang="en-US" sz="1200" dirty="0" err="1"/>
              <a:t>i</a:t>
            </a:r>
            <a:r>
              <a:rPr lang="en-US" sz="1200" dirty="0"/>
              <a:t>=1;i&lt;=5;i++) {  </a:t>
            </a:r>
          </a:p>
          <a:p>
            <a:pPr>
              <a:buNone/>
            </a:pPr>
            <a:r>
              <a:rPr lang="en-US" sz="1200" dirty="0"/>
              <a:t>     		</a:t>
            </a:r>
            <a:r>
              <a:rPr lang="en-US" sz="1200" dirty="0" err="1"/>
              <a:t>System.out.println</a:t>
            </a:r>
            <a:r>
              <a:rPr lang="en-US" sz="1200" dirty="0"/>
              <a:t>(n*</a:t>
            </a:r>
            <a:r>
              <a:rPr lang="en-US" sz="1200" dirty="0" err="1"/>
              <a:t>i</a:t>
            </a:r>
            <a:r>
              <a:rPr lang="en-US" sz="1200" dirty="0"/>
              <a:t>);  </a:t>
            </a:r>
          </a:p>
          <a:p>
            <a:pPr>
              <a:buNone/>
            </a:pPr>
            <a:r>
              <a:rPr lang="en-US" sz="1200" dirty="0"/>
              <a:t>     	   try {  </a:t>
            </a:r>
          </a:p>
          <a:p>
            <a:pPr>
              <a:buNone/>
            </a:pPr>
            <a:r>
              <a:rPr lang="en-US" sz="1200" dirty="0"/>
              <a:t>      		</a:t>
            </a:r>
            <a:r>
              <a:rPr lang="en-US" sz="1200" dirty="0" err="1"/>
              <a:t>Thread.sleep</a:t>
            </a:r>
            <a:r>
              <a:rPr lang="en-US" sz="1200" dirty="0"/>
              <a:t>(400);  </a:t>
            </a:r>
          </a:p>
          <a:p>
            <a:pPr>
              <a:buNone/>
            </a:pPr>
            <a:r>
              <a:rPr lang="en-US" sz="1200" dirty="0"/>
              <a:t>     	   } catch(Exception e) { </a:t>
            </a:r>
            <a:r>
              <a:rPr lang="en-US" sz="1200" dirty="0" err="1"/>
              <a:t>System.out.println</a:t>
            </a:r>
            <a:r>
              <a:rPr lang="en-US" sz="1200" dirty="0"/>
              <a:t>(e); }  </a:t>
            </a:r>
          </a:p>
          <a:p>
            <a:pPr>
              <a:buNone/>
            </a:pPr>
            <a:r>
              <a:rPr lang="en-US" sz="1200" dirty="0"/>
              <a:t>   	   }  </a:t>
            </a:r>
          </a:p>
          <a:p>
            <a:pPr>
              <a:buNone/>
            </a:pPr>
            <a:r>
              <a:rPr lang="en-US" sz="1200" dirty="0"/>
              <a:t> 	}  </a:t>
            </a:r>
          </a:p>
          <a:p>
            <a:pPr>
              <a:buNone/>
            </a:pPr>
            <a:r>
              <a:rPr lang="en-US" sz="1200" dirty="0"/>
              <a:t>}  </a:t>
            </a:r>
          </a:p>
          <a:p>
            <a:pPr>
              <a:buNone/>
            </a:pPr>
            <a:r>
              <a:rPr lang="en-US" sz="1200" dirty="0"/>
              <a:t>class MyThread1 extends Thread {  </a:t>
            </a:r>
          </a:p>
          <a:p>
            <a:pPr>
              <a:buNone/>
            </a:pPr>
            <a:r>
              <a:rPr lang="en-US" sz="1200" dirty="0"/>
              <a:t>	Table t;  </a:t>
            </a:r>
          </a:p>
          <a:p>
            <a:pPr>
              <a:buNone/>
            </a:pPr>
            <a:r>
              <a:rPr lang="en-US" sz="1200" dirty="0"/>
              <a:t>	MyThread1(Table t) {  </a:t>
            </a:r>
          </a:p>
          <a:p>
            <a:pPr>
              <a:buNone/>
            </a:pPr>
            <a:r>
              <a:rPr lang="en-US" sz="1200" dirty="0"/>
              <a:t>		</a:t>
            </a:r>
            <a:r>
              <a:rPr lang="en-US" sz="1200" dirty="0" err="1"/>
              <a:t>this.t</a:t>
            </a:r>
            <a:r>
              <a:rPr lang="en-US" sz="1200" dirty="0"/>
              <a:t>=t;  </a:t>
            </a:r>
          </a:p>
          <a:p>
            <a:pPr>
              <a:buNone/>
            </a:pPr>
            <a:r>
              <a:rPr lang="en-US" sz="1200" dirty="0"/>
              <a:t>	}  </a:t>
            </a:r>
          </a:p>
          <a:p>
            <a:pPr>
              <a:buNone/>
            </a:pPr>
            <a:r>
              <a:rPr lang="en-US" sz="1200" dirty="0"/>
              <a:t>	public void run() {  </a:t>
            </a:r>
          </a:p>
          <a:p>
            <a:pPr>
              <a:buNone/>
            </a:pPr>
            <a:r>
              <a:rPr lang="en-US" sz="1200" dirty="0"/>
              <a:t>		</a:t>
            </a:r>
            <a:r>
              <a:rPr lang="en-US" sz="1200" dirty="0" err="1"/>
              <a:t>t.printTable</a:t>
            </a:r>
            <a:r>
              <a:rPr lang="en-US" sz="1200" dirty="0"/>
              <a:t>(5);  </a:t>
            </a:r>
          </a:p>
          <a:p>
            <a:pPr>
              <a:buNone/>
            </a:pPr>
            <a:r>
              <a:rPr lang="en-US" sz="1200" dirty="0"/>
              <a:t>	}    </a:t>
            </a:r>
          </a:p>
          <a:p>
            <a:pPr>
              <a:buNone/>
            </a:pPr>
            <a:r>
              <a:rPr lang="en-US" sz="1200" dirty="0"/>
              <a:t>}  </a:t>
            </a:r>
          </a:p>
        </p:txBody>
      </p:sp>
      <p:sp>
        <p:nvSpPr>
          <p:cNvPr id="4" name="TextBox 3"/>
          <p:cNvSpPr txBox="1"/>
          <p:nvPr/>
        </p:nvSpPr>
        <p:spPr>
          <a:xfrm>
            <a:off x="4191000" y="1219200"/>
            <a:ext cx="4724400" cy="5355312"/>
          </a:xfrm>
          <a:prstGeom prst="rect">
            <a:avLst/>
          </a:prstGeom>
          <a:solidFill>
            <a:schemeClr val="bg1">
              <a:lumMod val="95000"/>
            </a:schemeClr>
          </a:solidFill>
          <a:ln>
            <a:solidFill>
              <a:schemeClr val="accent1"/>
            </a:solidFill>
          </a:ln>
        </p:spPr>
        <p:txBody>
          <a:bodyPr wrap="square" rtlCol="0">
            <a:spAutoFit/>
          </a:bodyPr>
          <a:lstStyle/>
          <a:p>
            <a:pPr>
              <a:lnSpc>
                <a:spcPct val="150000"/>
              </a:lnSpc>
              <a:buNone/>
            </a:pPr>
            <a:r>
              <a:rPr lang="en-US" sz="1200" dirty="0">
                <a:latin typeface="Arial" pitchFamily="34" charset="0"/>
                <a:cs typeface="Arial" pitchFamily="34" charset="0"/>
              </a:rPr>
              <a:t>class MyThread2 extends Thread {  </a:t>
            </a:r>
          </a:p>
          <a:p>
            <a:pPr>
              <a:lnSpc>
                <a:spcPct val="150000"/>
              </a:lnSpc>
              <a:buNone/>
            </a:pPr>
            <a:r>
              <a:rPr lang="en-US" sz="1200" dirty="0">
                <a:latin typeface="Arial" pitchFamily="34" charset="0"/>
                <a:cs typeface="Arial" pitchFamily="34" charset="0"/>
              </a:rPr>
              <a:t>	Table t;  </a:t>
            </a:r>
          </a:p>
          <a:p>
            <a:pPr>
              <a:lnSpc>
                <a:spcPct val="150000"/>
              </a:lnSpc>
              <a:buNone/>
            </a:pPr>
            <a:r>
              <a:rPr lang="en-US" sz="1200" dirty="0">
                <a:latin typeface="Arial" pitchFamily="34" charset="0"/>
                <a:cs typeface="Arial" pitchFamily="34" charset="0"/>
              </a:rPr>
              <a:t>	</a:t>
            </a:r>
          </a:p>
          <a:p>
            <a:pPr>
              <a:lnSpc>
                <a:spcPct val="150000"/>
              </a:lnSpc>
              <a:buNone/>
            </a:pPr>
            <a:r>
              <a:rPr lang="en-US" sz="1200" dirty="0">
                <a:latin typeface="Arial" pitchFamily="34" charset="0"/>
                <a:cs typeface="Arial" pitchFamily="34" charset="0"/>
              </a:rPr>
              <a:t>	MyThread2(Table t) {  </a:t>
            </a:r>
          </a:p>
          <a:p>
            <a:pPr>
              <a:lnSpc>
                <a:spcPct val="150000"/>
              </a:lnSpc>
              <a:buNone/>
            </a:pPr>
            <a:r>
              <a:rPr lang="en-US" sz="1200" dirty="0">
                <a:latin typeface="Arial" pitchFamily="34" charset="0"/>
                <a:cs typeface="Arial" pitchFamily="34" charset="0"/>
              </a:rPr>
              <a:t>		</a:t>
            </a:r>
            <a:r>
              <a:rPr lang="en-US" sz="1200" dirty="0" err="1">
                <a:latin typeface="Arial" pitchFamily="34" charset="0"/>
                <a:cs typeface="Arial" pitchFamily="34" charset="0"/>
              </a:rPr>
              <a:t>this.t</a:t>
            </a:r>
            <a:r>
              <a:rPr lang="en-US" sz="1200" dirty="0">
                <a:latin typeface="Arial" pitchFamily="34" charset="0"/>
                <a:cs typeface="Arial" pitchFamily="34" charset="0"/>
              </a:rPr>
              <a:t>=t;  </a:t>
            </a:r>
          </a:p>
          <a:p>
            <a:pPr>
              <a:lnSpc>
                <a:spcPct val="150000"/>
              </a:lnSpc>
              <a:buNone/>
            </a:pPr>
            <a:r>
              <a:rPr lang="en-US" sz="1200" dirty="0">
                <a:latin typeface="Arial" pitchFamily="34" charset="0"/>
                <a:cs typeface="Arial" pitchFamily="34" charset="0"/>
              </a:rPr>
              <a:t>	}  </a:t>
            </a:r>
          </a:p>
          <a:p>
            <a:pPr>
              <a:lnSpc>
                <a:spcPct val="150000"/>
              </a:lnSpc>
              <a:buNone/>
            </a:pPr>
            <a:r>
              <a:rPr lang="en-US" sz="1200" dirty="0">
                <a:latin typeface="Arial" pitchFamily="34" charset="0"/>
                <a:cs typeface="Arial" pitchFamily="34" charset="0"/>
              </a:rPr>
              <a:t>	public void run() {  </a:t>
            </a:r>
          </a:p>
          <a:p>
            <a:pPr>
              <a:lnSpc>
                <a:spcPct val="150000"/>
              </a:lnSpc>
              <a:buNone/>
            </a:pPr>
            <a:r>
              <a:rPr lang="en-US" sz="1200" dirty="0">
                <a:latin typeface="Arial" pitchFamily="34" charset="0"/>
                <a:cs typeface="Arial" pitchFamily="34" charset="0"/>
              </a:rPr>
              <a:t>		</a:t>
            </a:r>
            <a:r>
              <a:rPr lang="en-US" sz="1200" dirty="0" err="1">
                <a:latin typeface="Arial" pitchFamily="34" charset="0"/>
                <a:cs typeface="Arial" pitchFamily="34" charset="0"/>
              </a:rPr>
              <a:t>t.printTable</a:t>
            </a:r>
            <a:r>
              <a:rPr lang="en-US" sz="1200" dirty="0">
                <a:latin typeface="Arial" pitchFamily="34" charset="0"/>
                <a:cs typeface="Arial" pitchFamily="34" charset="0"/>
              </a:rPr>
              <a:t>(100);  </a:t>
            </a:r>
          </a:p>
          <a:p>
            <a:pPr>
              <a:lnSpc>
                <a:spcPct val="150000"/>
              </a:lnSpc>
              <a:buNone/>
            </a:pPr>
            <a:r>
              <a:rPr lang="en-US" sz="1200" dirty="0">
                <a:latin typeface="Arial" pitchFamily="34" charset="0"/>
                <a:cs typeface="Arial" pitchFamily="34" charset="0"/>
              </a:rPr>
              <a:t>	}  </a:t>
            </a:r>
          </a:p>
          <a:p>
            <a:pPr>
              <a:lnSpc>
                <a:spcPct val="150000"/>
              </a:lnSpc>
              <a:buNone/>
            </a:pPr>
            <a:r>
              <a:rPr lang="en-US" sz="1200" dirty="0">
                <a:latin typeface="Arial" pitchFamily="34" charset="0"/>
                <a:cs typeface="Arial" pitchFamily="34" charset="0"/>
              </a:rPr>
              <a:t>}  </a:t>
            </a:r>
          </a:p>
          <a:p>
            <a:pPr>
              <a:lnSpc>
                <a:spcPct val="150000"/>
              </a:lnSpc>
              <a:buNone/>
            </a:pPr>
            <a:r>
              <a:rPr lang="en-US" sz="1200" dirty="0">
                <a:latin typeface="Arial" pitchFamily="34" charset="0"/>
                <a:cs typeface="Arial" pitchFamily="34" charset="0"/>
              </a:rPr>
              <a:t>class TestSynchronization1 {  </a:t>
            </a:r>
          </a:p>
          <a:p>
            <a:pPr>
              <a:lnSpc>
                <a:spcPct val="150000"/>
              </a:lnSpc>
              <a:buNone/>
            </a:pPr>
            <a:r>
              <a:rPr lang="en-US" sz="1200" dirty="0">
                <a:latin typeface="Arial" pitchFamily="34" charset="0"/>
                <a:cs typeface="Arial" pitchFamily="34" charset="0"/>
              </a:rPr>
              <a:t>     public static void main(String </a:t>
            </a:r>
            <a:r>
              <a:rPr lang="en-US" sz="1200" dirty="0" err="1">
                <a:latin typeface="Arial" pitchFamily="34" charset="0"/>
                <a:cs typeface="Arial" pitchFamily="34" charset="0"/>
              </a:rPr>
              <a:t>args</a:t>
            </a:r>
            <a:r>
              <a:rPr lang="en-US" sz="1200" dirty="0">
                <a:latin typeface="Arial" pitchFamily="34" charset="0"/>
                <a:cs typeface="Arial" pitchFamily="34" charset="0"/>
              </a:rPr>
              <a:t>[]) {  </a:t>
            </a:r>
          </a:p>
          <a:p>
            <a:pPr>
              <a:lnSpc>
                <a:spcPct val="150000"/>
              </a:lnSpc>
              <a:buNone/>
            </a:pPr>
            <a:r>
              <a:rPr lang="en-US" sz="1200" dirty="0">
                <a:latin typeface="Arial" pitchFamily="34" charset="0"/>
                <a:cs typeface="Arial" pitchFamily="34" charset="0"/>
              </a:rPr>
              <a:t>	Table </a:t>
            </a:r>
            <a:r>
              <a:rPr lang="en-US" sz="1200" dirty="0" err="1">
                <a:latin typeface="Arial" pitchFamily="34" charset="0"/>
                <a:cs typeface="Arial" pitchFamily="34" charset="0"/>
              </a:rPr>
              <a:t>obj</a:t>
            </a:r>
            <a:r>
              <a:rPr lang="en-US" sz="1200" dirty="0">
                <a:latin typeface="Arial" pitchFamily="34" charset="0"/>
                <a:cs typeface="Arial" pitchFamily="34" charset="0"/>
              </a:rPr>
              <a:t> = new Table();//only one object  </a:t>
            </a:r>
          </a:p>
          <a:p>
            <a:pPr>
              <a:lnSpc>
                <a:spcPct val="150000"/>
              </a:lnSpc>
              <a:buNone/>
            </a:pPr>
            <a:r>
              <a:rPr lang="en-US" sz="1200" dirty="0">
                <a:latin typeface="Arial" pitchFamily="34" charset="0"/>
                <a:cs typeface="Arial" pitchFamily="34" charset="0"/>
              </a:rPr>
              <a:t>	MyThread1 t1=new MyThread1(</a:t>
            </a:r>
            <a:r>
              <a:rPr lang="en-US" sz="1200" dirty="0" err="1">
                <a:latin typeface="Arial" pitchFamily="34" charset="0"/>
                <a:cs typeface="Arial" pitchFamily="34" charset="0"/>
              </a:rPr>
              <a:t>obj</a:t>
            </a:r>
            <a:r>
              <a:rPr lang="en-US" sz="1200" dirty="0">
                <a:latin typeface="Arial" pitchFamily="34" charset="0"/>
                <a:cs typeface="Arial" pitchFamily="34" charset="0"/>
              </a:rPr>
              <a:t>);  </a:t>
            </a:r>
          </a:p>
          <a:p>
            <a:pPr>
              <a:lnSpc>
                <a:spcPct val="150000"/>
              </a:lnSpc>
              <a:buNone/>
            </a:pPr>
            <a:r>
              <a:rPr lang="en-US" sz="1200" dirty="0">
                <a:latin typeface="Arial" pitchFamily="34" charset="0"/>
                <a:cs typeface="Arial" pitchFamily="34" charset="0"/>
              </a:rPr>
              <a:t>	MyThread2 t2=new MyThread2(</a:t>
            </a:r>
            <a:r>
              <a:rPr lang="en-US" sz="1200" dirty="0" err="1">
                <a:latin typeface="Arial" pitchFamily="34" charset="0"/>
                <a:cs typeface="Arial" pitchFamily="34" charset="0"/>
              </a:rPr>
              <a:t>obj</a:t>
            </a:r>
            <a:r>
              <a:rPr lang="en-US" sz="1200" dirty="0">
                <a:latin typeface="Arial" pitchFamily="34" charset="0"/>
                <a:cs typeface="Arial" pitchFamily="34" charset="0"/>
              </a:rPr>
              <a:t>);  </a:t>
            </a:r>
          </a:p>
          <a:p>
            <a:pPr>
              <a:lnSpc>
                <a:spcPct val="150000"/>
              </a:lnSpc>
              <a:buNone/>
            </a:pPr>
            <a:r>
              <a:rPr lang="en-US" sz="1200" dirty="0">
                <a:latin typeface="Arial" pitchFamily="34" charset="0"/>
                <a:cs typeface="Arial" pitchFamily="34" charset="0"/>
              </a:rPr>
              <a:t>	t1.start();  </a:t>
            </a:r>
          </a:p>
          <a:p>
            <a:pPr>
              <a:lnSpc>
                <a:spcPct val="150000"/>
              </a:lnSpc>
              <a:buNone/>
            </a:pPr>
            <a:r>
              <a:rPr lang="en-US" sz="1200" dirty="0">
                <a:latin typeface="Arial" pitchFamily="34" charset="0"/>
                <a:cs typeface="Arial" pitchFamily="34" charset="0"/>
              </a:rPr>
              <a:t>	t2.start();  </a:t>
            </a:r>
          </a:p>
          <a:p>
            <a:pPr>
              <a:lnSpc>
                <a:spcPct val="150000"/>
              </a:lnSpc>
              <a:buNone/>
            </a:pPr>
            <a:r>
              <a:rPr lang="en-US" sz="1200" dirty="0">
                <a:latin typeface="Arial" pitchFamily="34" charset="0"/>
                <a:cs typeface="Arial" pitchFamily="34" charset="0"/>
              </a:rPr>
              <a:t>     }  </a:t>
            </a:r>
          </a:p>
          <a:p>
            <a:pPr>
              <a:lnSpc>
                <a:spcPct val="150000"/>
              </a:lnSpc>
              <a:buNone/>
            </a:pPr>
            <a:r>
              <a:rPr lang="en-US" sz="1200" dirty="0">
                <a:latin typeface="Arial" pitchFamily="34" charset="0"/>
                <a:cs typeface="Arial" pitchFamily="34" charset="0"/>
              </a:rPr>
              <a:t>}  </a:t>
            </a:r>
          </a:p>
        </p:txBody>
      </p:sp>
      <p:sp>
        <p:nvSpPr>
          <p:cNvPr id="6" name="TextBox 5"/>
          <p:cNvSpPr txBox="1"/>
          <p:nvPr/>
        </p:nvSpPr>
        <p:spPr>
          <a:xfrm>
            <a:off x="8001000" y="4395787"/>
            <a:ext cx="1066800" cy="2462213"/>
          </a:xfrm>
          <a:prstGeom prst="rect">
            <a:avLst/>
          </a:prstGeom>
          <a:solidFill>
            <a:schemeClr val="accent6">
              <a:lumMod val="20000"/>
              <a:lumOff val="80000"/>
            </a:schemeClr>
          </a:solidFill>
          <a:ln>
            <a:solidFill>
              <a:schemeClr val="accent1"/>
            </a:solidFill>
          </a:ln>
        </p:spPr>
        <p:txBody>
          <a:bodyPr wrap="square" rtlCol="0">
            <a:spAutoFit/>
          </a:bodyPr>
          <a:lstStyle/>
          <a:p>
            <a:r>
              <a:rPr lang="en-US" sz="1400" u="sng" dirty="0"/>
              <a:t>Output:</a:t>
            </a:r>
          </a:p>
          <a:p>
            <a:r>
              <a:rPr lang="en-US" sz="1400" dirty="0"/>
              <a:t> 5 </a:t>
            </a:r>
          </a:p>
          <a:p>
            <a:r>
              <a:rPr lang="en-US" sz="1400" dirty="0"/>
              <a:t>100 </a:t>
            </a:r>
          </a:p>
          <a:p>
            <a:r>
              <a:rPr lang="en-US" sz="1400" dirty="0"/>
              <a:t>10 </a:t>
            </a:r>
          </a:p>
          <a:p>
            <a:r>
              <a:rPr lang="en-US" sz="1400" dirty="0"/>
              <a:t>200 </a:t>
            </a:r>
          </a:p>
          <a:p>
            <a:r>
              <a:rPr lang="en-US" sz="1400" dirty="0"/>
              <a:t>15 </a:t>
            </a:r>
          </a:p>
          <a:p>
            <a:r>
              <a:rPr lang="en-US" sz="1400" dirty="0"/>
              <a:t>300 </a:t>
            </a:r>
          </a:p>
          <a:p>
            <a:r>
              <a:rPr lang="en-US" sz="1400" dirty="0"/>
              <a:t>20 </a:t>
            </a:r>
          </a:p>
          <a:p>
            <a:r>
              <a:rPr lang="en-US" sz="1400" dirty="0"/>
              <a:t>400 </a:t>
            </a:r>
          </a:p>
          <a:p>
            <a:r>
              <a:rPr lang="en-US" sz="1400" dirty="0"/>
              <a:t>25 </a:t>
            </a:r>
          </a:p>
          <a:p>
            <a:r>
              <a:rPr lang="en-US" sz="1400" dirty="0"/>
              <a:t>500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 synchronized method</a:t>
            </a:r>
            <a:endParaRPr lang="en-US" dirty="0"/>
          </a:p>
        </p:txBody>
      </p:sp>
      <p:sp>
        <p:nvSpPr>
          <p:cNvPr id="4" name="Content Placeholder 2"/>
          <p:cNvSpPr>
            <a:spLocks noGrp="1"/>
          </p:cNvSpPr>
          <p:nvPr>
            <p:ph idx="1"/>
          </p:nvPr>
        </p:nvSpPr>
        <p:spPr>
          <a:xfrm>
            <a:off x="0" y="1219200"/>
            <a:ext cx="4114800" cy="5562600"/>
          </a:xfrm>
          <a:solidFill>
            <a:schemeClr val="bg1">
              <a:lumMod val="95000"/>
            </a:schemeClr>
          </a:solidFill>
          <a:ln>
            <a:solidFill>
              <a:schemeClr val="accent1"/>
            </a:solidFill>
          </a:ln>
        </p:spPr>
        <p:txBody>
          <a:bodyPr>
            <a:noAutofit/>
          </a:bodyPr>
          <a:lstStyle/>
          <a:p>
            <a:pPr>
              <a:buNone/>
            </a:pPr>
            <a:r>
              <a:rPr lang="en-US" sz="1200" dirty="0"/>
              <a:t>class Table {  </a:t>
            </a:r>
          </a:p>
          <a:p>
            <a:pPr>
              <a:buNone/>
            </a:pPr>
            <a:r>
              <a:rPr lang="en-US" sz="1200" dirty="0"/>
              <a:t>	</a:t>
            </a:r>
            <a:r>
              <a:rPr lang="en-US" sz="1200" dirty="0">
                <a:solidFill>
                  <a:srgbClr val="FF0000"/>
                </a:solidFill>
              </a:rPr>
              <a:t>synchronized</a:t>
            </a:r>
            <a:r>
              <a:rPr lang="en-US" sz="1200" dirty="0"/>
              <a:t> void </a:t>
            </a:r>
            <a:r>
              <a:rPr lang="en-US" sz="1200" dirty="0" err="1"/>
              <a:t>printTable</a:t>
            </a:r>
            <a:r>
              <a:rPr lang="en-US" sz="1200" dirty="0"/>
              <a:t>(</a:t>
            </a:r>
            <a:r>
              <a:rPr lang="en-US" sz="1200" dirty="0" err="1"/>
              <a:t>int</a:t>
            </a:r>
            <a:r>
              <a:rPr lang="en-US" sz="1200" dirty="0"/>
              <a:t> n) {  //synchronized  </a:t>
            </a:r>
          </a:p>
          <a:p>
            <a:pPr>
              <a:buNone/>
            </a:pPr>
            <a:r>
              <a:rPr lang="en-US" sz="1200" dirty="0"/>
              <a:t>	   for(</a:t>
            </a:r>
            <a:r>
              <a:rPr lang="en-US" sz="1200" dirty="0" err="1"/>
              <a:t>int</a:t>
            </a:r>
            <a:r>
              <a:rPr lang="en-US" sz="1200" dirty="0"/>
              <a:t> </a:t>
            </a:r>
            <a:r>
              <a:rPr lang="en-US" sz="1200" dirty="0" err="1"/>
              <a:t>i</a:t>
            </a:r>
            <a:r>
              <a:rPr lang="en-US" sz="1200" dirty="0"/>
              <a:t>=1;i&lt;=5;i++) {  </a:t>
            </a:r>
          </a:p>
          <a:p>
            <a:pPr>
              <a:buNone/>
            </a:pPr>
            <a:r>
              <a:rPr lang="en-US" sz="1200" dirty="0"/>
              <a:t>     		</a:t>
            </a:r>
            <a:r>
              <a:rPr lang="en-US" sz="1200" dirty="0" err="1"/>
              <a:t>System.out.println</a:t>
            </a:r>
            <a:r>
              <a:rPr lang="en-US" sz="1200" dirty="0"/>
              <a:t>(n*</a:t>
            </a:r>
            <a:r>
              <a:rPr lang="en-US" sz="1200" dirty="0" err="1"/>
              <a:t>i</a:t>
            </a:r>
            <a:r>
              <a:rPr lang="en-US" sz="1200" dirty="0"/>
              <a:t>);  </a:t>
            </a:r>
          </a:p>
          <a:p>
            <a:pPr>
              <a:buNone/>
            </a:pPr>
            <a:r>
              <a:rPr lang="en-US" sz="1200" dirty="0"/>
              <a:t>     	   try {  </a:t>
            </a:r>
          </a:p>
          <a:p>
            <a:pPr>
              <a:buNone/>
            </a:pPr>
            <a:r>
              <a:rPr lang="en-US" sz="1200" dirty="0"/>
              <a:t>      		</a:t>
            </a:r>
            <a:r>
              <a:rPr lang="en-US" sz="1200" dirty="0" err="1"/>
              <a:t>Thread.sleep</a:t>
            </a:r>
            <a:r>
              <a:rPr lang="en-US" sz="1200" dirty="0"/>
              <a:t>(400);  </a:t>
            </a:r>
          </a:p>
          <a:p>
            <a:pPr>
              <a:buNone/>
            </a:pPr>
            <a:r>
              <a:rPr lang="en-US" sz="1200" dirty="0"/>
              <a:t>     	   } catch(Exception e) { </a:t>
            </a:r>
            <a:r>
              <a:rPr lang="en-US" sz="1200" dirty="0" err="1"/>
              <a:t>System.out.println</a:t>
            </a:r>
            <a:r>
              <a:rPr lang="en-US" sz="1200" dirty="0"/>
              <a:t>(e); }  </a:t>
            </a:r>
          </a:p>
          <a:p>
            <a:pPr>
              <a:buNone/>
            </a:pPr>
            <a:r>
              <a:rPr lang="en-US" sz="1200" dirty="0"/>
              <a:t>   	   }  </a:t>
            </a:r>
          </a:p>
          <a:p>
            <a:pPr>
              <a:buNone/>
            </a:pPr>
            <a:r>
              <a:rPr lang="en-US" sz="1200" dirty="0"/>
              <a:t> 	}  </a:t>
            </a:r>
          </a:p>
          <a:p>
            <a:pPr>
              <a:buNone/>
            </a:pPr>
            <a:r>
              <a:rPr lang="en-US" sz="1200" dirty="0"/>
              <a:t>}  </a:t>
            </a:r>
          </a:p>
          <a:p>
            <a:pPr>
              <a:buNone/>
            </a:pPr>
            <a:r>
              <a:rPr lang="en-US" sz="1200" dirty="0"/>
              <a:t>class MyThread1 extends Thread {  </a:t>
            </a:r>
          </a:p>
          <a:p>
            <a:pPr>
              <a:buNone/>
            </a:pPr>
            <a:r>
              <a:rPr lang="en-US" sz="1200" dirty="0"/>
              <a:t>	Table t;  </a:t>
            </a:r>
          </a:p>
          <a:p>
            <a:pPr>
              <a:buNone/>
            </a:pPr>
            <a:r>
              <a:rPr lang="en-US" sz="1200" dirty="0"/>
              <a:t>	MyThread1(Table t) {  </a:t>
            </a:r>
          </a:p>
          <a:p>
            <a:pPr>
              <a:buNone/>
            </a:pPr>
            <a:r>
              <a:rPr lang="en-US" sz="1200" dirty="0"/>
              <a:t>		</a:t>
            </a:r>
            <a:r>
              <a:rPr lang="en-US" sz="1200" dirty="0" err="1"/>
              <a:t>this.t</a:t>
            </a:r>
            <a:r>
              <a:rPr lang="en-US" sz="1200" dirty="0"/>
              <a:t>=t;  </a:t>
            </a:r>
          </a:p>
          <a:p>
            <a:pPr>
              <a:buNone/>
            </a:pPr>
            <a:r>
              <a:rPr lang="en-US" sz="1200" dirty="0"/>
              <a:t>	}  </a:t>
            </a:r>
          </a:p>
          <a:p>
            <a:pPr>
              <a:buNone/>
            </a:pPr>
            <a:r>
              <a:rPr lang="en-US" sz="1200" dirty="0"/>
              <a:t>	public void run() {  </a:t>
            </a:r>
          </a:p>
          <a:p>
            <a:pPr>
              <a:buNone/>
            </a:pPr>
            <a:r>
              <a:rPr lang="en-US" sz="1200" dirty="0"/>
              <a:t>		</a:t>
            </a:r>
            <a:r>
              <a:rPr lang="en-US" sz="1200" dirty="0" err="1"/>
              <a:t>t.printTable</a:t>
            </a:r>
            <a:r>
              <a:rPr lang="en-US" sz="1200" dirty="0"/>
              <a:t>(5);  </a:t>
            </a:r>
          </a:p>
          <a:p>
            <a:pPr>
              <a:buNone/>
            </a:pPr>
            <a:r>
              <a:rPr lang="en-US" sz="1200" dirty="0"/>
              <a:t>	}    </a:t>
            </a:r>
          </a:p>
          <a:p>
            <a:pPr>
              <a:buNone/>
            </a:pPr>
            <a:r>
              <a:rPr lang="en-US" sz="1200" dirty="0"/>
              <a:t>}  </a:t>
            </a:r>
          </a:p>
        </p:txBody>
      </p:sp>
      <p:sp>
        <p:nvSpPr>
          <p:cNvPr id="5" name="TextBox 4"/>
          <p:cNvSpPr txBox="1"/>
          <p:nvPr/>
        </p:nvSpPr>
        <p:spPr>
          <a:xfrm>
            <a:off x="4191000" y="1219200"/>
            <a:ext cx="4724400" cy="5355312"/>
          </a:xfrm>
          <a:prstGeom prst="rect">
            <a:avLst/>
          </a:prstGeom>
          <a:solidFill>
            <a:schemeClr val="bg1">
              <a:lumMod val="95000"/>
            </a:schemeClr>
          </a:solidFill>
          <a:ln>
            <a:solidFill>
              <a:schemeClr val="accent1"/>
            </a:solidFill>
          </a:ln>
        </p:spPr>
        <p:txBody>
          <a:bodyPr wrap="square" rtlCol="0">
            <a:spAutoFit/>
          </a:bodyPr>
          <a:lstStyle/>
          <a:p>
            <a:pPr>
              <a:lnSpc>
                <a:spcPct val="150000"/>
              </a:lnSpc>
              <a:buNone/>
            </a:pPr>
            <a:r>
              <a:rPr lang="en-US" sz="1200" dirty="0">
                <a:latin typeface="Arial" pitchFamily="34" charset="0"/>
                <a:cs typeface="Arial" pitchFamily="34" charset="0"/>
              </a:rPr>
              <a:t>class MyThread2 extends Thread {  </a:t>
            </a:r>
          </a:p>
          <a:p>
            <a:pPr>
              <a:lnSpc>
                <a:spcPct val="150000"/>
              </a:lnSpc>
              <a:buNone/>
            </a:pPr>
            <a:r>
              <a:rPr lang="en-US" sz="1200" dirty="0">
                <a:latin typeface="Arial" pitchFamily="34" charset="0"/>
                <a:cs typeface="Arial" pitchFamily="34" charset="0"/>
              </a:rPr>
              <a:t>	Table t;  </a:t>
            </a:r>
          </a:p>
          <a:p>
            <a:pPr>
              <a:lnSpc>
                <a:spcPct val="150000"/>
              </a:lnSpc>
              <a:buNone/>
            </a:pPr>
            <a:r>
              <a:rPr lang="en-US" sz="1200" dirty="0">
                <a:latin typeface="Arial" pitchFamily="34" charset="0"/>
                <a:cs typeface="Arial" pitchFamily="34" charset="0"/>
              </a:rPr>
              <a:t>	</a:t>
            </a:r>
          </a:p>
          <a:p>
            <a:pPr>
              <a:lnSpc>
                <a:spcPct val="150000"/>
              </a:lnSpc>
              <a:buNone/>
            </a:pPr>
            <a:r>
              <a:rPr lang="en-US" sz="1200" dirty="0">
                <a:latin typeface="Arial" pitchFamily="34" charset="0"/>
                <a:cs typeface="Arial" pitchFamily="34" charset="0"/>
              </a:rPr>
              <a:t>	MyThread2(Table t) {  </a:t>
            </a:r>
          </a:p>
          <a:p>
            <a:pPr>
              <a:lnSpc>
                <a:spcPct val="150000"/>
              </a:lnSpc>
              <a:buNone/>
            </a:pPr>
            <a:r>
              <a:rPr lang="en-US" sz="1200" dirty="0">
                <a:latin typeface="Arial" pitchFamily="34" charset="0"/>
                <a:cs typeface="Arial" pitchFamily="34" charset="0"/>
              </a:rPr>
              <a:t>		</a:t>
            </a:r>
            <a:r>
              <a:rPr lang="en-US" sz="1200" dirty="0" err="1">
                <a:latin typeface="Arial" pitchFamily="34" charset="0"/>
                <a:cs typeface="Arial" pitchFamily="34" charset="0"/>
              </a:rPr>
              <a:t>this.t</a:t>
            </a:r>
            <a:r>
              <a:rPr lang="en-US" sz="1200" dirty="0">
                <a:latin typeface="Arial" pitchFamily="34" charset="0"/>
                <a:cs typeface="Arial" pitchFamily="34" charset="0"/>
              </a:rPr>
              <a:t>=t;  </a:t>
            </a:r>
          </a:p>
          <a:p>
            <a:pPr>
              <a:lnSpc>
                <a:spcPct val="150000"/>
              </a:lnSpc>
              <a:buNone/>
            </a:pPr>
            <a:r>
              <a:rPr lang="en-US" sz="1200" dirty="0">
                <a:latin typeface="Arial" pitchFamily="34" charset="0"/>
                <a:cs typeface="Arial" pitchFamily="34" charset="0"/>
              </a:rPr>
              <a:t>	}  </a:t>
            </a:r>
          </a:p>
          <a:p>
            <a:pPr>
              <a:lnSpc>
                <a:spcPct val="150000"/>
              </a:lnSpc>
              <a:buNone/>
            </a:pPr>
            <a:r>
              <a:rPr lang="en-US" sz="1200" dirty="0">
                <a:latin typeface="Arial" pitchFamily="34" charset="0"/>
                <a:cs typeface="Arial" pitchFamily="34" charset="0"/>
              </a:rPr>
              <a:t>	public void run() {  </a:t>
            </a:r>
          </a:p>
          <a:p>
            <a:pPr>
              <a:lnSpc>
                <a:spcPct val="150000"/>
              </a:lnSpc>
              <a:buNone/>
            </a:pPr>
            <a:r>
              <a:rPr lang="en-US" sz="1200" dirty="0">
                <a:latin typeface="Arial" pitchFamily="34" charset="0"/>
                <a:cs typeface="Arial" pitchFamily="34" charset="0"/>
              </a:rPr>
              <a:t>		</a:t>
            </a:r>
            <a:r>
              <a:rPr lang="en-US" sz="1200" dirty="0" err="1">
                <a:latin typeface="Arial" pitchFamily="34" charset="0"/>
                <a:cs typeface="Arial" pitchFamily="34" charset="0"/>
              </a:rPr>
              <a:t>t.printTable</a:t>
            </a:r>
            <a:r>
              <a:rPr lang="en-US" sz="1200" dirty="0">
                <a:latin typeface="Arial" pitchFamily="34" charset="0"/>
                <a:cs typeface="Arial" pitchFamily="34" charset="0"/>
              </a:rPr>
              <a:t>(100);  </a:t>
            </a:r>
          </a:p>
          <a:p>
            <a:pPr>
              <a:lnSpc>
                <a:spcPct val="150000"/>
              </a:lnSpc>
              <a:buNone/>
            </a:pPr>
            <a:r>
              <a:rPr lang="en-US" sz="1200" dirty="0">
                <a:latin typeface="Arial" pitchFamily="34" charset="0"/>
                <a:cs typeface="Arial" pitchFamily="34" charset="0"/>
              </a:rPr>
              <a:t>	}  </a:t>
            </a:r>
          </a:p>
          <a:p>
            <a:pPr>
              <a:lnSpc>
                <a:spcPct val="150000"/>
              </a:lnSpc>
              <a:buNone/>
            </a:pPr>
            <a:r>
              <a:rPr lang="en-US" sz="1200" dirty="0">
                <a:latin typeface="Arial" pitchFamily="34" charset="0"/>
                <a:cs typeface="Arial" pitchFamily="34" charset="0"/>
              </a:rPr>
              <a:t>}  </a:t>
            </a:r>
          </a:p>
          <a:p>
            <a:pPr>
              <a:lnSpc>
                <a:spcPct val="150000"/>
              </a:lnSpc>
              <a:buNone/>
            </a:pPr>
            <a:r>
              <a:rPr lang="en-US" sz="1200" dirty="0">
                <a:latin typeface="Arial" pitchFamily="34" charset="0"/>
                <a:cs typeface="Arial" pitchFamily="34" charset="0"/>
              </a:rPr>
              <a:t>class TestSynchronization2 {  </a:t>
            </a:r>
          </a:p>
          <a:p>
            <a:pPr>
              <a:lnSpc>
                <a:spcPct val="150000"/>
              </a:lnSpc>
              <a:buNone/>
            </a:pPr>
            <a:r>
              <a:rPr lang="en-US" sz="1200" dirty="0">
                <a:latin typeface="Arial" pitchFamily="34" charset="0"/>
                <a:cs typeface="Arial" pitchFamily="34" charset="0"/>
              </a:rPr>
              <a:t>     public static void main(String </a:t>
            </a:r>
            <a:r>
              <a:rPr lang="en-US" sz="1200" dirty="0" err="1">
                <a:latin typeface="Arial" pitchFamily="34" charset="0"/>
                <a:cs typeface="Arial" pitchFamily="34" charset="0"/>
              </a:rPr>
              <a:t>args</a:t>
            </a:r>
            <a:r>
              <a:rPr lang="en-US" sz="1200" dirty="0">
                <a:latin typeface="Arial" pitchFamily="34" charset="0"/>
                <a:cs typeface="Arial" pitchFamily="34" charset="0"/>
              </a:rPr>
              <a:t>[]) {  </a:t>
            </a:r>
          </a:p>
          <a:p>
            <a:pPr>
              <a:lnSpc>
                <a:spcPct val="150000"/>
              </a:lnSpc>
              <a:buNone/>
            </a:pPr>
            <a:r>
              <a:rPr lang="en-US" sz="1200" dirty="0">
                <a:latin typeface="Arial" pitchFamily="34" charset="0"/>
                <a:cs typeface="Arial" pitchFamily="34" charset="0"/>
              </a:rPr>
              <a:t>	Table </a:t>
            </a:r>
            <a:r>
              <a:rPr lang="en-US" sz="1200" dirty="0" err="1">
                <a:latin typeface="Arial" pitchFamily="34" charset="0"/>
                <a:cs typeface="Arial" pitchFamily="34" charset="0"/>
              </a:rPr>
              <a:t>obj</a:t>
            </a:r>
            <a:r>
              <a:rPr lang="en-US" sz="1200" dirty="0">
                <a:latin typeface="Arial" pitchFamily="34" charset="0"/>
                <a:cs typeface="Arial" pitchFamily="34" charset="0"/>
              </a:rPr>
              <a:t> = new Table();//only one object  </a:t>
            </a:r>
          </a:p>
          <a:p>
            <a:pPr>
              <a:lnSpc>
                <a:spcPct val="150000"/>
              </a:lnSpc>
              <a:buNone/>
            </a:pPr>
            <a:r>
              <a:rPr lang="en-US" sz="1200" dirty="0">
                <a:latin typeface="Arial" pitchFamily="34" charset="0"/>
                <a:cs typeface="Arial" pitchFamily="34" charset="0"/>
              </a:rPr>
              <a:t>	MyThread1 t1=new MyThread1(</a:t>
            </a:r>
            <a:r>
              <a:rPr lang="en-US" sz="1200" dirty="0" err="1">
                <a:latin typeface="Arial" pitchFamily="34" charset="0"/>
                <a:cs typeface="Arial" pitchFamily="34" charset="0"/>
              </a:rPr>
              <a:t>obj</a:t>
            </a:r>
            <a:r>
              <a:rPr lang="en-US" sz="1200" dirty="0">
                <a:latin typeface="Arial" pitchFamily="34" charset="0"/>
                <a:cs typeface="Arial" pitchFamily="34" charset="0"/>
              </a:rPr>
              <a:t>);  </a:t>
            </a:r>
          </a:p>
          <a:p>
            <a:pPr>
              <a:lnSpc>
                <a:spcPct val="150000"/>
              </a:lnSpc>
              <a:buNone/>
            </a:pPr>
            <a:r>
              <a:rPr lang="en-US" sz="1200" dirty="0">
                <a:latin typeface="Arial" pitchFamily="34" charset="0"/>
                <a:cs typeface="Arial" pitchFamily="34" charset="0"/>
              </a:rPr>
              <a:t>	MyThread2 t2=new MyThread2(</a:t>
            </a:r>
            <a:r>
              <a:rPr lang="en-US" sz="1200" dirty="0" err="1">
                <a:latin typeface="Arial" pitchFamily="34" charset="0"/>
                <a:cs typeface="Arial" pitchFamily="34" charset="0"/>
              </a:rPr>
              <a:t>obj</a:t>
            </a:r>
            <a:r>
              <a:rPr lang="en-US" sz="1200" dirty="0">
                <a:latin typeface="Arial" pitchFamily="34" charset="0"/>
                <a:cs typeface="Arial" pitchFamily="34" charset="0"/>
              </a:rPr>
              <a:t>);  </a:t>
            </a:r>
          </a:p>
          <a:p>
            <a:pPr>
              <a:lnSpc>
                <a:spcPct val="150000"/>
              </a:lnSpc>
              <a:buNone/>
            </a:pPr>
            <a:r>
              <a:rPr lang="en-US" sz="1200" dirty="0">
                <a:latin typeface="Arial" pitchFamily="34" charset="0"/>
                <a:cs typeface="Arial" pitchFamily="34" charset="0"/>
              </a:rPr>
              <a:t>	t1.start();  </a:t>
            </a:r>
          </a:p>
          <a:p>
            <a:pPr>
              <a:lnSpc>
                <a:spcPct val="150000"/>
              </a:lnSpc>
              <a:buNone/>
            </a:pPr>
            <a:r>
              <a:rPr lang="en-US" sz="1200" dirty="0">
                <a:latin typeface="Arial" pitchFamily="34" charset="0"/>
                <a:cs typeface="Arial" pitchFamily="34" charset="0"/>
              </a:rPr>
              <a:t>	t2.start();  </a:t>
            </a:r>
          </a:p>
          <a:p>
            <a:pPr>
              <a:lnSpc>
                <a:spcPct val="150000"/>
              </a:lnSpc>
              <a:buNone/>
            </a:pPr>
            <a:r>
              <a:rPr lang="en-US" sz="1200" dirty="0">
                <a:latin typeface="Arial" pitchFamily="34" charset="0"/>
                <a:cs typeface="Arial" pitchFamily="34" charset="0"/>
              </a:rPr>
              <a:t>     }  </a:t>
            </a:r>
          </a:p>
          <a:p>
            <a:pPr>
              <a:lnSpc>
                <a:spcPct val="150000"/>
              </a:lnSpc>
              <a:buNone/>
            </a:pPr>
            <a:r>
              <a:rPr lang="en-US" sz="1200" dirty="0">
                <a:latin typeface="Arial" pitchFamily="34" charset="0"/>
                <a:cs typeface="Arial" pitchFamily="34" charset="0"/>
              </a:rPr>
              <a:t>}  </a:t>
            </a:r>
          </a:p>
        </p:txBody>
      </p:sp>
      <p:sp>
        <p:nvSpPr>
          <p:cNvPr id="6" name="TextBox 5"/>
          <p:cNvSpPr txBox="1"/>
          <p:nvPr/>
        </p:nvSpPr>
        <p:spPr>
          <a:xfrm>
            <a:off x="8001000" y="4395787"/>
            <a:ext cx="1066800" cy="2462213"/>
          </a:xfrm>
          <a:prstGeom prst="rect">
            <a:avLst/>
          </a:prstGeom>
          <a:solidFill>
            <a:schemeClr val="accent6">
              <a:lumMod val="20000"/>
              <a:lumOff val="80000"/>
            </a:schemeClr>
          </a:solidFill>
          <a:ln>
            <a:solidFill>
              <a:schemeClr val="accent1"/>
            </a:solidFill>
          </a:ln>
        </p:spPr>
        <p:txBody>
          <a:bodyPr wrap="square" rtlCol="0">
            <a:spAutoFit/>
          </a:bodyPr>
          <a:lstStyle/>
          <a:p>
            <a:r>
              <a:rPr lang="en-US" sz="1400" u="sng" dirty="0"/>
              <a:t>Output:</a:t>
            </a:r>
          </a:p>
          <a:p>
            <a:r>
              <a:rPr lang="en-US" sz="1400" dirty="0"/>
              <a:t> 5 </a:t>
            </a:r>
          </a:p>
          <a:p>
            <a:r>
              <a:rPr lang="en-US" sz="1400" dirty="0"/>
              <a:t>10 </a:t>
            </a:r>
          </a:p>
          <a:p>
            <a:r>
              <a:rPr lang="en-US" sz="1400" dirty="0"/>
              <a:t>15</a:t>
            </a:r>
          </a:p>
          <a:p>
            <a:r>
              <a:rPr lang="en-US" sz="1400" dirty="0"/>
              <a:t>20</a:t>
            </a:r>
          </a:p>
          <a:p>
            <a:r>
              <a:rPr lang="en-US" sz="1400" dirty="0"/>
              <a:t>25</a:t>
            </a:r>
          </a:p>
          <a:p>
            <a:r>
              <a:rPr lang="en-US" sz="1400" dirty="0"/>
              <a:t>100 </a:t>
            </a:r>
          </a:p>
          <a:p>
            <a:r>
              <a:rPr lang="en-US" sz="1400" dirty="0"/>
              <a:t>200 </a:t>
            </a:r>
          </a:p>
          <a:p>
            <a:r>
              <a:rPr lang="en-US" sz="1400" dirty="0"/>
              <a:t>300 </a:t>
            </a:r>
          </a:p>
          <a:p>
            <a:r>
              <a:rPr lang="en-US" sz="1400" dirty="0"/>
              <a:t>400 </a:t>
            </a:r>
          </a:p>
          <a:p>
            <a:r>
              <a:rPr lang="en-US" sz="1400" dirty="0"/>
              <a:t>500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Inter-thread communication in Java</a:t>
            </a:r>
            <a:endParaRPr lang="en-US" dirty="0"/>
          </a:p>
        </p:txBody>
      </p:sp>
      <p:sp>
        <p:nvSpPr>
          <p:cNvPr id="3" name="Content Placeholder 2"/>
          <p:cNvSpPr>
            <a:spLocks noGrp="1"/>
          </p:cNvSpPr>
          <p:nvPr>
            <p:ph idx="1"/>
          </p:nvPr>
        </p:nvSpPr>
        <p:spPr/>
        <p:txBody>
          <a:bodyPr/>
          <a:lstStyle/>
          <a:p>
            <a:r>
              <a:rPr lang="en-US" b="1" dirty="0"/>
              <a:t>Inter-thread communication</a:t>
            </a:r>
            <a:r>
              <a:rPr lang="en-US" dirty="0"/>
              <a:t> or </a:t>
            </a:r>
            <a:r>
              <a:rPr lang="en-US" b="1" dirty="0"/>
              <a:t>Co-operation</a:t>
            </a:r>
            <a:r>
              <a:rPr lang="en-US" dirty="0"/>
              <a:t> is all about allowing synchronized threads to communicate with each other.</a:t>
            </a:r>
          </a:p>
          <a:p>
            <a:r>
              <a:rPr lang="en-US" dirty="0"/>
              <a:t>Cooperation (Inter-thread communication) is a mechanism in which a thread is paused running in its critical section and another thread is allowed to enter (or lock) in the same critical section to be </a:t>
            </a:r>
            <a:r>
              <a:rPr lang="en-US" dirty="0" err="1"/>
              <a:t>executed.It</a:t>
            </a:r>
            <a:r>
              <a:rPr lang="en-US" dirty="0"/>
              <a:t> is implemented by following methods of </a:t>
            </a:r>
            <a:r>
              <a:rPr lang="en-US" b="1" dirty="0"/>
              <a:t>Object class</a:t>
            </a:r>
            <a:r>
              <a:rPr lang="en-US" dirty="0"/>
              <a:t>:</a:t>
            </a:r>
          </a:p>
          <a:p>
            <a:pPr lvl="2"/>
            <a:r>
              <a:rPr lang="en-US" dirty="0"/>
              <a:t>wait()</a:t>
            </a:r>
          </a:p>
          <a:p>
            <a:pPr lvl="2"/>
            <a:r>
              <a:rPr lang="en-US" dirty="0"/>
              <a:t>notify()</a:t>
            </a:r>
          </a:p>
          <a:p>
            <a:pPr lvl="2"/>
            <a:r>
              <a:rPr lang="en-US" dirty="0" err="1"/>
              <a:t>notifyAll</a:t>
            </a:r>
            <a:r>
              <a:rPr lang="en-US" dirty="0"/>
              <a:t>()</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AutoShape 2" descr="inter thread communication in jav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4035" name="Picture 3"/>
          <p:cNvPicPr>
            <a:picLocks noChangeAspect="1" noChangeArrowheads="1"/>
          </p:cNvPicPr>
          <p:nvPr/>
        </p:nvPicPr>
        <p:blipFill>
          <a:blip r:embed="rId2"/>
          <a:srcRect/>
          <a:stretch>
            <a:fillRect/>
          </a:stretch>
        </p:blipFill>
        <p:spPr bwMode="auto">
          <a:xfrm>
            <a:off x="1533525" y="381000"/>
            <a:ext cx="5553075" cy="2743200"/>
          </a:xfrm>
          <a:prstGeom prst="rect">
            <a:avLst/>
          </a:prstGeom>
          <a:noFill/>
          <a:ln w="9525">
            <a:noFill/>
            <a:miter lim="800000"/>
            <a:headEnd/>
            <a:tailEnd/>
          </a:ln>
          <a:effectLst/>
        </p:spPr>
      </p:pic>
      <p:sp>
        <p:nvSpPr>
          <p:cNvPr id="3" name="Content Placeholder 2"/>
          <p:cNvSpPr>
            <a:spLocks noGrp="1"/>
          </p:cNvSpPr>
          <p:nvPr>
            <p:ph idx="1"/>
          </p:nvPr>
        </p:nvSpPr>
        <p:spPr>
          <a:xfrm>
            <a:off x="457200" y="3200400"/>
            <a:ext cx="8229600" cy="3657600"/>
          </a:xfrm>
        </p:spPr>
        <p:txBody>
          <a:bodyPr>
            <a:noAutofit/>
          </a:bodyPr>
          <a:lstStyle/>
          <a:p>
            <a:pPr>
              <a:lnSpc>
                <a:spcPct val="170000"/>
              </a:lnSpc>
              <a:buNone/>
            </a:pPr>
            <a:r>
              <a:rPr lang="en-US" sz="1500" dirty="0"/>
              <a:t>The point to point explanation of the above diagram is as follows:</a:t>
            </a:r>
          </a:p>
          <a:p>
            <a:pPr>
              <a:lnSpc>
                <a:spcPct val="170000"/>
              </a:lnSpc>
              <a:buFont typeface="+mj-lt"/>
              <a:buAutoNum type="arabicPeriod"/>
            </a:pPr>
            <a:r>
              <a:rPr lang="en-US" sz="1500" dirty="0"/>
              <a:t>Threads enter to acquire lock.</a:t>
            </a:r>
          </a:p>
          <a:p>
            <a:pPr>
              <a:lnSpc>
                <a:spcPct val="170000"/>
              </a:lnSpc>
              <a:buFont typeface="+mj-lt"/>
              <a:buAutoNum type="arabicPeriod"/>
            </a:pPr>
            <a:r>
              <a:rPr lang="en-US" sz="1500" dirty="0"/>
              <a:t>Lock is acquired by on thread.</a:t>
            </a:r>
          </a:p>
          <a:p>
            <a:pPr>
              <a:lnSpc>
                <a:spcPct val="170000"/>
              </a:lnSpc>
              <a:buFont typeface="+mj-lt"/>
              <a:buAutoNum type="arabicPeriod"/>
            </a:pPr>
            <a:r>
              <a:rPr lang="en-US" sz="1500" dirty="0"/>
              <a:t>Now thread goes to waiting state if you call wait() method on the object. Otherwise it releases the lock and exits.</a:t>
            </a:r>
          </a:p>
          <a:p>
            <a:pPr>
              <a:lnSpc>
                <a:spcPct val="170000"/>
              </a:lnSpc>
              <a:buFont typeface="+mj-lt"/>
              <a:buAutoNum type="arabicPeriod"/>
            </a:pPr>
            <a:r>
              <a:rPr lang="en-US" sz="1500" dirty="0"/>
              <a:t>If you call notify() or </a:t>
            </a:r>
            <a:r>
              <a:rPr lang="en-US" sz="1500" dirty="0" err="1"/>
              <a:t>notifyAll</a:t>
            </a:r>
            <a:r>
              <a:rPr lang="en-US" sz="1500" dirty="0"/>
              <a:t>() method, thread moves to the notified state (</a:t>
            </a:r>
            <a:r>
              <a:rPr lang="en-US" sz="1500" dirty="0" err="1"/>
              <a:t>runnable</a:t>
            </a:r>
            <a:r>
              <a:rPr lang="en-US" sz="1500" dirty="0"/>
              <a:t> state).</a:t>
            </a:r>
          </a:p>
          <a:p>
            <a:pPr>
              <a:lnSpc>
                <a:spcPct val="170000"/>
              </a:lnSpc>
              <a:buFont typeface="+mj-lt"/>
              <a:buAutoNum type="arabicPeriod"/>
            </a:pPr>
            <a:r>
              <a:rPr lang="en-US" sz="1500" dirty="0"/>
              <a:t>Now thread is available to acquire lock.</a:t>
            </a:r>
          </a:p>
          <a:p>
            <a:pPr>
              <a:lnSpc>
                <a:spcPct val="170000"/>
              </a:lnSpc>
              <a:buFont typeface="+mj-lt"/>
              <a:buAutoNum type="arabicPeriod"/>
            </a:pPr>
            <a:r>
              <a:rPr lang="en-US" sz="1500" dirty="0"/>
              <a:t>After completion of the task, thread releases the lock and exits the monitor state of the object.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991600" cy="944562"/>
          </a:xfrm>
        </p:spPr>
        <p:txBody>
          <a:bodyPr>
            <a:normAutofit fontScale="90000"/>
          </a:bodyPr>
          <a:lstStyle/>
          <a:p>
            <a:r>
              <a:rPr lang="en-US" dirty="0"/>
              <a:t>Creating multiple threads using is Alive() and join()</a:t>
            </a:r>
          </a:p>
        </p:txBody>
      </p:sp>
      <p:sp>
        <p:nvSpPr>
          <p:cNvPr id="3" name="Content Placeholder 2"/>
          <p:cNvSpPr>
            <a:spLocks noGrp="1"/>
          </p:cNvSpPr>
          <p:nvPr>
            <p:ph idx="1"/>
          </p:nvPr>
        </p:nvSpPr>
        <p:spPr/>
        <p:txBody>
          <a:bodyPr/>
          <a:lstStyle/>
          <a:p>
            <a:r>
              <a:rPr lang="en-US" dirty="0"/>
              <a:t>The </a:t>
            </a:r>
            <a:r>
              <a:rPr lang="en-US" b="1" dirty="0" err="1"/>
              <a:t>isAlive</a:t>
            </a:r>
            <a:r>
              <a:rPr lang="en-US" b="1" dirty="0"/>
              <a:t>()</a:t>
            </a:r>
            <a:r>
              <a:rPr lang="en-US" dirty="0"/>
              <a:t> method returns </a:t>
            </a:r>
            <a:r>
              <a:rPr lang="en-US" b="1" dirty="0"/>
              <a:t>true</a:t>
            </a:r>
            <a:r>
              <a:rPr lang="en-US" dirty="0"/>
              <a:t> if the thread upon which it is called is still running otherwise it returns </a:t>
            </a:r>
            <a:r>
              <a:rPr lang="en-US" b="1" dirty="0"/>
              <a:t>false</a:t>
            </a:r>
            <a:r>
              <a:rPr lang="en-US" dirty="0"/>
              <a:t>.</a:t>
            </a:r>
          </a:p>
          <a:p>
            <a:pPr>
              <a:buNone/>
            </a:pPr>
            <a:r>
              <a:rPr lang="en-US" dirty="0"/>
              <a:t>		</a:t>
            </a:r>
            <a:r>
              <a:rPr lang="en-US" i="1" dirty="0">
                <a:solidFill>
                  <a:srgbClr val="FF0000"/>
                </a:solidFill>
              </a:rPr>
              <a:t>final </a:t>
            </a:r>
            <a:r>
              <a:rPr lang="en-US" i="1" dirty="0" err="1">
                <a:solidFill>
                  <a:srgbClr val="FF0000"/>
                </a:solidFill>
              </a:rPr>
              <a:t>boolean</a:t>
            </a:r>
            <a:r>
              <a:rPr lang="en-US" i="1" dirty="0">
                <a:solidFill>
                  <a:srgbClr val="FF0000"/>
                </a:solidFill>
              </a:rPr>
              <a:t> </a:t>
            </a:r>
            <a:r>
              <a:rPr lang="en-US" i="1" dirty="0" err="1">
                <a:solidFill>
                  <a:srgbClr val="FF0000"/>
                </a:solidFill>
              </a:rPr>
              <a:t>isAlive</a:t>
            </a:r>
            <a:r>
              <a:rPr lang="en-US" i="1" dirty="0">
                <a:solidFill>
                  <a:srgbClr val="FF0000"/>
                </a:solidFill>
              </a:rPr>
              <a:t>() </a:t>
            </a:r>
          </a:p>
          <a:p>
            <a:pPr>
              <a:buNone/>
            </a:pPr>
            <a:r>
              <a:rPr lang="en-US" dirty="0"/>
              <a:t>	But, </a:t>
            </a:r>
            <a:r>
              <a:rPr lang="en-US" b="1" dirty="0"/>
              <a:t>join()</a:t>
            </a:r>
            <a:r>
              <a:rPr lang="en-US" dirty="0"/>
              <a:t> method is used more commonly than </a:t>
            </a:r>
            <a:r>
              <a:rPr lang="en-US" b="1" dirty="0" err="1"/>
              <a:t>isAlive</a:t>
            </a:r>
            <a:r>
              <a:rPr lang="en-US" b="1" dirty="0"/>
              <a:t>()</a:t>
            </a:r>
            <a:r>
              <a:rPr lang="en-US" dirty="0"/>
              <a:t>. This method waits until the thread on which it is called terminates.</a:t>
            </a:r>
          </a:p>
          <a:p>
            <a:pPr>
              <a:buNone/>
            </a:pPr>
            <a:r>
              <a:rPr lang="en-US" dirty="0"/>
              <a:t>		</a:t>
            </a:r>
            <a:r>
              <a:rPr lang="en-US" i="1" dirty="0">
                <a:solidFill>
                  <a:srgbClr val="FF0000"/>
                </a:solidFill>
              </a:rPr>
              <a:t>final void join() throws </a:t>
            </a:r>
            <a:r>
              <a:rPr lang="en-US" i="1" dirty="0" err="1">
                <a:solidFill>
                  <a:srgbClr val="FF0000"/>
                </a:solidFill>
              </a:rPr>
              <a:t>InterruptedException</a:t>
            </a:r>
            <a:r>
              <a:rPr lang="en-US" i="1" dirty="0">
                <a:solidFill>
                  <a:srgbClr val="FF0000"/>
                </a:solidFill>
              </a:rPr>
              <a:t> </a:t>
            </a:r>
          </a:p>
          <a:p>
            <a:pPr>
              <a:buNone/>
            </a:pPr>
            <a:r>
              <a:rPr lang="en-US" dirty="0"/>
              <a:t>		</a:t>
            </a:r>
            <a:r>
              <a:rPr lang="en-US" dirty="0">
                <a:solidFill>
                  <a:srgbClr val="FF0000"/>
                </a:solidFill>
              </a:rPr>
              <a:t>final void join(long milliseconds) throws </a:t>
            </a:r>
            <a:r>
              <a:rPr lang="en-US" dirty="0" err="1">
                <a:solidFill>
                  <a:srgbClr val="FF0000"/>
                </a:solidFill>
              </a:rPr>
              <a:t>InterruptedException</a:t>
            </a:r>
            <a:endParaRPr lang="en-US" i="1" dirty="0">
              <a:solidFill>
                <a:srgbClr val="FF0000"/>
              </a:solidFill>
            </a:endParaRPr>
          </a:p>
          <a:p>
            <a:r>
              <a:rPr lang="en-US" dirty="0"/>
              <a:t>Using </a:t>
            </a:r>
            <a:r>
              <a:rPr lang="en-US" b="1" dirty="0"/>
              <a:t>join()</a:t>
            </a:r>
            <a:r>
              <a:rPr lang="en-US" dirty="0"/>
              <a:t> method, we tell our thread to wait until the specified thread completes its execution. There are overloaded versions of </a:t>
            </a:r>
            <a:r>
              <a:rPr lang="en-US" b="1" dirty="0"/>
              <a:t>join()</a:t>
            </a:r>
            <a:r>
              <a:rPr lang="en-US" dirty="0"/>
              <a:t> method, which allows us to specify time for which you want to wait for the specified thread to terminate.</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Java </a:t>
            </a:r>
            <a:r>
              <a:rPr lang="en-US" b="1" dirty="0" err="1">
                <a:solidFill>
                  <a:srgbClr val="FF0000"/>
                </a:solidFill>
              </a:rPr>
              <a:t>isAlive</a:t>
            </a:r>
            <a:r>
              <a:rPr lang="en-US" b="1" dirty="0"/>
              <a:t> method</a:t>
            </a:r>
            <a:endParaRPr lang="en-US" dirty="0"/>
          </a:p>
        </p:txBody>
      </p:sp>
      <p:sp>
        <p:nvSpPr>
          <p:cNvPr id="3" name="Content Placeholder 2"/>
          <p:cNvSpPr>
            <a:spLocks noGrp="1"/>
          </p:cNvSpPr>
          <p:nvPr>
            <p:ph idx="1"/>
          </p:nvPr>
        </p:nvSpPr>
        <p:spPr>
          <a:xfrm>
            <a:off x="152400" y="1219200"/>
            <a:ext cx="5486400" cy="5562600"/>
          </a:xfrm>
          <a:solidFill>
            <a:schemeClr val="bg1">
              <a:lumMod val="95000"/>
            </a:schemeClr>
          </a:solidFill>
          <a:ln>
            <a:solidFill>
              <a:schemeClr val="accent1"/>
            </a:solidFill>
          </a:ln>
        </p:spPr>
        <p:txBody>
          <a:bodyPr>
            <a:normAutofit fontScale="85000" lnSpcReduction="10000"/>
          </a:bodyPr>
          <a:lstStyle/>
          <a:p>
            <a:pPr>
              <a:buNone/>
            </a:pPr>
            <a:r>
              <a:rPr lang="en-US" dirty="0"/>
              <a:t>public class </a:t>
            </a:r>
            <a:r>
              <a:rPr lang="en-US" dirty="0" err="1"/>
              <a:t>MyThread</a:t>
            </a:r>
            <a:r>
              <a:rPr lang="en-US" dirty="0"/>
              <a:t> extends Thread {</a:t>
            </a:r>
          </a:p>
          <a:p>
            <a:pPr>
              <a:buNone/>
            </a:pPr>
            <a:r>
              <a:rPr lang="en-US" dirty="0"/>
              <a:t> 	public void run() {</a:t>
            </a:r>
          </a:p>
          <a:p>
            <a:pPr>
              <a:buNone/>
            </a:pPr>
            <a:r>
              <a:rPr lang="en-US" dirty="0"/>
              <a:t> 		</a:t>
            </a:r>
            <a:r>
              <a:rPr lang="en-US" dirty="0" err="1"/>
              <a:t>System.out.println</a:t>
            </a:r>
            <a:r>
              <a:rPr lang="en-US" dirty="0"/>
              <a:t>("r1 "); </a:t>
            </a:r>
          </a:p>
          <a:p>
            <a:pPr>
              <a:buNone/>
            </a:pPr>
            <a:r>
              <a:rPr lang="en-US" dirty="0"/>
              <a:t>		try {</a:t>
            </a:r>
          </a:p>
          <a:p>
            <a:pPr>
              <a:buNone/>
            </a:pPr>
            <a:r>
              <a:rPr lang="en-US" dirty="0"/>
              <a:t>			 </a:t>
            </a:r>
            <a:r>
              <a:rPr lang="en-US" dirty="0" err="1"/>
              <a:t>Thread.sleep</a:t>
            </a:r>
            <a:r>
              <a:rPr lang="en-US" dirty="0"/>
              <a:t>(500);</a:t>
            </a:r>
          </a:p>
          <a:p>
            <a:pPr>
              <a:buNone/>
            </a:pPr>
            <a:r>
              <a:rPr lang="en-US" dirty="0"/>
              <a:t>		 } catch(</a:t>
            </a:r>
            <a:r>
              <a:rPr lang="en-US" dirty="0" err="1"/>
              <a:t>InterruptedException</a:t>
            </a:r>
            <a:r>
              <a:rPr lang="en-US" dirty="0"/>
              <a:t> </a:t>
            </a:r>
            <a:r>
              <a:rPr lang="en-US" dirty="0" err="1"/>
              <a:t>ie</a:t>
            </a:r>
            <a:r>
              <a:rPr lang="en-US" dirty="0"/>
              <a:t>) { // do something } </a:t>
            </a:r>
          </a:p>
          <a:p>
            <a:pPr>
              <a:buNone/>
            </a:pPr>
            <a:r>
              <a:rPr lang="en-US" dirty="0"/>
              <a:t>		</a:t>
            </a:r>
            <a:r>
              <a:rPr lang="en-US" dirty="0" err="1"/>
              <a:t>System.out.println</a:t>
            </a:r>
            <a:r>
              <a:rPr lang="en-US" dirty="0"/>
              <a:t>("r2 ");</a:t>
            </a:r>
          </a:p>
          <a:p>
            <a:pPr>
              <a:buNone/>
            </a:pPr>
            <a:r>
              <a:rPr lang="en-US" dirty="0"/>
              <a:t>	 } </a:t>
            </a:r>
          </a:p>
          <a:p>
            <a:pPr>
              <a:buNone/>
            </a:pPr>
            <a:r>
              <a:rPr lang="en-US" dirty="0"/>
              <a:t>	public static void main(String[] </a:t>
            </a:r>
            <a:r>
              <a:rPr lang="en-US" dirty="0" err="1"/>
              <a:t>args</a:t>
            </a:r>
            <a:r>
              <a:rPr lang="en-US" dirty="0"/>
              <a:t>) { </a:t>
            </a:r>
          </a:p>
          <a:p>
            <a:pPr>
              <a:buNone/>
            </a:pPr>
            <a:r>
              <a:rPr lang="en-US" dirty="0"/>
              <a:t>		</a:t>
            </a:r>
            <a:r>
              <a:rPr lang="en-US" dirty="0" err="1"/>
              <a:t>MyThread</a:t>
            </a:r>
            <a:r>
              <a:rPr lang="en-US" dirty="0"/>
              <a:t> t1=new </a:t>
            </a:r>
            <a:r>
              <a:rPr lang="en-US" dirty="0" err="1"/>
              <a:t>MyThread</a:t>
            </a:r>
            <a:r>
              <a:rPr lang="en-US" dirty="0"/>
              <a:t>(); </a:t>
            </a:r>
          </a:p>
          <a:p>
            <a:pPr>
              <a:buNone/>
            </a:pPr>
            <a:r>
              <a:rPr lang="en-US" dirty="0"/>
              <a:t>		</a:t>
            </a:r>
            <a:r>
              <a:rPr lang="en-US" dirty="0" err="1"/>
              <a:t>MyThread</a:t>
            </a:r>
            <a:r>
              <a:rPr lang="en-US" dirty="0"/>
              <a:t> t2=new </a:t>
            </a:r>
            <a:r>
              <a:rPr lang="en-US" dirty="0" err="1"/>
              <a:t>MyThread</a:t>
            </a:r>
            <a:r>
              <a:rPr lang="en-US" dirty="0"/>
              <a:t>(); </a:t>
            </a:r>
          </a:p>
          <a:p>
            <a:pPr>
              <a:buNone/>
            </a:pPr>
            <a:r>
              <a:rPr lang="en-US" dirty="0"/>
              <a:t>		t1.start(); </a:t>
            </a:r>
          </a:p>
          <a:p>
            <a:pPr>
              <a:buNone/>
            </a:pPr>
            <a:r>
              <a:rPr lang="en-US" dirty="0"/>
              <a:t>		t2.start(); </a:t>
            </a:r>
          </a:p>
          <a:p>
            <a:pPr>
              <a:buNone/>
            </a:pPr>
            <a:r>
              <a:rPr lang="en-US" dirty="0"/>
              <a:t>		</a:t>
            </a:r>
            <a:r>
              <a:rPr lang="en-US" dirty="0" err="1"/>
              <a:t>System.out.println</a:t>
            </a:r>
            <a:r>
              <a:rPr lang="en-US" dirty="0"/>
              <a:t>(t1.isAlive()); </a:t>
            </a:r>
          </a:p>
          <a:p>
            <a:pPr>
              <a:buNone/>
            </a:pPr>
            <a:r>
              <a:rPr lang="en-US" dirty="0"/>
              <a:t>		</a:t>
            </a:r>
            <a:r>
              <a:rPr lang="en-US" dirty="0" err="1"/>
              <a:t>System.out.println</a:t>
            </a:r>
            <a:r>
              <a:rPr lang="en-US" dirty="0"/>
              <a:t>(t2.isAlive()); </a:t>
            </a:r>
          </a:p>
          <a:p>
            <a:pPr>
              <a:buNone/>
            </a:pPr>
            <a:r>
              <a:rPr lang="en-US" dirty="0"/>
              <a:t>	} </a:t>
            </a:r>
          </a:p>
          <a:p>
            <a:pPr>
              <a:buNone/>
            </a:pPr>
            <a:r>
              <a:rPr lang="en-US" dirty="0"/>
              <a:t>}</a:t>
            </a:r>
          </a:p>
        </p:txBody>
      </p:sp>
      <p:sp>
        <p:nvSpPr>
          <p:cNvPr id="4" name="TextBox 3"/>
          <p:cNvSpPr txBox="1"/>
          <p:nvPr/>
        </p:nvSpPr>
        <p:spPr>
          <a:xfrm>
            <a:off x="5943600" y="4674275"/>
            <a:ext cx="2971800" cy="2031325"/>
          </a:xfrm>
          <a:prstGeom prst="rect">
            <a:avLst/>
          </a:prstGeom>
          <a:solidFill>
            <a:schemeClr val="accent6">
              <a:lumMod val="20000"/>
              <a:lumOff val="80000"/>
            </a:schemeClr>
          </a:solidFill>
          <a:ln>
            <a:solidFill>
              <a:schemeClr val="accent1"/>
            </a:solidFill>
          </a:ln>
        </p:spPr>
        <p:txBody>
          <a:bodyPr wrap="square" rtlCol="0">
            <a:spAutoFit/>
          </a:bodyPr>
          <a:lstStyle/>
          <a:p>
            <a:r>
              <a:rPr lang="pt-BR" u="sng" dirty="0"/>
              <a:t>Output:</a:t>
            </a:r>
          </a:p>
          <a:p>
            <a:r>
              <a:rPr lang="pt-BR" dirty="0"/>
              <a:t>r1 </a:t>
            </a:r>
          </a:p>
          <a:p>
            <a:r>
              <a:rPr lang="pt-BR" dirty="0"/>
              <a:t>true </a:t>
            </a:r>
          </a:p>
          <a:p>
            <a:r>
              <a:rPr lang="pt-BR" dirty="0"/>
              <a:t>true </a:t>
            </a:r>
          </a:p>
          <a:p>
            <a:r>
              <a:rPr lang="pt-BR" dirty="0"/>
              <a:t>r1 </a:t>
            </a:r>
          </a:p>
          <a:p>
            <a:r>
              <a:rPr lang="pt-BR" dirty="0"/>
              <a:t>r2 </a:t>
            </a:r>
          </a:p>
          <a:p>
            <a:r>
              <a:rPr lang="pt-BR" dirty="0"/>
              <a:t>r2</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Thread </a:t>
            </a:r>
            <a:r>
              <a:rPr lang="en-US" b="1" dirty="0">
                <a:solidFill>
                  <a:srgbClr val="FF0000"/>
                </a:solidFill>
              </a:rPr>
              <a:t>without join()</a:t>
            </a:r>
            <a:r>
              <a:rPr lang="en-US" b="1" dirty="0"/>
              <a:t> method</a:t>
            </a:r>
            <a:endParaRPr lang="en-US" dirty="0"/>
          </a:p>
        </p:txBody>
      </p:sp>
      <p:sp>
        <p:nvSpPr>
          <p:cNvPr id="3" name="Content Placeholder 2"/>
          <p:cNvSpPr>
            <a:spLocks noGrp="1"/>
          </p:cNvSpPr>
          <p:nvPr>
            <p:ph idx="1"/>
          </p:nvPr>
        </p:nvSpPr>
        <p:spPr>
          <a:xfrm>
            <a:off x="76200" y="1219200"/>
            <a:ext cx="4953000" cy="5562600"/>
          </a:xfrm>
          <a:solidFill>
            <a:schemeClr val="bg1">
              <a:lumMod val="95000"/>
            </a:schemeClr>
          </a:solidFill>
          <a:ln>
            <a:solidFill>
              <a:schemeClr val="accent1"/>
            </a:solidFill>
          </a:ln>
        </p:spPr>
        <p:txBody>
          <a:bodyPr>
            <a:normAutofit fontScale="92500" lnSpcReduction="10000"/>
          </a:bodyPr>
          <a:lstStyle/>
          <a:p>
            <a:pPr>
              <a:buNone/>
            </a:pPr>
            <a:r>
              <a:rPr lang="en-US" dirty="0"/>
              <a:t>public class </a:t>
            </a:r>
            <a:r>
              <a:rPr lang="en-US" dirty="0" err="1"/>
              <a:t>MyThread</a:t>
            </a:r>
            <a:r>
              <a:rPr lang="en-US" dirty="0"/>
              <a:t> extends Thread {</a:t>
            </a:r>
          </a:p>
          <a:p>
            <a:pPr>
              <a:buNone/>
            </a:pPr>
            <a:r>
              <a:rPr lang="en-US" dirty="0"/>
              <a:t> 	public void run() {</a:t>
            </a:r>
          </a:p>
          <a:p>
            <a:pPr>
              <a:buNone/>
            </a:pPr>
            <a:r>
              <a:rPr lang="en-US" dirty="0"/>
              <a:t>		 </a:t>
            </a:r>
            <a:r>
              <a:rPr lang="en-US" dirty="0" err="1"/>
              <a:t>System.out.println</a:t>
            </a:r>
            <a:r>
              <a:rPr lang="en-US" dirty="0"/>
              <a:t>("r1 "); </a:t>
            </a:r>
          </a:p>
          <a:p>
            <a:pPr>
              <a:buNone/>
            </a:pPr>
            <a:r>
              <a:rPr lang="en-US" dirty="0"/>
              <a:t>		try { </a:t>
            </a:r>
          </a:p>
          <a:p>
            <a:pPr>
              <a:buNone/>
            </a:pPr>
            <a:r>
              <a:rPr lang="en-US" dirty="0"/>
              <a:t>			</a:t>
            </a:r>
            <a:r>
              <a:rPr lang="en-US" dirty="0" err="1"/>
              <a:t>Thread.sleep</a:t>
            </a:r>
            <a:r>
              <a:rPr lang="en-US" dirty="0"/>
              <a:t>(500); </a:t>
            </a:r>
          </a:p>
          <a:p>
            <a:pPr>
              <a:buNone/>
            </a:pPr>
            <a:r>
              <a:rPr lang="en-US" dirty="0"/>
              <a:t>		} catch(</a:t>
            </a:r>
            <a:r>
              <a:rPr lang="en-US" dirty="0" err="1"/>
              <a:t>InterruptedException</a:t>
            </a:r>
            <a:r>
              <a:rPr lang="en-US" dirty="0"/>
              <a:t> </a:t>
            </a:r>
            <a:r>
              <a:rPr lang="en-US" dirty="0" err="1"/>
              <a:t>ie</a:t>
            </a:r>
            <a:r>
              <a:rPr lang="en-US" dirty="0"/>
              <a:t>){ } 	</a:t>
            </a:r>
            <a:r>
              <a:rPr lang="en-US" dirty="0" err="1"/>
              <a:t>System.out.println</a:t>
            </a:r>
            <a:r>
              <a:rPr lang="en-US" dirty="0"/>
              <a:t>("r2 "); </a:t>
            </a:r>
          </a:p>
          <a:p>
            <a:pPr>
              <a:buNone/>
            </a:pPr>
            <a:r>
              <a:rPr lang="en-US" dirty="0"/>
              <a:t>  	} </a:t>
            </a:r>
          </a:p>
          <a:p>
            <a:pPr>
              <a:buNone/>
            </a:pPr>
            <a:r>
              <a:rPr lang="en-US" dirty="0"/>
              <a:t>	public static void main(String[] </a:t>
            </a:r>
            <a:r>
              <a:rPr lang="en-US" dirty="0" err="1"/>
              <a:t>args</a:t>
            </a:r>
            <a:r>
              <a:rPr lang="en-US" dirty="0"/>
              <a:t>) { 	</a:t>
            </a:r>
            <a:r>
              <a:rPr lang="en-US" dirty="0" err="1"/>
              <a:t>MyThread</a:t>
            </a:r>
            <a:r>
              <a:rPr lang="en-US" dirty="0"/>
              <a:t> t1=new </a:t>
            </a:r>
            <a:r>
              <a:rPr lang="en-US" dirty="0" err="1"/>
              <a:t>MyThread</a:t>
            </a:r>
            <a:r>
              <a:rPr lang="en-US" dirty="0"/>
              <a:t>(); </a:t>
            </a:r>
          </a:p>
          <a:p>
            <a:pPr>
              <a:buNone/>
            </a:pPr>
            <a:r>
              <a:rPr lang="en-US" dirty="0"/>
              <a:t>		</a:t>
            </a:r>
            <a:r>
              <a:rPr lang="en-US" dirty="0" err="1"/>
              <a:t>MyThread</a:t>
            </a:r>
            <a:r>
              <a:rPr lang="en-US" dirty="0"/>
              <a:t> t2=new </a:t>
            </a:r>
            <a:r>
              <a:rPr lang="en-US" dirty="0" err="1"/>
              <a:t>MyThread</a:t>
            </a:r>
            <a:r>
              <a:rPr lang="en-US" dirty="0"/>
              <a:t>(); </a:t>
            </a:r>
          </a:p>
          <a:p>
            <a:pPr>
              <a:buNone/>
            </a:pPr>
            <a:r>
              <a:rPr lang="en-US" dirty="0"/>
              <a:t>		t1.start(); </a:t>
            </a:r>
          </a:p>
          <a:p>
            <a:pPr>
              <a:buNone/>
            </a:pPr>
            <a:r>
              <a:rPr lang="en-US" dirty="0"/>
              <a:t>		t2.start(); </a:t>
            </a:r>
          </a:p>
          <a:p>
            <a:pPr>
              <a:buNone/>
            </a:pPr>
            <a:r>
              <a:rPr lang="en-US" dirty="0"/>
              <a:t>	} </a:t>
            </a:r>
          </a:p>
          <a:p>
            <a:pPr>
              <a:buNone/>
            </a:pPr>
            <a:r>
              <a:rPr lang="en-US" dirty="0"/>
              <a:t>}</a:t>
            </a:r>
          </a:p>
        </p:txBody>
      </p:sp>
      <p:sp>
        <p:nvSpPr>
          <p:cNvPr id="4" name="TextBox 3"/>
          <p:cNvSpPr txBox="1"/>
          <p:nvPr/>
        </p:nvSpPr>
        <p:spPr>
          <a:xfrm>
            <a:off x="5562600" y="5228272"/>
            <a:ext cx="2971800" cy="1477328"/>
          </a:xfrm>
          <a:prstGeom prst="rect">
            <a:avLst/>
          </a:prstGeom>
          <a:solidFill>
            <a:schemeClr val="accent6">
              <a:lumMod val="20000"/>
              <a:lumOff val="80000"/>
            </a:schemeClr>
          </a:solidFill>
          <a:ln>
            <a:solidFill>
              <a:schemeClr val="accent1"/>
            </a:solidFill>
          </a:ln>
        </p:spPr>
        <p:txBody>
          <a:bodyPr wrap="square" rtlCol="0">
            <a:spAutoFit/>
          </a:bodyPr>
          <a:lstStyle/>
          <a:p>
            <a:r>
              <a:rPr lang="pt-BR" u="sng" dirty="0"/>
              <a:t>Output:</a:t>
            </a:r>
          </a:p>
          <a:p>
            <a:r>
              <a:rPr lang="pt-BR" dirty="0"/>
              <a:t>r1 </a:t>
            </a:r>
          </a:p>
          <a:p>
            <a:r>
              <a:rPr lang="pt-BR" dirty="0"/>
              <a:t>r1 </a:t>
            </a:r>
          </a:p>
          <a:p>
            <a:r>
              <a:rPr lang="pt-BR" dirty="0"/>
              <a:t>r2 </a:t>
            </a:r>
          </a:p>
          <a:p>
            <a:r>
              <a:rPr lang="pt-BR" dirty="0"/>
              <a:t>r2</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Thread </a:t>
            </a:r>
            <a:r>
              <a:rPr lang="en-US" b="1" dirty="0">
                <a:solidFill>
                  <a:srgbClr val="FF0000"/>
                </a:solidFill>
              </a:rPr>
              <a:t>with join()</a:t>
            </a:r>
            <a:r>
              <a:rPr lang="en-US" b="1" dirty="0"/>
              <a:t> method</a:t>
            </a:r>
            <a:endParaRPr lang="en-US" dirty="0"/>
          </a:p>
        </p:txBody>
      </p:sp>
      <p:sp>
        <p:nvSpPr>
          <p:cNvPr id="3" name="Content Placeholder 2"/>
          <p:cNvSpPr>
            <a:spLocks noGrp="1"/>
          </p:cNvSpPr>
          <p:nvPr>
            <p:ph idx="1"/>
          </p:nvPr>
        </p:nvSpPr>
        <p:spPr>
          <a:xfrm>
            <a:off x="76200" y="1219200"/>
            <a:ext cx="4953000" cy="5562600"/>
          </a:xfrm>
          <a:solidFill>
            <a:schemeClr val="bg1">
              <a:lumMod val="95000"/>
            </a:schemeClr>
          </a:solidFill>
          <a:ln>
            <a:solidFill>
              <a:schemeClr val="accent1"/>
            </a:solidFill>
          </a:ln>
        </p:spPr>
        <p:txBody>
          <a:bodyPr>
            <a:noAutofit/>
          </a:bodyPr>
          <a:lstStyle/>
          <a:p>
            <a:pPr>
              <a:buNone/>
            </a:pPr>
            <a:r>
              <a:rPr lang="en-US" sz="1400" dirty="0"/>
              <a:t>public class </a:t>
            </a:r>
            <a:r>
              <a:rPr lang="en-US" sz="1400" dirty="0" err="1"/>
              <a:t>MyThread</a:t>
            </a:r>
            <a:r>
              <a:rPr lang="en-US" sz="1400" dirty="0"/>
              <a:t> extends Thread {</a:t>
            </a:r>
          </a:p>
          <a:p>
            <a:pPr>
              <a:buNone/>
            </a:pPr>
            <a:r>
              <a:rPr lang="en-US" sz="1400" dirty="0"/>
              <a:t> 	public void run() {</a:t>
            </a:r>
          </a:p>
          <a:p>
            <a:pPr>
              <a:buNone/>
            </a:pPr>
            <a:r>
              <a:rPr lang="en-US" sz="1400" dirty="0"/>
              <a:t>		 </a:t>
            </a:r>
            <a:r>
              <a:rPr lang="en-US" sz="1400" dirty="0" err="1"/>
              <a:t>System.out.println</a:t>
            </a:r>
            <a:r>
              <a:rPr lang="en-US" sz="1400" dirty="0"/>
              <a:t>("r1 "); </a:t>
            </a:r>
          </a:p>
          <a:p>
            <a:pPr>
              <a:buNone/>
            </a:pPr>
            <a:r>
              <a:rPr lang="en-US" sz="1400" dirty="0"/>
              <a:t>		try { </a:t>
            </a:r>
          </a:p>
          <a:p>
            <a:pPr>
              <a:buNone/>
            </a:pPr>
            <a:r>
              <a:rPr lang="en-US" sz="1400" dirty="0"/>
              <a:t>			</a:t>
            </a:r>
            <a:r>
              <a:rPr lang="en-US" sz="1400" dirty="0" err="1"/>
              <a:t>Thread.sleep</a:t>
            </a:r>
            <a:r>
              <a:rPr lang="en-US" sz="1400" dirty="0"/>
              <a:t>(500); </a:t>
            </a:r>
          </a:p>
          <a:p>
            <a:pPr>
              <a:buNone/>
            </a:pPr>
            <a:r>
              <a:rPr lang="en-US" sz="1400" dirty="0"/>
              <a:t>		} catch(</a:t>
            </a:r>
            <a:r>
              <a:rPr lang="en-US" sz="1400" dirty="0" err="1"/>
              <a:t>InterruptedException</a:t>
            </a:r>
            <a:r>
              <a:rPr lang="en-US" sz="1400" dirty="0"/>
              <a:t> </a:t>
            </a:r>
            <a:r>
              <a:rPr lang="en-US" sz="1400" dirty="0" err="1"/>
              <a:t>ie</a:t>
            </a:r>
            <a:r>
              <a:rPr lang="en-US" sz="1400" dirty="0"/>
              <a:t>){ } 	</a:t>
            </a:r>
            <a:r>
              <a:rPr lang="en-US" sz="1400" dirty="0" err="1"/>
              <a:t>System.out.println</a:t>
            </a:r>
            <a:r>
              <a:rPr lang="en-US" sz="1400" dirty="0"/>
              <a:t>("r2 "); </a:t>
            </a:r>
          </a:p>
          <a:p>
            <a:pPr>
              <a:buNone/>
            </a:pPr>
            <a:r>
              <a:rPr lang="en-US" sz="1400" dirty="0"/>
              <a:t>  	} </a:t>
            </a:r>
          </a:p>
          <a:p>
            <a:pPr>
              <a:buNone/>
            </a:pPr>
            <a:r>
              <a:rPr lang="en-US" sz="1400" dirty="0"/>
              <a:t>	public static void main(String[] </a:t>
            </a:r>
            <a:r>
              <a:rPr lang="en-US" sz="1400" dirty="0" err="1"/>
              <a:t>args</a:t>
            </a:r>
            <a:r>
              <a:rPr lang="en-US" sz="1400" dirty="0"/>
              <a:t>) { 	</a:t>
            </a:r>
          </a:p>
          <a:p>
            <a:pPr>
              <a:buNone/>
            </a:pPr>
            <a:r>
              <a:rPr lang="en-US" sz="1400" dirty="0"/>
              <a:t>		</a:t>
            </a:r>
            <a:r>
              <a:rPr lang="en-US" sz="1400" dirty="0" err="1"/>
              <a:t>MyThread</a:t>
            </a:r>
            <a:r>
              <a:rPr lang="en-US" sz="1400" dirty="0"/>
              <a:t> t1=new </a:t>
            </a:r>
            <a:r>
              <a:rPr lang="en-US" sz="1400" dirty="0" err="1"/>
              <a:t>MyThread</a:t>
            </a:r>
            <a:r>
              <a:rPr lang="en-US" sz="1400" dirty="0"/>
              <a:t>(); </a:t>
            </a:r>
          </a:p>
          <a:p>
            <a:pPr>
              <a:buNone/>
            </a:pPr>
            <a:r>
              <a:rPr lang="en-US" sz="1400" dirty="0"/>
              <a:t>		</a:t>
            </a:r>
            <a:r>
              <a:rPr lang="en-US" sz="1400" dirty="0" err="1"/>
              <a:t>MyThread</a:t>
            </a:r>
            <a:r>
              <a:rPr lang="en-US" sz="1400" dirty="0"/>
              <a:t> t2=new </a:t>
            </a:r>
            <a:r>
              <a:rPr lang="en-US" sz="1400" dirty="0" err="1"/>
              <a:t>MyThread</a:t>
            </a:r>
            <a:r>
              <a:rPr lang="en-US" sz="1400" dirty="0"/>
              <a:t>(); </a:t>
            </a:r>
          </a:p>
          <a:p>
            <a:pPr>
              <a:buNone/>
            </a:pPr>
            <a:r>
              <a:rPr lang="en-US" sz="1400" dirty="0"/>
              <a:t>		t1.start(); </a:t>
            </a:r>
          </a:p>
          <a:p>
            <a:pPr>
              <a:buNone/>
            </a:pPr>
            <a:r>
              <a:rPr lang="en-US" sz="1400" dirty="0"/>
              <a:t>		</a:t>
            </a:r>
            <a:r>
              <a:rPr lang="en-US" sz="1400" dirty="0">
                <a:solidFill>
                  <a:srgbClr val="0070C0"/>
                </a:solidFill>
              </a:rPr>
              <a:t>try { </a:t>
            </a:r>
          </a:p>
          <a:p>
            <a:pPr>
              <a:buNone/>
            </a:pPr>
            <a:r>
              <a:rPr lang="en-US" sz="1400" dirty="0">
                <a:solidFill>
                  <a:srgbClr val="0070C0"/>
                </a:solidFill>
              </a:rPr>
              <a:t>			</a:t>
            </a:r>
            <a:r>
              <a:rPr lang="en-US" sz="1400" dirty="0">
                <a:solidFill>
                  <a:srgbClr val="FF0000"/>
                </a:solidFill>
              </a:rPr>
              <a:t>t1.join(); </a:t>
            </a:r>
            <a:r>
              <a:rPr lang="en-US" sz="1400" dirty="0">
                <a:solidFill>
                  <a:srgbClr val="0070C0"/>
                </a:solidFill>
              </a:rPr>
              <a:t>//Waiting for t1 to finish 	}catch(</a:t>
            </a:r>
            <a:r>
              <a:rPr lang="en-US" sz="1400" dirty="0" err="1">
                <a:solidFill>
                  <a:srgbClr val="0070C0"/>
                </a:solidFill>
              </a:rPr>
              <a:t>InterruptedException</a:t>
            </a:r>
            <a:r>
              <a:rPr lang="en-US" sz="1400" dirty="0">
                <a:solidFill>
                  <a:srgbClr val="0070C0"/>
                </a:solidFill>
              </a:rPr>
              <a:t> </a:t>
            </a:r>
            <a:r>
              <a:rPr lang="en-US" sz="1400" dirty="0" err="1">
                <a:solidFill>
                  <a:srgbClr val="0070C0"/>
                </a:solidFill>
              </a:rPr>
              <a:t>ie</a:t>
            </a:r>
            <a:r>
              <a:rPr lang="en-US" sz="1400" dirty="0">
                <a:solidFill>
                  <a:srgbClr val="0070C0"/>
                </a:solidFill>
              </a:rPr>
              <a:t>){}</a:t>
            </a:r>
          </a:p>
          <a:p>
            <a:pPr>
              <a:buNone/>
            </a:pPr>
            <a:r>
              <a:rPr lang="en-US" sz="1400" dirty="0"/>
              <a:t>		t2.start(); </a:t>
            </a:r>
          </a:p>
          <a:p>
            <a:pPr>
              <a:buNone/>
            </a:pPr>
            <a:r>
              <a:rPr lang="en-US" sz="1400" dirty="0"/>
              <a:t>}	}</a:t>
            </a:r>
          </a:p>
        </p:txBody>
      </p:sp>
      <p:sp>
        <p:nvSpPr>
          <p:cNvPr id="4" name="TextBox 3"/>
          <p:cNvSpPr txBox="1"/>
          <p:nvPr/>
        </p:nvSpPr>
        <p:spPr>
          <a:xfrm>
            <a:off x="5562600" y="5228272"/>
            <a:ext cx="2971800" cy="1477328"/>
          </a:xfrm>
          <a:prstGeom prst="rect">
            <a:avLst/>
          </a:prstGeom>
          <a:solidFill>
            <a:schemeClr val="accent6">
              <a:lumMod val="20000"/>
              <a:lumOff val="80000"/>
            </a:schemeClr>
          </a:solidFill>
          <a:ln>
            <a:solidFill>
              <a:schemeClr val="accent1"/>
            </a:solidFill>
          </a:ln>
        </p:spPr>
        <p:txBody>
          <a:bodyPr wrap="square" rtlCol="0">
            <a:spAutoFit/>
          </a:bodyPr>
          <a:lstStyle/>
          <a:p>
            <a:r>
              <a:rPr lang="pt-BR" u="sng" dirty="0"/>
              <a:t>Output:</a:t>
            </a:r>
          </a:p>
          <a:p>
            <a:r>
              <a:rPr lang="pt-BR" dirty="0"/>
              <a:t>r1 </a:t>
            </a:r>
          </a:p>
          <a:p>
            <a:r>
              <a:rPr lang="pt-BR" dirty="0"/>
              <a:t>r2 </a:t>
            </a:r>
          </a:p>
          <a:p>
            <a:r>
              <a:rPr lang="pt-BR" dirty="0"/>
              <a:t>r1 </a:t>
            </a:r>
          </a:p>
          <a:p>
            <a:r>
              <a:rPr lang="pt-BR" dirty="0"/>
              <a:t>r2</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Grp="1" noChangeAspect="1" noChangeArrowheads="1"/>
          </p:cNvPicPr>
          <p:nvPr>
            <p:ph idx="1"/>
          </p:nvPr>
        </p:nvPicPr>
        <p:blipFill>
          <a:blip r:embed="rId2"/>
          <a:srcRect/>
          <a:stretch>
            <a:fillRect/>
          </a:stretch>
        </p:blipFill>
        <p:spPr>
          <a:xfrm>
            <a:off x="914400" y="304800"/>
            <a:ext cx="7299325" cy="5029200"/>
          </a:xfrm>
        </p:spPr>
      </p:pic>
      <p:sp>
        <p:nvSpPr>
          <p:cNvPr id="38915" name="Title 1"/>
          <p:cNvSpPr>
            <a:spLocks noGrp="1"/>
          </p:cNvSpPr>
          <p:nvPr>
            <p:ph type="title"/>
          </p:nvPr>
        </p:nvSpPr>
        <p:spPr>
          <a:xfrm>
            <a:off x="5791200" y="5105400"/>
            <a:ext cx="3352800" cy="1706563"/>
          </a:xfrm>
        </p:spPr>
        <p:txBody>
          <a:bodyPr/>
          <a:lstStyle/>
          <a:p>
            <a:br>
              <a:rPr lang="en-US" sz="1500" dirty="0">
                <a:latin typeface="Andalus" pitchFamily="18" charset="-78"/>
                <a:cs typeface="Andalus" pitchFamily="18" charset="-78"/>
              </a:rPr>
            </a:br>
            <a:r>
              <a:rPr lang="en-US" sz="1500" u="none" dirty="0">
                <a:latin typeface="Andalus" pitchFamily="18" charset="-78"/>
                <a:cs typeface="Andalus" pitchFamily="18" charset="-78"/>
              </a:rPr>
              <a:t>(Assistant Professor)</a:t>
            </a:r>
            <a:br>
              <a:rPr lang="en-US" sz="1500" u="none" dirty="0">
                <a:latin typeface="Andalus" pitchFamily="18" charset="-78"/>
                <a:cs typeface="Andalus" pitchFamily="18" charset="-78"/>
              </a:rPr>
            </a:br>
            <a:r>
              <a:rPr lang="en-US" sz="1500" u="none" dirty="0">
                <a:latin typeface="Andalus" pitchFamily="18" charset="-78"/>
                <a:cs typeface="Andalus" pitchFamily="18" charset="-78"/>
              </a:rPr>
              <a:t>Department of Computer Engineering</a:t>
            </a:r>
            <a:br>
              <a:rPr lang="en-US" sz="1500" u="none" dirty="0">
                <a:latin typeface="Andalus" pitchFamily="18" charset="-78"/>
                <a:cs typeface="Andalus" pitchFamily="18" charset="-78"/>
              </a:rPr>
            </a:br>
            <a:r>
              <a:rPr lang="en-US" sz="1500" u="none" dirty="0" err="1">
                <a:latin typeface="Andalus" pitchFamily="18" charset="-78"/>
                <a:cs typeface="Andalus" pitchFamily="18" charset="-78"/>
              </a:rPr>
              <a:t>Sinhgad</a:t>
            </a:r>
            <a:r>
              <a:rPr lang="en-US" sz="1500" u="none" dirty="0">
                <a:latin typeface="Andalus" pitchFamily="18" charset="-78"/>
                <a:cs typeface="Andalus" pitchFamily="18" charset="-78"/>
              </a:rPr>
              <a:t> Academy of Engineering,</a:t>
            </a:r>
            <a:br>
              <a:rPr lang="en-US" sz="1500" u="none" dirty="0">
                <a:latin typeface="Andalus" pitchFamily="18" charset="-78"/>
                <a:cs typeface="Andalus" pitchFamily="18" charset="-78"/>
              </a:rPr>
            </a:br>
            <a:r>
              <a:rPr lang="en-US" sz="1500" u="none" dirty="0" err="1">
                <a:latin typeface="Andalus" pitchFamily="18" charset="-78"/>
                <a:cs typeface="Andalus" pitchFamily="18" charset="-78"/>
              </a:rPr>
              <a:t>Kondhwa</a:t>
            </a:r>
            <a:r>
              <a:rPr lang="en-US" sz="1500" u="none" dirty="0">
                <a:latin typeface="Andalus" pitchFamily="18" charset="-78"/>
                <a:cs typeface="Andalus" pitchFamily="18" charset="-78"/>
              </a:rPr>
              <a:t>, Pune</a:t>
            </a:r>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794</TotalTime>
  <Words>3878</Words>
  <Application>Microsoft Office PowerPoint</Application>
  <PresentationFormat>On-screen Show (4:3)</PresentationFormat>
  <Paragraphs>488</Paragraphs>
  <Slides>31</Slides>
  <Notes>12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31</vt:i4>
      </vt:variant>
    </vt:vector>
  </HeadingPairs>
  <TitlesOfParts>
    <vt:vector size="41" baseType="lpstr">
      <vt:lpstr>Andalus</vt:lpstr>
      <vt:lpstr>Arial</vt:lpstr>
      <vt:lpstr>Calibri</vt:lpstr>
      <vt:lpstr>CharterBT-Bold</vt:lpstr>
      <vt:lpstr>CharterBT-Roman</vt:lpstr>
      <vt:lpstr>Franklin Gothic Book</vt:lpstr>
      <vt:lpstr>Perpetua</vt:lpstr>
      <vt:lpstr>Wingdings 2</vt:lpstr>
      <vt:lpstr>Office Theme</vt:lpstr>
      <vt:lpstr>Equity</vt:lpstr>
      <vt:lpstr>UNIT-V Multithreading in Java</vt:lpstr>
      <vt:lpstr>Unit 3: Syllabus</vt:lpstr>
      <vt:lpstr>Multithreading in Java</vt:lpstr>
      <vt:lpstr>Advantages of Java Multithreading</vt:lpstr>
      <vt:lpstr>Multitasking</vt:lpstr>
      <vt:lpstr>What is Thread in java</vt:lpstr>
      <vt:lpstr>Java Thread Methods</vt:lpstr>
      <vt:lpstr>Life cycle of a Thread (Thread States)</vt:lpstr>
      <vt:lpstr>Life cycle of a Thread (Thread States)</vt:lpstr>
      <vt:lpstr>How to create thread</vt:lpstr>
      <vt:lpstr>1. Thread class</vt:lpstr>
      <vt:lpstr>Java Thread Example by extending Thread class</vt:lpstr>
      <vt:lpstr>2. Runnable interface</vt:lpstr>
      <vt:lpstr>Java Thread Example by implementing Runnable interface</vt:lpstr>
      <vt:lpstr>Thread Priority</vt:lpstr>
      <vt:lpstr>Example of priority of a Thread</vt:lpstr>
      <vt:lpstr>Main thread: Daemon Thread </vt:lpstr>
      <vt:lpstr>Daemon Thread</vt:lpstr>
      <vt:lpstr>Example of Daemon thread in java</vt:lpstr>
      <vt:lpstr>PowerPoint Presentation</vt:lpstr>
      <vt:lpstr>Synchronization</vt:lpstr>
      <vt:lpstr>Thread synchronization</vt:lpstr>
      <vt:lpstr>Understanding the problem without Synchronization</vt:lpstr>
      <vt:lpstr>Java synchronized method</vt:lpstr>
      <vt:lpstr>Inter-thread communication in Java</vt:lpstr>
      <vt:lpstr>PowerPoint Presentation</vt:lpstr>
      <vt:lpstr>Creating multiple threads using is Alive() and join()</vt:lpstr>
      <vt:lpstr>Java isAlive method</vt:lpstr>
      <vt:lpstr>Thread without join() method</vt:lpstr>
      <vt:lpstr>Thread with join() method</vt:lpstr>
      <vt:lpstr> (Assistant Professor) Department of Computer Engineering Sinhgad Academy of Engineering, Kondhwa, Pune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Programming[210255] SE Computer Engineering</dc:title>
  <dc:creator>USER</dc:creator>
  <cp:lastModifiedBy>Administrator</cp:lastModifiedBy>
  <cp:revision>111</cp:revision>
  <dcterms:created xsi:type="dcterms:W3CDTF">2021-01-24T19:38:45Z</dcterms:created>
  <dcterms:modified xsi:type="dcterms:W3CDTF">2025-09-24T05:27:32Z</dcterms:modified>
</cp:coreProperties>
</file>